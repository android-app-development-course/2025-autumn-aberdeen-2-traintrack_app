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2" r:id="rId6"/>
    <p:sldId id="263" r:id="rId7"/>
    <p:sldId id="280" r:id="rId8"/>
    <p:sldId id="264" r:id="rId9"/>
    <p:sldId id="265" r:id="rId10"/>
    <p:sldId id="290" r:id="rId11"/>
    <p:sldId id="266" r:id="rId12"/>
    <p:sldId id="268" r:id="rId13"/>
    <p:sldId id="269" r:id="rId14"/>
    <p:sldId id="270" r:id="rId15"/>
    <p:sldId id="291" r:id="rId16"/>
    <p:sldId id="271" r:id="rId17"/>
    <p:sldId id="272" r:id="rId18"/>
    <p:sldId id="292" r:id="rId19"/>
    <p:sldId id="273" r:id="rId20"/>
    <p:sldId id="274" r:id="rId21"/>
    <p:sldId id="293" r:id="rId22"/>
    <p:sldId id="275" r:id="rId23"/>
    <p:sldId id="289" r:id="rId24"/>
    <p:sldId id="278" r:id="rId25"/>
    <p:sldId id="279" r:id="rId26"/>
    <p:sldId id="284" r:id="rId27"/>
    <p:sldId id="288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49"/>
    <p:restoredTop sz="94610"/>
  </p:normalViewPr>
  <p:slideViewPr>
    <p:cSldViewPr snapToGrid="0" snapToObjects="1">
      <p:cViewPr>
        <p:scale>
          <a:sx n="261" d="100"/>
          <a:sy n="261" d="100"/>
        </p:scale>
        <p:origin x="1744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18" Type="http://schemas.openxmlformats.org/officeDocument/2006/relationships/image" Target="../media/image6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5.png"/><Relationship Id="rId2" Type="http://schemas.openxmlformats.org/officeDocument/2006/relationships/tags" Target="../tags/tag2.xml"/><Relationship Id="rId16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3.jpeg"/><Relationship Id="rId10" Type="http://schemas.openxmlformats.org/officeDocument/2006/relationships/tags" Target="../tags/tag10.xml"/><Relationship Id="rId19" Type="http://schemas.openxmlformats.org/officeDocument/2006/relationships/image" Target="../media/image7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TrainTrack App：UI</a:t>
            </a:r>
            <a:r>
              <a:rPr lang="zh-CN" altLang="en-US" sz="37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</a:t>
            </a:r>
            <a:r>
              <a:rPr lang="en-US" sz="37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94A363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汇报小组</a:t>
            </a:r>
            <a:r>
              <a:rPr lang="en-US" altLang="zh-CN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en-US" altLang="zh-CN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zh-CN" alt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904876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94A3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976313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项目概述与设计理念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223963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533526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94A3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604963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功能架构与技术实现难度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852613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162176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94A3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233613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动画系统设计与表现力实现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481263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790826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94A3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862263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动态内容加载与激励机制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3109913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419476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94A3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490913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工程总结与持续演进路径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738563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990975" y="4367213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项目概述与设计理念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5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设计风格定义：采用‘现代黑曜石’主题，融合深色模式的专业感与视觉沉浸体验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418465" y="1638300"/>
            <a:ext cx="2085975" cy="1638935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2"/>
            </p:custDataLst>
          </p:nvPr>
        </p:nvSpPr>
        <p:spPr>
          <a:xfrm>
            <a:off x="1203325" y="1814830"/>
            <a:ext cx="1007745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深色模式选择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3"/>
            </p:custDataLst>
          </p:nvPr>
        </p:nvSpPr>
        <p:spPr>
          <a:xfrm>
            <a:off x="752475" y="2157730"/>
            <a:ext cx="160655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选用深色背景提升专业感，适应健身房多变光线环境，增强界面可读性与专注度。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/>
          <a:srcRect/>
          <a:stretch>
            <a:fillRect/>
          </a:stretch>
        </p:blipFill>
        <p:spPr>
          <a:xfrm>
            <a:off x="2674620" y="1638300"/>
            <a:ext cx="2085975" cy="1650365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5"/>
            </p:custDataLst>
          </p:nvPr>
        </p:nvSpPr>
        <p:spPr>
          <a:xfrm>
            <a:off x="3379470" y="1858645"/>
            <a:ext cx="883285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沉浸式体验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6"/>
            </p:custDataLst>
          </p:nvPr>
        </p:nvSpPr>
        <p:spPr>
          <a:xfrm>
            <a:off x="3014345" y="2228850"/>
            <a:ext cx="1526540" cy="571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黑曜石质感背景营造高端氛围，减少视觉干扰，让用户聚焦核心训练数据与操作。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/>
          <a:srcRect/>
          <a:stretch>
            <a:fillRect/>
          </a:stretch>
        </p:blipFill>
        <p:spPr>
          <a:xfrm>
            <a:off x="418465" y="3465195"/>
            <a:ext cx="2085975" cy="1638935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8"/>
            </p:custDataLst>
          </p:nvPr>
        </p:nvSpPr>
        <p:spPr>
          <a:xfrm>
            <a:off x="1123315" y="3653790"/>
            <a:ext cx="883920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视觉突出性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9"/>
            </p:custDataLst>
          </p:nvPr>
        </p:nvSpPr>
        <p:spPr>
          <a:xfrm>
            <a:off x="770890" y="3976370"/>
            <a:ext cx="1526540" cy="7346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深色基底使图表、动效与关键信息更醒目，强化数据驱动的健身体验。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2674620" y="3465830"/>
            <a:ext cx="2085975" cy="163830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1"/>
            </p:custDataLst>
          </p:nvPr>
        </p:nvSpPr>
        <p:spPr>
          <a:xfrm>
            <a:off x="3429000" y="3654425"/>
            <a:ext cx="1007745" cy="2527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品牌一致性</a:t>
            </a:r>
            <a:endParaRPr lang="en-US" sz="1200" dirty="0"/>
          </a:p>
        </p:txBody>
      </p:sp>
      <p:sp>
        <p:nvSpPr>
          <p:cNvPr id="17" name="Text 10"/>
          <p:cNvSpPr/>
          <p:nvPr>
            <p:custDataLst>
              <p:tags r:id="rId12"/>
            </p:custDataLst>
          </p:nvPr>
        </p:nvSpPr>
        <p:spPr>
          <a:xfrm>
            <a:off x="3006090" y="3964940"/>
            <a:ext cx="1526540" cy="81978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通过统一的暗色调语言传递平台专业、稳重形象，建立用户对产品的信任认知。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通过高端质感界面传达品牌调性，强化用户对平台专业性的认知与信任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000" y="1828800"/>
            <a:ext cx="8382000" cy="29479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81952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深色背景设计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071937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采用深色背景搭配黑曜石主色调，有效减少强光下的视觉疲劳，适应健身房多变的照明环境。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8432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活力绿点缀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095625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使用活力绿作为强调色，提升界面动感与活力，突出关键数据和交互元素的视觉层级。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专业视觉基调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119313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整体配色营造专业、沉稳的运动科技感，强化品牌的专业形象与用户的信任感。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20764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高可读性字体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2328863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选用Roboto或Inter字体，确保文本与数字在不同尺寸下均清晰易读，提升信息传达效率。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30527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统一设计规范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330517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建立一致的色彩、间距与组件标准，保障界面协调性，降低开发与维护成本。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381952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数据清晰呈现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4071937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通过视觉层次优化，突出图表与训练数据，帮助用户快速获取核心运动指标。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功能架构与技术实现难度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典型问题排查实践：解决资源链接失败、组件遮挡与 InflateException 等关键异常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1847850"/>
            <a:ext cx="2781151" cy="23383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2475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资源链接修复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2475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系统性排查XML、Drawable及Theme配置，定位并修复资源引用错误，确保构建流程稳定。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181201" y="1847850"/>
            <a:ext cx="2781151" cy="23383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33626" y="262890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组件遮挡解决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533626" y="2919412"/>
            <a:ext cx="2076301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重构布局结构，采用CoordinatorLayout与Behavior机制，精准控制FAB与BottomAppBar的协同显示。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962352" y="1847850"/>
            <a:ext cx="2781151" cy="23383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14777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运行时异常定位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314777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通过Logcat分析InflateException，发现并补全缺失的layout_width属性，消除闪退问题。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0"/>
            <a:ext cx="8382000" cy="53721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完整功能流呈现：覆盖启动页至训练中页面的7大核心界面，形成闭环用户体验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000" y="1638300"/>
            <a:ext cx="8382000" cy="392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1797" y="3005138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1050" y="4233863"/>
            <a:ext cx="902494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启动页设计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4800" y="4486275"/>
            <a:ext cx="1854994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Splash页面作为入口，建立第一印象。确保加载流畅，传递品牌调性。为后续页面过渡做好准备。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982391" y="3767137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721644" y="1895475"/>
            <a:ext cx="902494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主界面布局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45394" y="2147888"/>
            <a:ext cx="1854994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Main页面整合核心功能入口。优化导航结构，提升操作效率。保持视觉与交互一致性。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922984" y="3009900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662238" y="4238625"/>
            <a:ext cx="902494" cy="4667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首页信息架构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185988" y="4705350"/>
            <a:ext cx="1854994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Home页面展示个性化内容。合理分布模块优先级。引导用户进入深层功能。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863578" y="3762375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602831" y="1676400"/>
            <a:ext cx="902494" cy="4667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动作页面交互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126581" y="2143125"/>
            <a:ext cx="1854994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Actions页面提供训练引导。强调操作反馈与动效提示。提升用户参与感与控制感。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04172" y="3009900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43425" y="4238625"/>
            <a:ext cx="902494" cy="4667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社区体验构建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067175" y="4705350"/>
            <a:ext cx="1854994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Community页面增强用户连接。支持内容分享与互动交流。促进长期活跃与归属感。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744766" y="3762375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5484019" y="1676400"/>
            <a:ext cx="902494" cy="4667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个人中心设计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007769" y="2143125"/>
            <a:ext cx="1854994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Profile页面集中管理用户数据。支持设置与历史记录查看。强化个性化服务体验。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685359" y="3009900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424613" y="4238625"/>
            <a:ext cx="902494" cy="4667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训练流程闭环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948363" y="4705350"/>
            <a:ext cx="1854994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Workout页面贯穿训练全过程。实时反馈进度与表现。实现目标达成的正向激励。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625953" y="3767137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7365206" y="1685925"/>
            <a:ext cx="902494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全流程动线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888956" y="1938338"/>
            <a:ext cx="1854994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七大界面无缝衔接，形成闭环路径。高保真设计保障体验连贯性。全面提升整体用户满意度。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388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底部导航栏高阶实现：集成 BottomAppBar、FAB 与 Cradle 凹槽，突破标准组件限制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000" y="1638300"/>
            <a:ext cx="8382000" cy="3819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14775" y="2095500"/>
            <a:ext cx="131445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底部交互设计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6275" y="33385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视觉一体化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6300" y="36671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BottomAppBar融合，统一底部栏与导航样式。</a:t>
            </a:r>
          </a:p>
        </p:txBody>
      </p:sp>
      <p:sp>
        <p:nvSpPr>
          <p:cNvPr id="9" name="Text 6"/>
          <p:cNvSpPr/>
          <p:nvPr/>
        </p:nvSpPr>
        <p:spPr>
          <a:xfrm>
            <a:off x="876300" y="4333875"/>
            <a:ext cx="1009650" cy="73088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Cradle凹槽设计，平滑嵌入悬浮按钮提升美观性。</a:t>
            </a:r>
          </a:p>
        </p:txBody>
      </p:sp>
      <p:sp>
        <p:nvSpPr>
          <p:cNvPr id="10" name="Text 7"/>
          <p:cNvSpPr/>
          <p:nvPr/>
        </p:nvSpPr>
        <p:spPr>
          <a:xfrm>
            <a:off x="2009775" y="33385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组件协调布局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16785" y="3679190"/>
            <a:ext cx="1009650" cy="66738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CoordinatorLayout管理父容器，实现复杂交互行为。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203450" y="4439285"/>
            <a:ext cx="1133475" cy="717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layout_behavior控制子组件，动态响应滚动与点击事件。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43275" y="33385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悬浮按钮集成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57270" y="3705225"/>
            <a:ext cx="1104900" cy="716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FloatingActionButton定位精准，突出核心操作入口。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75050" y="4438650"/>
            <a:ext cx="1080770" cy="7137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按钮联动响应，结合底部栏实现展开与收起动画。</a:t>
            </a:r>
          </a:p>
        </p:txBody>
      </p:sp>
      <p:sp>
        <p:nvSpPr>
          <p:cNvPr id="16" name="Text 13"/>
          <p:cNvSpPr/>
          <p:nvPr/>
        </p:nvSpPr>
        <p:spPr>
          <a:xfrm>
            <a:off x="4676775" y="33385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界面现代感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76800" y="3667125"/>
            <a:ext cx="1104900" cy="7302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圆角与留白优化，增强视觉层次与用户吸引力。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69815" y="4397375"/>
            <a:ext cx="11334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色彩渐变应用，提升整体UI的时尚与科技感。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10275" y="33385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操作便捷性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10300" y="36671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拇指热区适配，确保常用功能易于触达。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10300" y="43338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交互反馈及时，通过微动效提示用户操作结果。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43775" y="33385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布局问题解决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543800" y="3666490"/>
            <a:ext cx="1133475" cy="66738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避免遮挡冲突，合理安排组件层级与显示优先级。</a:t>
            </a:r>
          </a:p>
        </p:txBody>
      </p:sp>
      <p:sp>
        <p:nvSpPr>
          <p:cNvPr id="24" name="Text 21"/>
          <p:cNvSpPr/>
          <p:nvPr/>
        </p:nvSpPr>
        <p:spPr>
          <a:xfrm>
            <a:off x="7536180" y="4476115"/>
            <a:ext cx="1106805" cy="66738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间距自适应调节，兼容不同屏幕尺寸与方向变化。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32E2C-880F-4C01-B27E-2ED4C295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9B62B194-0ABF-88A3-067A-9203A6A1F1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A93A4C05-6AF6-E13F-0FBC-1EEDDAC1D024}"/>
              </a:ext>
            </a:extLst>
          </p:cNvPr>
          <p:cNvSpPr/>
          <p:nvPr/>
        </p:nvSpPr>
        <p:spPr>
          <a:xfrm>
            <a:off x="3976370" y="285750"/>
            <a:ext cx="119126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演示效果</a:t>
            </a:r>
          </a:p>
        </p:txBody>
      </p:sp>
    </p:spTree>
    <p:extLst>
      <p:ext uri="{BB962C8B-B14F-4D97-AF65-F5344CB8AC3E}">
        <p14:creationId xmlns:p14="http://schemas.microsoft.com/office/powerpoint/2010/main" val="4263451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复杂数据界面开发：实现双 RecyclerView 联动与 MPAndroidChart 动态图表集成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8377" y="2257425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082" y="2390775"/>
            <a:ext cx="1047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双列表联动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705552" y="2257425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通过左侧肌肉分类与右侧动作网格的RecyclerView联动，实现高效训练内容导航。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78377" y="3019425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4627" y="3145790"/>
            <a:ext cx="100584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动态数据绑定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705552" y="3019425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采用ViewModel驱动双列表数据更新，确保界面响应实时且内存占用优化。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78377" y="3781425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4627" y="3900805"/>
            <a:ext cx="9334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图表可视化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705552" y="3822065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集成MPAndroidChart库，将用户训练进度以动态柱状图形式直观呈现。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动画系统设计与表现力实现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系统级启动动画：遵循 Android 12+ 规范实现无痕过渡，提升品牌第一印象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1666875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规范对齐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914525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严格遵循 Android 12+ 启动画面规范，统一系统级视觉入口。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2130" y="27051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无缝过渡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2130" y="295275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ic_launcher 与黑背景匹配，消除默认机器人图标闪现。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2130" y="3743325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品牌强化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2130" y="3990975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实现从系统到应用的平滑加载，第一时间传递专业品牌形象。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数据可视化动效：利用 MPAndroidChart 的 animateY 实现柱状图生长动画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1847850"/>
            <a:ext cx="2085975" cy="2547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动态加载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138112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进入“我的”页面时，训练进度图表通过animateY()从底部向上生长，呈现动态加载效果。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486025" y="1847850"/>
            <a:ext cx="2085975" cy="25479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增强表现力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柱状图的逐条升起使数据变化更具动感，避免静态显示带来的枯燥感。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72000" y="1847850"/>
            <a:ext cx="2085975" cy="25479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69795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提升体验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98846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动画节奏平滑自然，强化用户对训练成果的感知，增强正向反馈。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657975" y="1847850"/>
            <a:ext cx="2085975" cy="25479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技术实现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集成MPAndroidChart库，调用animateY(1000)实现1秒内完整动画展现。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B7B1-DC39-169E-070B-72DA484B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81593880-8C09-1427-6CD4-9422FC96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BB6AC9ED-9336-B7F5-4E8A-264261140D8B}"/>
              </a:ext>
            </a:extLst>
          </p:cNvPr>
          <p:cNvSpPr/>
          <p:nvPr/>
        </p:nvSpPr>
        <p:spPr>
          <a:xfrm>
            <a:off x="3976370" y="285750"/>
            <a:ext cx="119126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演示效果</a:t>
            </a:r>
          </a:p>
        </p:txBody>
      </p:sp>
    </p:spTree>
    <p:extLst>
      <p:ext uri="{BB962C8B-B14F-4D97-AF65-F5344CB8AC3E}">
        <p14:creationId xmlns:p14="http://schemas.microsoft.com/office/powerpoint/2010/main" val="741497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核心交互流畅性：FAB 点击触发 BottomSheet 平滑弹出，增强操作直觉性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828800"/>
            <a:ext cx="8382000" cy="25812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313" y="30337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核心入口设计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5313" y="3286125"/>
            <a:ext cx="236220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绿色FAB按钮置于首页中心，作为主要功能入口，突出操作优先级。该设计引导用户快速发起训练添加操作，提升功能可达性。视觉与位置强化了用户的初始交互焦点。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动效层次呈现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5313" y="2119313"/>
            <a:ext cx="2362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点击后BottomSheet从底部平滑上滑，动画流畅自然。界面过渡具有清晰的空间层次感，增强视觉引导。动态变化帮助用户理解界面关系。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86488" y="19716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手势动效协同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86488" y="2224088"/>
            <a:ext cx="2362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结合手势操作与动效反馈，提升交互的连贯性。用户在滑动过程中获得实时响应，增强可逆操作的感知。设计提升了操作的直观性与控制感。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86488" y="313848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交互直觉优化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86488" y="3390900"/>
            <a:ext cx="2362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通过动效与布局的协同，降低用户认知负担。操作流程更符合用户预期，提升使用信心。整体设计增强了产品的易用性和沉浸感。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微交互即时反馈：通过颜色变化实现打钩状态切换与肌肉列表高亮响应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184785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状态即时反馈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点击组数旁“打钩”按钮，背景由灰变绿，直观确认完成状态，提升操作可信度。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181201" y="184785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单选高亮同步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点击肌肉分类项，当前项高亮显示，原选项恢复默认，清晰呈现唯一选择状态。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962352" y="184785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视觉动效一致性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统一使用颜色渐变与背景响应，构建低干扰、高感知的微交互体系，增强界面活力。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3A23E-D35F-2609-70F2-338DBBF1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5E6E1AC7-2741-DD9F-57EE-067B0E2FB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973C6C4A-F00A-E612-8703-B3036E6C54DB}"/>
              </a:ext>
            </a:extLst>
          </p:cNvPr>
          <p:cNvSpPr/>
          <p:nvPr/>
        </p:nvSpPr>
        <p:spPr>
          <a:xfrm>
            <a:off x="3976370" y="285750"/>
            <a:ext cx="119126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演示效果</a:t>
            </a:r>
          </a:p>
        </p:txBody>
      </p:sp>
    </p:spTree>
    <p:extLst>
      <p:ext uri="{BB962C8B-B14F-4D97-AF65-F5344CB8AC3E}">
        <p14:creationId xmlns:p14="http://schemas.microsoft.com/office/powerpoint/2010/main" val="1122901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动态内容加载与激励机制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01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GIF 动作指导集成：使用 Glide 在 RecyclerView 中高效加载播放训练动作动图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000" y="1828800"/>
            <a:ext cx="8382000" cy="3190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嵌入GIF动图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在动作库中引入GIF动图，直观展示训练动作的标准流程，提升用户的视觉理解。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Glide高效加载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59556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采用Glide库实现动图的高效加载与缓存，保障资源加载速度与稳定性。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提升学习效率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59556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通过动态演示帮助用户快速掌握动作要领，显著提高学习与模仿效率。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确保执行准确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59556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标准动作展示有助于用户正确复现，减少因误解导致的动作偏差。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10413" y="35956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29375" y="398621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优化滚动流畅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29375" y="4276725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结合RecyclerView实现流畅滑动体验，避免因资源加载造成卡顿。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29238" y="35956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48200" y="398621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降低内存占用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48200" y="4276725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利用Glide的内存管理机制，有效控制动图资源的内存消耗。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548062" y="35956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2867025" y="398621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增强专业形象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867025" y="4276725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高质量动图提升App整体专业感与用户体验，强化品牌可信度。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766888" y="35956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085850" y="398621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预防运动损伤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85850" y="4276725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正确动作示范帮助用户建立安全的运动模式，降低受伤风险。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266B-A453-31D6-B49C-7531B2FA1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0487FDD4-22CA-9AC1-E1AC-E1447F4601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E541FC75-7C7C-2164-E8FB-597DD19383A5}"/>
              </a:ext>
            </a:extLst>
          </p:cNvPr>
          <p:cNvSpPr/>
          <p:nvPr/>
        </p:nvSpPr>
        <p:spPr>
          <a:xfrm>
            <a:off x="3976370" y="285750"/>
            <a:ext cx="119126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演示效果</a:t>
            </a:r>
          </a:p>
        </p:txBody>
      </p:sp>
    </p:spTree>
    <p:extLst>
      <p:ext uri="{BB962C8B-B14F-4D97-AF65-F5344CB8AC3E}">
        <p14:creationId xmlns:p14="http://schemas.microsoft.com/office/powerpoint/2010/main" val="2355931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435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Lottie 成就动画实现：高性能播放奖杯解锁动画，提供情感化激励反馈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000" y="1657350"/>
            <a:ext cx="8382000" cy="3524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8288" y="3276600"/>
            <a:ext cx="10763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动效设计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662363" y="18002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情感化激励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29188" y="169545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奖杯解锁动画，通过流畅动效强化用户成就感。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29188" y="194310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成就反馈提示，以渐变与弹跳增强情感共鸣。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62363" y="23907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品牌传达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29188" y="228600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精致视觉风格，体现专业与高品质的品牌调性。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29188" y="253365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一致动效语言，建立用户对品牌的信任与认可。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62363" y="29813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性能优势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29188" y="287655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Lottie体积小，加载快于GIF，节省带宽资源。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29188" y="312420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渲染高效，减少卡顿，保障多设备运行稳定性。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62363" y="35718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交互体验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29188" y="3467100"/>
            <a:ext cx="27051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点击即时触发，实现按钮与动画的无缝响应。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29188" y="3714750"/>
            <a:ext cx="27051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动效节奏自然，提升操作的连贯与愉悦感。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662363" y="41624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用户粘性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29188" y="4057650"/>
            <a:ext cx="27051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高表现力反馈增加使用乐趣，延长停留时间。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929188" y="4305300"/>
            <a:ext cx="27051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正向激励机制通过视觉奖励促进重复使用。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662363" y="47529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技术集成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29188" y="4648200"/>
            <a:ext cx="3181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支持主流平台，Android、iOS、Web统一渲染效果。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929188" y="4895850"/>
            <a:ext cx="3181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易于嵌入现有UI框架，降低开发与维护成本。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2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3976370" y="285750"/>
            <a:ext cx="119126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演示效果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</a:rPr>
              <a:t>综合评估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开发工作量量化总结：完成 7 大模块、10+ 布局、4 类适配器与三方库深度集成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39875" y="2400300"/>
            <a:ext cx="476250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核心模块构建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32385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完成7个核心页面模块开发，覆盖启动、主界面、训练等全流程功能，形成完整闭环体验。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333875" y="2400300"/>
            <a:ext cx="476250" cy="476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65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布局精细实现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365500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设计并实现10+自定义XML布局，确保高保真还原UI细节与响应式交互结构。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127875" y="2400300"/>
            <a:ext cx="476250" cy="4762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59500" y="29908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技术组件集成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159500" y="32385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封装4类Kotlin适配器，深度集成Lottie、MPAndroidChart、Glide三大库，支撑复杂功能运行。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自我评分对照：在创意性、完整性、动画表现与报告质量四维度接近满分达成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184785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 err="1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创意性与精致度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“现代黑曜石”主题深度融合业务目标，以深色沉浸感传递专业健身平台调性。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181201" y="184785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 err="1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功能完整性与工作难度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攻克BottomAppBar与双RecyclerView联动难题，实现高复杂度界面闭环体验。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962352" y="184785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69795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 err="1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动画流畅性与表现力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9884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集成Lottie、Glide等多技术，构建流畅且富有激励感的全链路动效体系。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94A363"/>
          </a:solidFill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汇报小组</a:t>
            </a:r>
            <a:r>
              <a:rPr lang="en-US" altLang="zh-CN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en-US" altLang="zh-CN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zh-CN" alt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8.2750393700788,&quot;left&quot;:31.5,&quot;top&quot;:82.5,&quot;width&quot;:726.6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800</Words>
  <Application>Microsoft Macintosh PowerPoint</Application>
  <PresentationFormat>全屏显示(16:9)</PresentationFormat>
  <Paragraphs>225</Paragraphs>
  <Slides>27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Kerwin Huang</cp:lastModifiedBy>
  <cp:revision>4</cp:revision>
  <dcterms:created xsi:type="dcterms:W3CDTF">2025-11-18T08:07:48Z</dcterms:created>
  <dcterms:modified xsi:type="dcterms:W3CDTF">2025-11-18T11:35:30Z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F1325A089585D5A754291C69FC184A8F_42</vt:lpwstr>
  </property>
  <property fmtid="{D5CDD505-2E9C-101B-9397-08002B2CF9AE}" pid="3" name="KSOProductBuildVer">
    <vt:lpwstr>2052-12.1.22553.22553</vt:lpwstr>
  </property>
</Properties>
</file>