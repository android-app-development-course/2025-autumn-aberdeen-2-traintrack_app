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2"/>
  </p:sldMasterIdLst>
  <p:notesMasterIdLst>
    <p:notesMasterId r:id="rId21"/>
  </p:notesMasterIdLst>
  <p:sldIdLst>
    <p:sldId id="256" r:id="rId3"/>
    <p:sldId id="257" r:id="rId4"/>
    <p:sldId id="294" r:id="rId5"/>
    <p:sldId id="296" r:id="rId6"/>
    <p:sldId id="259" r:id="rId7"/>
    <p:sldId id="293" r:id="rId8"/>
    <p:sldId id="261" r:id="rId9"/>
    <p:sldId id="264" r:id="rId10"/>
    <p:sldId id="265" r:id="rId11"/>
    <p:sldId id="300" r:id="rId12"/>
    <p:sldId id="268" r:id="rId13"/>
    <p:sldId id="269" r:id="rId14"/>
    <p:sldId id="270" r:id="rId15"/>
    <p:sldId id="298" r:id="rId16"/>
    <p:sldId id="301" r:id="rId17"/>
    <p:sldId id="302" r:id="rId18"/>
    <p:sldId id="312" r:id="rId19"/>
    <p:sldId id="291" r:id="rId20"/>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29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4"/>
    <p:restoredTop sz="94610"/>
  </p:normalViewPr>
  <p:slideViewPr>
    <p:cSldViewPr snapToGrid="0" snapToObjects="1">
      <p:cViewPr varScale="1">
        <p:scale>
          <a:sx n="131" d="100"/>
          <a:sy n="131" d="100"/>
        </p:scale>
        <p:origin x="18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slideLayout" Target="../slideLayouts/slideLayout1.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6.jpe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731747" cy="6871516"/>
          </a:xfrm>
          <a:prstGeom prst="rect">
            <a:avLst/>
          </a:prstGeom>
          <a:solidFill>
            <a:srgbClr val="8C3023"/>
          </a:solidFill>
        </p:spPr>
      </p:sp>
      <p:sp>
        <p:nvSpPr>
          <p:cNvPr id="3" name="Text 1"/>
          <p:cNvSpPr/>
          <p:nvPr/>
        </p:nvSpPr>
        <p:spPr>
          <a:xfrm>
            <a:off x="0" y="1"/>
            <a:ext cx="12731747" cy="6871516"/>
          </a:xfrm>
          <a:prstGeom prst="rect">
            <a:avLst/>
          </a:prstGeom>
          <a:noFill/>
        </p:spPr>
        <p:txBody>
          <a:bodyPr wrap="square" lIns="25400" tIns="25400" rIns="25400" bIns="25400" rtlCol="0" anchor="ctr"/>
          <a:lstStyle/>
          <a:p>
            <a:pPr marL="0" indent="0">
              <a:lnSpc>
                <a:spcPct val="100000"/>
              </a:lnSpc>
              <a:buNone/>
            </a:pPr>
            <a:endParaRPr lang="en-US" sz="1600" dirty="0"/>
          </a:p>
        </p:txBody>
      </p:sp>
      <p:sp>
        <p:nvSpPr>
          <p:cNvPr id="4" name="Text 2"/>
          <p:cNvSpPr/>
          <p:nvPr/>
        </p:nvSpPr>
        <p:spPr>
          <a:xfrm>
            <a:off x="786130" y="1156335"/>
            <a:ext cx="6993890" cy="4255135"/>
          </a:xfrm>
          <a:prstGeom prst="rect">
            <a:avLst/>
          </a:prstGeom>
          <a:noFill/>
        </p:spPr>
        <p:txBody>
          <a:bodyPr wrap="square" lIns="25400" tIns="25400" rIns="25400" bIns="25400" rtlCol="0" anchor="ctr"/>
          <a:lstStyle/>
          <a:p>
            <a:pPr marL="0" indent="0" algn="l">
              <a:lnSpc>
                <a:spcPct val="100000"/>
              </a:lnSpc>
              <a:buNone/>
            </a:pPr>
            <a:r>
              <a:rPr lang="en-US" sz="8000" dirty="0" err="1">
                <a:solidFill>
                  <a:srgbClr val="FFFFFF"/>
                </a:solidFill>
                <a:latin typeface="MiSans" pitchFamily="34" charset="-122"/>
                <a:ea typeface="MiSans" pitchFamily="34" charset="-122"/>
                <a:cs typeface="MiSans" pitchFamily="34" charset="-120"/>
              </a:rPr>
              <a:t>TrainTrack</a:t>
            </a:r>
            <a:r>
              <a:rPr lang="en-US" sz="8000" dirty="0">
                <a:solidFill>
                  <a:srgbClr val="FFFFFF"/>
                </a:solidFill>
                <a:latin typeface="MiSans" pitchFamily="34" charset="-122"/>
                <a:ea typeface="MiSans" pitchFamily="34" charset="-122"/>
                <a:cs typeface="MiSans" pitchFamily="34" charset="-120"/>
              </a:rPr>
              <a:t>：</a:t>
            </a:r>
          </a:p>
          <a:p>
            <a:pPr marL="0" indent="0" algn="l">
              <a:lnSpc>
                <a:spcPct val="100000"/>
              </a:lnSpc>
              <a:buNone/>
            </a:pPr>
            <a:r>
              <a:rPr lang="en-US" sz="8000" dirty="0" err="1">
                <a:solidFill>
                  <a:srgbClr val="FFFFFF"/>
                </a:solidFill>
                <a:latin typeface="MiSans" pitchFamily="34" charset="-122"/>
                <a:ea typeface="MiSans" pitchFamily="34" charset="-122"/>
                <a:cs typeface="MiSans" pitchFamily="34" charset="-120"/>
              </a:rPr>
              <a:t>一站式健身App</a:t>
            </a:r>
            <a:endParaRPr lang="en-US" sz="1600" dirty="0"/>
          </a:p>
        </p:txBody>
      </p:sp>
      <p:sp>
        <p:nvSpPr>
          <p:cNvPr id="5" name="Text 3"/>
          <p:cNvSpPr/>
          <p:nvPr/>
        </p:nvSpPr>
        <p:spPr>
          <a:xfrm>
            <a:off x="919304" y="5250193"/>
            <a:ext cx="4542993" cy="300595"/>
          </a:xfrm>
          <a:prstGeom prst="rect">
            <a:avLst/>
          </a:prstGeom>
          <a:noFill/>
        </p:spPr>
        <p:txBody>
          <a:bodyPr wrap="square" lIns="25400" tIns="25400" rIns="25400" bIns="25400" rtlCol="0" anchor="ctr">
            <a:spAutoFit/>
          </a:bodyPr>
          <a:lstStyle/>
          <a:p>
            <a:pPr>
              <a:lnSpc>
                <a:spcPct val="90000"/>
              </a:lnSpc>
            </a:pPr>
            <a:r>
              <a:rPr lang="en-US" altLang="zh-CN" dirty="0" err="1">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汇报人</a:t>
            </a:r>
            <a:r>
              <a:rPr lang="en-US" altLang="zh-CN"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赖国盟、朱静远、黄旭琨、温家誉</a:t>
            </a:r>
          </a:p>
        </p:txBody>
      </p:sp>
      <p:pic>
        <p:nvPicPr>
          <p:cNvPr id="6" name="Image 0" descr="https://kimi-img.moonshot.cn/pub/slides/slides_tmpl/image/25-10-13-16:02:24-d3mb440s8jdo4os5f0dg.png"/>
          <p:cNvPicPr>
            <a:picLocks noChangeAspect="1"/>
          </p:cNvPicPr>
          <p:nvPr/>
        </p:nvPicPr>
        <p:blipFill>
          <a:blip r:embed="rId3"/>
          <a:stretch>
            <a:fillRect/>
          </a:stretch>
        </p:blipFill>
        <p:spPr>
          <a:xfrm>
            <a:off x="7588246" y="-1"/>
            <a:ext cx="5143500" cy="6858001"/>
          </a:xfrm>
          <a:prstGeom prst="rect">
            <a:avLst/>
          </a:prstGeom>
        </p:spPr>
      </p:pic>
      <p:sp>
        <p:nvSpPr>
          <p:cNvPr id="7" name="Text 4"/>
          <p:cNvSpPr/>
          <p:nvPr/>
        </p:nvSpPr>
        <p:spPr>
          <a:xfrm>
            <a:off x="852629" y="5622925"/>
            <a:ext cx="4064000" cy="369332"/>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汇报时间：2025/</a:t>
            </a:r>
            <a:r>
              <a:rPr lang="en-US" altLang="zh-CN" sz="18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10</a:t>
            </a:r>
            <a:r>
              <a:rPr lang="en-US" sz="18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a:t>
            </a:r>
            <a:r>
              <a:rPr lang="en-US" altLang="zh-CN" sz="18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22</a:t>
            </a:r>
          </a:p>
        </p:txBody>
      </p:sp>
      <p:pic>
        <p:nvPicPr>
          <p:cNvPr id="13" name="图片 12">
            <a:extLst>
              <a:ext uri="{FF2B5EF4-FFF2-40B4-BE49-F238E27FC236}">
                <a16:creationId xmlns:a16="http://schemas.microsoft.com/office/drawing/2014/main" id="{824CE333-6BF0-F8E1-B3C6-36B1AF0E0CB4}"/>
              </a:ext>
            </a:extLst>
          </p:cNvPr>
          <p:cNvPicPr>
            <a:picLocks noChangeAspect="1"/>
          </p:cNvPicPr>
          <p:nvPr/>
        </p:nvPicPr>
        <p:blipFill>
          <a:blip r:embed="rId4"/>
          <a:stretch>
            <a:fillRect/>
          </a:stretch>
        </p:blipFill>
        <p:spPr>
          <a:xfrm>
            <a:off x="7780020" y="13517"/>
            <a:ext cx="3334261"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hape 0"/>
          <p:cNvSpPr/>
          <p:nvPr/>
        </p:nvSpPr>
        <p:spPr>
          <a:xfrm>
            <a:off x="5542" y="0"/>
            <a:ext cx="12192635" cy="6857365"/>
          </a:xfrm>
          <a:prstGeom prst="rect">
            <a:avLst/>
          </a:prstGeom>
          <a:solidFill>
            <a:srgbClr val="E5E0D4"/>
          </a:solidFill>
        </p:spPr>
      </p:sp>
      <p:sp>
        <p:nvSpPr>
          <p:cNvPr id="4" name="Text 0"/>
          <p:cNvSpPr/>
          <p:nvPr/>
        </p:nvSpPr>
        <p:spPr>
          <a:xfrm>
            <a:off x="1184272" y="4024748"/>
            <a:ext cx="529425" cy="736600"/>
          </a:xfrm>
          <a:prstGeom prst="rect">
            <a:avLst/>
          </a:prstGeom>
          <a:noFill/>
        </p:spPr>
        <p:txBody>
          <a:bodyPr wrap="square" lIns="25400" tIns="25400" rIns="25400" bIns="25400" rtlCol="0" anchor="ctr">
            <a:spAutoFit/>
          </a:bodyPr>
          <a:lstStyle/>
          <a:p>
            <a:pPr marL="0" indent="0" algn="just">
              <a:lnSpc>
                <a:spcPct val="100000"/>
              </a:lnSpc>
              <a:buNone/>
            </a:pPr>
            <a:r>
              <a:rPr lang="en-US" sz="4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1</a:t>
            </a:r>
            <a:r>
              <a:rPr lang="en-US" altLang="zh-CN" sz="4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5" name="Text 1"/>
          <p:cNvSpPr/>
          <p:nvPr/>
        </p:nvSpPr>
        <p:spPr>
          <a:xfrm>
            <a:off x="2208506" y="4244256"/>
            <a:ext cx="4623656" cy="374461"/>
          </a:xfrm>
          <a:prstGeom prst="rect">
            <a:avLst/>
          </a:prstGeom>
          <a:noFill/>
        </p:spPr>
        <p:txBody>
          <a:bodyPr wrap="square" lIns="25400" tIns="25400" rIns="25400" bIns="25400" rtlCol="0" anchor="ctr">
            <a:spAutoFit/>
          </a:bodyPr>
          <a:lstStyle/>
          <a:p>
            <a:pPr marL="0" indent="0" algn="just">
              <a:lnSpc>
                <a:spcPct val="100000"/>
              </a:lnSpc>
              <a:buNone/>
            </a:pPr>
            <a:r>
              <a:rPr lang="zh-CN" altLang="en-US" sz="21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产品简介</a:t>
            </a:r>
            <a:endParaRPr lang="en-US" sz="1600" dirty="0"/>
          </a:p>
        </p:txBody>
      </p:sp>
      <p:sp>
        <p:nvSpPr>
          <p:cNvPr id="6" name="Text 2"/>
          <p:cNvSpPr/>
          <p:nvPr/>
        </p:nvSpPr>
        <p:spPr>
          <a:xfrm>
            <a:off x="1168794" y="5302970"/>
            <a:ext cx="529425" cy="736600"/>
          </a:xfrm>
          <a:prstGeom prst="rect">
            <a:avLst/>
          </a:prstGeom>
          <a:noFill/>
        </p:spPr>
        <p:txBody>
          <a:bodyPr wrap="square" lIns="25400" tIns="25400" rIns="25400" bIns="25400" rtlCol="0" anchor="ctr">
            <a:spAutoFit/>
          </a:bodyPr>
          <a:lstStyle/>
          <a:p>
            <a:pPr marL="0" indent="0" algn="just">
              <a:lnSpc>
                <a:spcPct val="100000"/>
              </a:lnSpc>
              <a:buNone/>
            </a:pPr>
            <a:r>
              <a:rPr lang="en-US" sz="4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2</a:t>
            </a:r>
            <a:r>
              <a:rPr lang="en-US" altLang="zh-CN" sz="4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7" name="Text 3"/>
          <p:cNvSpPr/>
          <p:nvPr/>
        </p:nvSpPr>
        <p:spPr>
          <a:xfrm>
            <a:off x="2247455" y="5505108"/>
            <a:ext cx="4623656" cy="374461"/>
          </a:xfrm>
          <a:prstGeom prst="rect">
            <a:avLst/>
          </a:prstGeom>
          <a:noFill/>
        </p:spPr>
        <p:txBody>
          <a:bodyPr wrap="square" lIns="25400" tIns="25400" rIns="25400" bIns="25400" rtlCol="0" anchor="ctr">
            <a:spAutoFit/>
          </a:bodyPr>
          <a:lstStyle/>
          <a:p>
            <a:pPr algn="just"/>
            <a:r>
              <a:rPr lang="en-US" altLang="zh-CN" sz="2100" dirty="0" err="1">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独特产品定义</a:t>
            </a:r>
            <a:endParaRPr lang="en-US" altLang="zh-CN" sz="1600" dirty="0"/>
          </a:p>
        </p:txBody>
      </p:sp>
      <p:sp>
        <p:nvSpPr>
          <p:cNvPr id="8" name="Text 4"/>
          <p:cNvSpPr/>
          <p:nvPr/>
        </p:nvSpPr>
        <p:spPr>
          <a:xfrm>
            <a:off x="7155634" y="5302970"/>
            <a:ext cx="529425" cy="728405"/>
          </a:xfrm>
          <a:prstGeom prst="rect">
            <a:avLst/>
          </a:prstGeom>
          <a:noFill/>
        </p:spPr>
        <p:txBody>
          <a:bodyPr wrap="square" lIns="25400" tIns="25400" rIns="25400" bIns="25400" rtlCol="0" anchor="ctr">
            <a:spAutoFit/>
          </a:bodyPr>
          <a:lstStyle/>
          <a:p>
            <a:pPr marL="0" indent="0" algn="just">
              <a:lnSpc>
                <a:spcPct val="100000"/>
              </a:lnSpc>
              <a:buNone/>
            </a:pPr>
            <a:r>
              <a:rPr lang="en-US" altLang="zh-CN" sz="4400" dirty="0">
                <a:solidFill>
                  <a:srgbClr val="000000"/>
                </a:solidFill>
                <a:latin typeface="Noto Sans SC" panose="020B0200000000000000" pitchFamily="34" charset="-122"/>
                <a:ea typeface="Noto Sans SC" panose="020B0200000000000000" pitchFamily="34" charset="-122"/>
              </a:rPr>
              <a:t>4.</a:t>
            </a:r>
            <a:endParaRPr lang="en-US" sz="1600" dirty="0"/>
          </a:p>
        </p:txBody>
      </p:sp>
      <p:sp>
        <p:nvSpPr>
          <p:cNvPr id="9" name="Text 5"/>
          <p:cNvSpPr/>
          <p:nvPr/>
        </p:nvSpPr>
        <p:spPr>
          <a:xfrm>
            <a:off x="8263793" y="5505107"/>
            <a:ext cx="4623656" cy="374461"/>
          </a:xfrm>
          <a:prstGeom prst="rect">
            <a:avLst/>
          </a:prstGeom>
          <a:noFill/>
        </p:spPr>
        <p:txBody>
          <a:bodyPr wrap="square" lIns="25400" tIns="25400" rIns="25400" bIns="25400" rtlCol="0" anchor="ctr">
            <a:spAutoFit/>
          </a:bodyPr>
          <a:lstStyle/>
          <a:p>
            <a:pPr marL="0" indent="0" algn="just">
              <a:lnSpc>
                <a:spcPct val="100000"/>
              </a:lnSpc>
              <a:buNone/>
            </a:pPr>
            <a:r>
              <a:rPr lang="en-US" sz="2100" dirty="0" err="1">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目标用户与全域营销策略</a:t>
            </a:r>
            <a:endParaRPr lang="en-US" sz="1600" dirty="0"/>
          </a:p>
        </p:txBody>
      </p:sp>
      <p:sp>
        <p:nvSpPr>
          <p:cNvPr id="10" name="Text 6"/>
          <p:cNvSpPr/>
          <p:nvPr/>
        </p:nvSpPr>
        <p:spPr>
          <a:xfrm>
            <a:off x="7174528" y="4028846"/>
            <a:ext cx="529425" cy="728405"/>
          </a:xfrm>
          <a:prstGeom prst="rect">
            <a:avLst/>
          </a:prstGeom>
          <a:noFill/>
        </p:spPr>
        <p:txBody>
          <a:bodyPr wrap="square" lIns="25400" tIns="25400" rIns="25400" bIns="25400" rtlCol="0" anchor="ctr">
            <a:spAutoFit/>
          </a:bodyPr>
          <a:lstStyle/>
          <a:p>
            <a:pPr marL="0" indent="0" algn="just">
              <a:lnSpc>
                <a:spcPct val="100000"/>
              </a:lnSpc>
              <a:buNone/>
            </a:pPr>
            <a:r>
              <a:rPr lang="en-US" altLang="zh-CN" sz="4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3.</a:t>
            </a:r>
            <a:endParaRPr lang="en-US" sz="1600" dirty="0"/>
          </a:p>
        </p:txBody>
      </p:sp>
      <p:sp>
        <p:nvSpPr>
          <p:cNvPr id="11" name="Text 7"/>
          <p:cNvSpPr/>
          <p:nvPr/>
        </p:nvSpPr>
        <p:spPr>
          <a:xfrm>
            <a:off x="8224844" y="4244255"/>
            <a:ext cx="4958356" cy="374461"/>
          </a:xfrm>
          <a:prstGeom prst="rect">
            <a:avLst/>
          </a:prstGeom>
          <a:noFill/>
        </p:spPr>
        <p:txBody>
          <a:bodyPr wrap="square" lIns="25400" tIns="25400" rIns="25400" bIns="25400" rtlCol="0" anchor="ctr">
            <a:spAutoFit/>
          </a:bodyPr>
          <a:lstStyle/>
          <a:p>
            <a:pPr algn="just"/>
            <a:r>
              <a:rPr lang="en-US" altLang="zh-CN" sz="2100" dirty="0" err="1">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市场纵深洞察</a:t>
            </a:r>
            <a:endParaRPr lang="en-US" altLang="zh-CN" sz="1600" dirty="0"/>
          </a:p>
        </p:txBody>
      </p:sp>
      <p:sp>
        <p:nvSpPr>
          <p:cNvPr id="17" name="矩形 16"/>
          <p:cNvSpPr/>
          <p:nvPr/>
        </p:nvSpPr>
        <p:spPr>
          <a:xfrm>
            <a:off x="6177" y="0"/>
            <a:ext cx="12192000" cy="3287802"/>
          </a:xfrm>
          <a:prstGeom prst="rect">
            <a:avLst/>
          </a:prstGeom>
          <a:solidFill>
            <a:srgbClr val="8B29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358698" y="81961"/>
            <a:ext cx="11474604" cy="3154710"/>
          </a:xfrm>
          <a:prstGeom prst="rect">
            <a:avLst/>
          </a:prstGeom>
          <a:noFill/>
        </p:spPr>
        <p:txBody>
          <a:bodyPr wrap="square" lIns="91440" tIns="45720" rIns="91440" bIns="45720">
            <a:spAutoFit/>
          </a:bodyPr>
          <a:lstStyle/>
          <a:p>
            <a:pPr algn="ctr"/>
            <a:r>
              <a:rPr lang="en-US" altLang="zh-CN" sz="19900" b="1" cap="none" spc="50" dirty="0">
                <a:ln w="0"/>
                <a:solidFill>
                  <a:schemeClr val="bg2"/>
                </a:solidFill>
                <a:effectLst>
                  <a:innerShdw blurRad="63500" dist="50800" dir="13500000">
                    <a:srgbClr val="000000">
                      <a:alpha val="50000"/>
                    </a:srgbClr>
                  </a:innerShdw>
                </a:effectLst>
              </a:rPr>
              <a:t>CONTENT</a:t>
            </a:r>
            <a:endParaRPr lang="zh-CN" altLang="en-US" sz="19900" b="1" cap="none" spc="50" dirty="0">
              <a:ln w="0"/>
              <a:solidFill>
                <a:schemeClr val="bg2"/>
              </a:solidFill>
              <a:effectLst>
                <a:innerShdw blurRad="63500" dist="50800" dir="13500000">
                  <a:srgbClr val="000000">
                    <a:alpha val="50000"/>
                  </a:srgbClr>
                </a:inn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
            <a:ext cx="12230091" cy="6871516"/>
          </a:xfrm>
          <a:prstGeom prst="rect">
            <a:avLst/>
          </a:prstGeom>
          <a:solidFill>
            <a:srgbClr val="93280F"/>
          </a:solidFill>
        </p:spPr>
      </p:sp>
      <p:sp>
        <p:nvSpPr>
          <p:cNvPr id="3" name="Text 1"/>
          <p:cNvSpPr/>
          <p:nvPr/>
        </p:nvSpPr>
        <p:spPr>
          <a:xfrm>
            <a:off x="0" y="1"/>
            <a:ext cx="12230091" cy="6871516"/>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img.moonshot.cn/pub/slides/slides_tmpl/image/25-10-13-16:02:24-d3mb440s8jdo4os5f0d0.png"/>
          <p:cNvPicPr>
            <a:picLocks noChangeAspect="1"/>
          </p:cNvPicPr>
          <p:nvPr/>
        </p:nvPicPr>
        <p:blipFill>
          <a:blip r:embed="rId3"/>
          <a:stretch>
            <a:fillRect/>
          </a:stretch>
        </p:blipFill>
        <p:spPr>
          <a:xfrm>
            <a:off x="3175" y="-13335"/>
            <a:ext cx="12226925" cy="6871335"/>
          </a:xfrm>
          <a:prstGeom prst="rect">
            <a:avLst/>
          </a:prstGeom>
        </p:spPr>
      </p:pic>
      <p:sp>
        <p:nvSpPr>
          <p:cNvPr id="5" name="Text 2"/>
          <p:cNvSpPr/>
          <p:nvPr/>
        </p:nvSpPr>
        <p:spPr>
          <a:xfrm>
            <a:off x="4036613" y="3064798"/>
            <a:ext cx="8723425" cy="728405"/>
          </a:xfrm>
          <a:prstGeom prst="rect">
            <a:avLst/>
          </a:prstGeom>
          <a:noFill/>
        </p:spPr>
        <p:txBody>
          <a:bodyPr wrap="square" lIns="25400" tIns="25400" rIns="25400" bIns="25400" rtlCol="0" anchor="ctr">
            <a:spAutoFit/>
          </a:bodyPr>
          <a:lstStyle/>
          <a:p>
            <a:pPr marL="0" indent="0" algn="l">
              <a:lnSpc>
                <a:spcPct val="100000"/>
              </a:lnSpc>
              <a:buNone/>
            </a:pPr>
            <a:r>
              <a:rPr lang="en-US" sz="4400" b="1" dirty="0" err="1">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产品简介</a:t>
            </a:r>
            <a:endParaRPr lang="en-US" sz="1600" b="1" dirty="0"/>
          </a:p>
        </p:txBody>
      </p:sp>
      <p:sp>
        <p:nvSpPr>
          <p:cNvPr id="6" name="Text 3"/>
          <p:cNvSpPr/>
          <p:nvPr/>
        </p:nvSpPr>
        <p:spPr>
          <a:xfrm>
            <a:off x="537341" y="2242433"/>
            <a:ext cx="2571347" cy="2359620"/>
          </a:xfrm>
          <a:prstGeom prst="rect">
            <a:avLst/>
          </a:prstGeom>
          <a:noFill/>
        </p:spPr>
        <p:txBody>
          <a:bodyPr wrap="square" lIns="25400" tIns="25400" rIns="25400" bIns="25400" rtlCol="0" anchor="ctr">
            <a:spAutoFit/>
          </a:bodyPr>
          <a:lstStyle/>
          <a:p>
            <a:pPr marL="0" indent="0" algn="l">
              <a:lnSpc>
                <a:spcPct val="100000"/>
              </a:lnSpc>
              <a:buNone/>
            </a:pPr>
            <a:r>
              <a:rPr lang="en-US"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01</a:t>
            </a:r>
            <a:endParaRPr lang="en-US" sz="1600" dirty="0"/>
          </a:p>
        </p:txBody>
      </p:sp>
      <p:pic>
        <p:nvPicPr>
          <p:cNvPr id="7" name="Image 1" descr="https://kimi-img.moonshot.cn/pub/slides/slides_tmpl/image/25-10-13-16:02:24-d3mb440s8jdo4os5f0bg.png"/>
          <p:cNvPicPr>
            <a:picLocks noChangeAspect="1"/>
          </p:cNvPicPr>
          <p:nvPr/>
        </p:nvPicPr>
        <p:blipFill>
          <a:blip r:embed="rId4"/>
          <a:stretch>
            <a:fillRect/>
          </a:stretch>
        </p:blipFill>
        <p:spPr>
          <a:xfrm>
            <a:off x="10918055" y="843185"/>
            <a:ext cx="628927" cy="1213328"/>
          </a:xfrm>
          <a:prstGeom prst="rect">
            <a:avLst/>
          </a:prstGeom>
        </p:spPr>
      </p:pic>
      <p:pic>
        <p:nvPicPr>
          <p:cNvPr id="8" name="Image 2" descr="https://kimi-img.moonshot.cn/pub/slides/slides_tmpl/image/25-10-13-16:02:24-d3mb440s8jdo4os5f0bg.png"/>
          <p:cNvPicPr>
            <a:picLocks noChangeAspect="1"/>
          </p:cNvPicPr>
          <p:nvPr/>
        </p:nvPicPr>
        <p:blipFill>
          <a:blip r:embed="rId4"/>
          <a:stretch>
            <a:fillRect/>
          </a:stretch>
        </p:blipFill>
        <p:spPr>
          <a:xfrm>
            <a:off x="10364463" y="1314825"/>
            <a:ext cx="384453" cy="741689"/>
          </a:xfrm>
          <a:prstGeom prst="rect">
            <a:avLst/>
          </a:prstGeom>
        </p:spPr>
      </p:pic>
      <p:pic>
        <p:nvPicPr>
          <p:cNvPr id="9" name="Image 3" descr="https://kimi-img.moonshot.cn/pub/slides/slides_tmpl/image/25-10-13-16:02:24-d3mb440s8jdo4os5f0c0.png"/>
          <p:cNvPicPr>
            <a:picLocks noChangeAspect="1"/>
          </p:cNvPicPr>
          <p:nvPr/>
        </p:nvPicPr>
        <p:blipFill>
          <a:blip r:embed="rId5"/>
          <a:stretch>
            <a:fillRect/>
          </a:stretch>
        </p:blipFill>
        <p:spPr>
          <a:xfrm>
            <a:off x="9485266" y="4801487"/>
            <a:ext cx="2527300" cy="30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6" y="26218"/>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web-img.moonshot.cn/img/img95.699pic.com/dfc03733d4165387ec84cf88fe8e596257128e1b"/>
          <p:cNvPicPr>
            <a:picLocks noChangeAspect="1"/>
          </p:cNvPicPr>
          <p:nvPr/>
        </p:nvPicPr>
        <p:blipFill>
          <a:blip r:embed="rId28"/>
          <a:srcRect l="18421" r="18421"/>
          <a:stretch>
            <a:fillRect/>
          </a:stretch>
        </p:blipFill>
        <p:spPr>
          <a:xfrm>
            <a:off x="6350000" y="198054"/>
            <a:ext cx="5842000" cy="6350000"/>
          </a:xfrm>
          <a:prstGeom prst="roundRect">
            <a:avLst>
              <a:gd name="adj" fmla="val 1739"/>
            </a:avLst>
          </a:prstGeom>
        </p:spPr>
      </p:pic>
      <p:sp>
        <p:nvSpPr>
          <p:cNvPr id="5" name="Text 2"/>
          <p:cNvSpPr/>
          <p:nvPr/>
        </p:nvSpPr>
        <p:spPr>
          <a:xfrm>
            <a:off x="685870" y="236706"/>
            <a:ext cx="5943600" cy="508000"/>
          </a:xfrm>
          <a:prstGeom prst="rect">
            <a:avLst/>
          </a:prstGeom>
          <a:noFill/>
        </p:spPr>
        <p:txBody>
          <a:bodyPr wrap="square" lIns="0" tIns="0" rIns="0" bIns="0" rtlCol="0" anchor="ctr"/>
          <a:lstStyle/>
          <a:p>
            <a:pPr marL="0" indent="0">
              <a:lnSpc>
                <a:spcPct val="90000"/>
              </a:lnSpc>
              <a:buNone/>
            </a:pPr>
            <a:r>
              <a:rPr lang="en-US" sz="3600" dirty="0" err="1">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TrainTrack</a:t>
            </a:r>
            <a:r>
              <a:rPr lang="zh-CN" alt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App</a:t>
            </a:r>
            <a:r>
              <a:rPr lang="zh-CN" alt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Overview</a:t>
            </a:r>
            <a:endParaRPr lang="en-US" sz="1600" dirty="0"/>
          </a:p>
        </p:txBody>
      </p:sp>
      <p:sp>
        <p:nvSpPr>
          <p:cNvPr id="6" name="Text 3"/>
          <p:cNvSpPr/>
          <p:nvPr/>
        </p:nvSpPr>
        <p:spPr>
          <a:xfrm>
            <a:off x="685870" y="746074"/>
            <a:ext cx="5943600" cy="355600"/>
          </a:xfrm>
          <a:prstGeom prst="rect">
            <a:avLst/>
          </a:prstGeom>
          <a:noFill/>
        </p:spPr>
        <p:txBody>
          <a:bodyPr wrap="square" lIns="0" tIns="0" rIns="0" bIns="0" rtlCol="0" anchor="ctr"/>
          <a:lstStyle/>
          <a:p>
            <a:pPr>
              <a:lnSpc>
                <a:spcPct val="130000"/>
              </a:lnSpc>
            </a:pPr>
            <a:r>
              <a:rPr lang="zh-CN" altLang="zh-CN" dirty="0">
                <a:solidFill>
                  <a:srgbClr val="3B4E6B"/>
                </a:solidFill>
                <a:latin typeface="MiSans" pitchFamily="34" charset="-122"/>
                <a:ea typeface="MiSans" pitchFamily="34" charset="-122"/>
              </a:rPr>
              <a:t>一款综合性健身</a:t>
            </a:r>
            <a:r>
              <a:rPr lang="en-US" altLang="zh-CN" dirty="0">
                <a:solidFill>
                  <a:srgbClr val="3B4E6B"/>
                </a:solidFill>
                <a:latin typeface="MiSans" pitchFamily="34" charset="-122"/>
                <a:ea typeface="MiSans" pitchFamily="34" charset="-122"/>
              </a:rPr>
              <a:t>App</a:t>
            </a:r>
            <a:endParaRPr lang="en-US" sz="1600" dirty="0"/>
          </a:p>
        </p:txBody>
      </p:sp>
      <p:sp>
        <p:nvSpPr>
          <p:cNvPr id="16" name="Shape 3"/>
          <p:cNvSpPr/>
          <p:nvPr>
            <p:custDataLst>
              <p:tags r:id="rId1"/>
            </p:custDataLst>
          </p:nvPr>
        </p:nvSpPr>
        <p:spPr>
          <a:xfrm>
            <a:off x="992033" y="1437604"/>
            <a:ext cx="48321" cy="4946363"/>
          </a:xfrm>
          <a:prstGeom prst="roundRect">
            <a:avLst>
              <a:gd name="adj" fmla="val 112619"/>
            </a:avLst>
          </a:prstGeom>
          <a:solidFill>
            <a:srgbClr val="49606E"/>
          </a:solidFill>
        </p:spPr>
      </p:sp>
      <p:sp>
        <p:nvSpPr>
          <p:cNvPr id="17" name="Shape 4"/>
          <p:cNvSpPr/>
          <p:nvPr>
            <p:custDataLst>
              <p:tags r:id="rId2"/>
            </p:custDataLst>
          </p:nvPr>
        </p:nvSpPr>
        <p:spPr>
          <a:xfrm>
            <a:off x="1183245" y="1373850"/>
            <a:ext cx="720476" cy="45719"/>
          </a:xfrm>
          <a:prstGeom prst="roundRect">
            <a:avLst>
              <a:gd name="adj" fmla="val 112619"/>
            </a:avLst>
          </a:prstGeom>
          <a:solidFill>
            <a:srgbClr val="49606E"/>
          </a:solidFill>
        </p:spPr>
      </p:sp>
      <p:sp>
        <p:nvSpPr>
          <p:cNvPr id="18" name="Shape 5"/>
          <p:cNvSpPr/>
          <p:nvPr>
            <p:custDataLst>
              <p:tags r:id="rId3"/>
            </p:custDataLst>
          </p:nvPr>
        </p:nvSpPr>
        <p:spPr>
          <a:xfrm>
            <a:off x="803360" y="1125780"/>
            <a:ext cx="463133" cy="543967"/>
          </a:xfrm>
          <a:prstGeom prst="roundRect">
            <a:avLst>
              <a:gd name="adj" fmla="val 6668"/>
            </a:avLst>
          </a:prstGeom>
          <a:solidFill>
            <a:srgbClr val="304755"/>
          </a:solidFill>
        </p:spPr>
      </p:sp>
      <p:sp>
        <p:nvSpPr>
          <p:cNvPr id="19" name="Text 6"/>
          <p:cNvSpPr/>
          <p:nvPr>
            <p:custDataLst>
              <p:tags r:id="rId4"/>
            </p:custDataLst>
          </p:nvPr>
        </p:nvSpPr>
        <p:spPr>
          <a:xfrm>
            <a:off x="955955" y="1264195"/>
            <a:ext cx="136955" cy="341342"/>
          </a:xfrm>
          <a:prstGeom prst="rect">
            <a:avLst/>
          </a:prstGeom>
          <a:noFill/>
        </p:spPr>
        <p:txBody>
          <a:bodyPr wrap="none" lIns="0" tIns="0" rIns="0" bIns="0" rtlCol="0" anchor="t"/>
          <a:lstStyle/>
          <a:p>
            <a:pPr marL="0" indent="0" algn="ctr">
              <a:lnSpc>
                <a:spcPts val="1900"/>
              </a:lnSpc>
              <a:buNone/>
            </a:pPr>
            <a:r>
              <a:rPr lang="en-US" sz="1900" dirty="0">
                <a:solidFill>
                  <a:srgbClr val="CAD6DE"/>
                </a:solidFill>
                <a:latin typeface="Unbounded" pitchFamily="34" charset="0"/>
                <a:ea typeface="Unbounded" pitchFamily="34" charset="-122"/>
                <a:cs typeface="Unbounded" pitchFamily="34" charset="-120"/>
              </a:rPr>
              <a:t>1</a:t>
            </a:r>
            <a:endParaRPr lang="en-US" sz="1900" dirty="0"/>
          </a:p>
        </p:txBody>
      </p:sp>
      <p:sp>
        <p:nvSpPr>
          <p:cNvPr id="20" name="Text 7"/>
          <p:cNvSpPr/>
          <p:nvPr>
            <p:custDataLst>
              <p:tags r:id="rId5"/>
            </p:custDataLst>
          </p:nvPr>
        </p:nvSpPr>
        <p:spPr>
          <a:xfrm>
            <a:off x="1954243" y="1288010"/>
            <a:ext cx="2421914" cy="355600"/>
          </a:xfrm>
          <a:prstGeom prst="rect">
            <a:avLst/>
          </a:prstGeom>
          <a:noFill/>
        </p:spPr>
        <p:txBody>
          <a:bodyPr wrap="none" lIns="0" tIns="0" rIns="0" bIns="0" rtlCol="0" anchor="t"/>
          <a:lstStyle/>
          <a:p>
            <a:pPr>
              <a:lnSpc>
                <a:spcPts val="1950"/>
              </a:lnSpc>
            </a:pPr>
            <a:r>
              <a:rPr lang="zh-CN" altLang="zh-CN" dirty="0"/>
              <a:t>整合训练记录</a:t>
            </a:r>
            <a:endParaRPr lang="en-US" sz="1400" dirty="0"/>
          </a:p>
        </p:txBody>
      </p:sp>
      <p:sp>
        <p:nvSpPr>
          <p:cNvPr id="21" name="Shape 9"/>
          <p:cNvSpPr/>
          <p:nvPr>
            <p:custDataLst>
              <p:tags r:id="rId6"/>
            </p:custDataLst>
          </p:nvPr>
        </p:nvSpPr>
        <p:spPr>
          <a:xfrm>
            <a:off x="1183245" y="2353217"/>
            <a:ext cx="720476" cy="45719"/>
          </a:xfrm>
          <a:prstGeom prst="roundRect">
            <a:avLst>
              <a:gd name="adj" fmla="val 112619"/>
            </a:avLst>
          </a:prstGeom>
          <a:solidFill>
            <a:srgbClr val="49606E"/>
          </a:solidFill>
        </p:spPr>
      </p:sp>
      <p:sp>
        <p:nvSpPr>
          <p:cNvPr id="22" name="Shape 10"/>
          <p:cNvSpPr/>
          <p:nvPr>
            <p:custDataLst>
              <p:tags r:id="rId7"/>
            </p:custDataLst>
          </p:nvPr>
        </p:nvSpPr>
        <p:spPr>
          <a:xfrm>
            <a:off x="803360" y="2105147"/>
            <a:ext cx="463133" cy="543967"/>
          </a:xfrm>
          <a:prstGeom prst="roundRect">
            <a:avLst>
              <a:gd name="adj" fmla="val 6668"/>
            </a:avLst>
          </a:prstGeom>
          <a:solidFill>
            <a:srgbClr val="304755"/>
          </a:solidFill>
        </p:spPr>
      </p:sp>
      <p:sp>
        <p:nvSpPr>
          <p:cNvPr id="23" name="Text 11"/>
          <p:cNvSpPr/>
          <p:nvPr>
            <p:custDataLst>
              <p:tags r:id="rId8"/>
            </p:custDataLst>
          </p:nvPr>
        </p:nvSpPr>
        <p:spPr>
          <a:xfrm>
            <a:off x="917498" y="2243562"/>
            <a:ext cx="229210" cy="341342"/>
          </a:xfrm>
          <a:prstGeom prst="rect">
            <a:avLst/>
          </a:prstGeom>
          <a:noFill/>
        </p:spPr>
        <p:txBody>
          <a:bodyPr wrap="none" lIns="0" tIns="0" rIns="0" bIns="0" rtlCol="0" anchor="t"/>
          <a:lstStyle/>
          <a:p>
            <a:pPr marL="0" indent="0" algn="ctr">
              <a:lnSpc>
                <a:spcPts val="1900"/>
              </a:lnSpc>
              <a:buNone/>
            </a:pPr>
            <a:r>
              <a:rPr lang="en-US" sz="1900" dirty="0">
                <a:solidFill>
                  <a:srgbClr val="CAD6DE"/>
                </a:solidFill>
                <a:latin typeface="Unbounded" pitchFamily="34" charset="0"/>
                <a:ea typeface="Unbounded" pitchFamily="34" charset="-122"/>
                <a:cs typeface="Unbounded" pitchFamily="34" charset="-120"/>
              </a:rPr>
              <a:t>2</a:t>
            </a:r>
            <a:endParaRPr lang="en-US" sz="1900" dirty="0"/>
          </a:p>
        </p:txBody>
      </p:sp>
      <p:sp>
        <p:nvSpPr>
          <p:cNvPr id="24" name="Text 12"/>
          <p:cNvSpPr/>
          <p:nvPr>
            <p:custDataLst>
              <p:tags r:id="rId9"/>
            </p:custDataLst>
          </p:nvPr>
        </p:nvSpPr>
        <p:spPr>
          <a:xfrm>
            <a:off x="1954242" y="2267377"/>
            <a:ext cx="2534733" cy="355600"/>
          </a:xfrm>
          <a:prstGeom prst="rect">
            <a:avLst/>
          </a:prstGeom>
          <a:noFill/>
        </p:spPr>
        <p:txBody>
          <a:bodyPr wrap="none" lIns="0" tIns="0" rIns="0" bIns="0" rtlCol="0" anchor="t"/>
          <a:lstStyle/>
          <a:p>
            <a:pPr>
              <a:lnSpc>
                <a:spcPts val="1950"/>
              </a:lnSpc>
            </a:pPr>
            <a:r>
              <a:rPr lang="zh-CN" altLang="zh-CN" dirty="0"/>
              <a:t>个性化计划</a:t>
            </a:r>
            <a:endParaRPr lang="en-US" sz="1600" dirty="0"/>
          </a:p>
        </p:txBody>
      </p:sp>
      <p:sp>
        <p:nvSpPr>
          <p:cNvPr id="25" name="Shape 14"/>
          <p:cNvSpPr/>
          <p:nvPr>
            <p:custDataLst>
              <p:tags r:id="rId10"/>
            </p:custDataLst>
          </p:nvPr>
        </p:nvSpPr>
        <p:spPr>
          <a:xfrm>
            <a:off x="1183245" y="3380447"/>
            <a:ext cx="720476" cy="45719"/>
          </a:xfrm>
          <a:prstGeom prst="roundRect">
            <a:avLst>
              <a:gd name="adj" fmla="val 112619"/>
            </a:avLst>
          </a:prstGeom>
          <a:solidFill>
            <a:srgbClr val="49606E"/>
          </a:solidFill>
        </p:spPr>
      </p:sp>
      <p:sp>
        <p:nvSpPr>
          <p:cNvPr id="26" name="Shape 15"/>
          <p:cNvSpPr/>
          <p:nvPr>
            <p:custDataLst>
              <p:tags r:id="rId11"/>
            </p:custDataLst>
          </p:nvPr>
        </p:nvSpPr>
        <p:spPr>
          <a:xfrm>
            <a:off x="803360" y="3132377"/>
            <a:ext cx="463133" cy="543967"/>
          </a:xfrm>
          <a:prstGeom prst="roundRect">
            <a:avLst>
              <a:gd name="adj" fmla="val 6668"/>
            </a:avLst>
          </a:prstGeom>
          <a:solidFill>
            <a:srgbClr val="304755"/>
          </a:solidFill>
        </p:spPr>
      </p:sp>
      <p:sp>
        <p:nvSpPr>
          <p:cNvPr id="27" name="Text 16"/>
          <p:cNvSpPr/>
          <p:nvPr>
            <p:custDataLst>
              <p:tags r:id="rId12"/>
            </p:custDataLst>
          </p:nvPr>
        </p:nvSpPr>
        <p:spPr>
          <a:xfrm>
            <a:off x="915592" y="3270792"/>
            <a:ext cx="233637" cy="341342"/>
          </a:xfrm>
          <a:prstGeom prst="rect">
            <a:avLst/>
          </a:prstGeom>
          <a:noFill/>
        </p:spPr>
        <p:txBody>
          <a:bodyPr wrap="none" lIns="0" tIns="0" rIns="0" bIns="0" rtlCol="0" anchor="t"/>
          <a:lstStyle/>
          <a:p>
            <a:pPr marL="0" indent="0" algn="ctr">
              <a:lnSpc>
                <a:spcPts val="1900"/>
              </a:lnSpc>
              <a:buNone/>
            </a:pPr>
            <a:r>
              <a:rPr lang="en-US" sz="1900" dirty="0">
                <a:solidFill>
                  <a:srgbClr val="CAD6DE"/>
                </a:solidFill>
                <a:latin typeface="Unbounded" pitchFamily="34" charset="0"/>
                <a:ea typeface="Unbounded" pitchFamily="34" charset="-122"/>
                <a:cs typeface="Unbounded" pitchFamily="34" charset="-120"/>
              </a:rPr>
              <a:t>3</a:t>
            </a:r>
            <a:endParaRPr lang="en-US" sz="1900" dirty="0"/>
          </a:p>
        </p:txBody>
      </p:sp>
      <p:sp>
        <p:nvSpPr>
          <p:cNvPr id="28" name="Text 17"/>
          <p:cNvSpPr/>
          <p:nvPr>
            <p:custDataLst>
              <p:tags r:id="rId13"/>
            </p:custDataLst>
          </p:nvPr>
        </p:nvSpPr>
        <p:spPr>
          <a:xfrm>
            <a:off x="1968022" y="3277101"/>
            <a:ext cx="2421914" cy="355600"/>
          </a:xfrm>
          <a:prstGeom prst="rect">
            <a:avLst/>
          </a:prstGeom>
          <a:noFill/>
        </p:spPr>
        <p:txBody>
          <a:bodyPr wrap="none" lIns="0" tIns="0" rIns="0" bIns="0" rtlCol="0" anchor="t"/>
          <a:lstStyle/>
          <a:p>
            <a:pPr>
              <a:lnSpc>
                <a:spcPts val="1950"/>
              </a:lnSpc>
            </a:pPr>
            <a:r>
              <a:rPr lang="zh-CN" altLang="zh-CN" dirty="0"/>
              <a:t>动作指导</a:t>
            </a:r>
            <a:endParaRPr lang="en-US" dirty="0"/>
          </a:p>
        </p:txBody>
      </p:sp>
      <p:sp>
        <p:nvSpPr>
          <p:cNvPr id="41" name="Shape 4"/>
          <p:cNvSpPr/>
          <p:nvPr>
            <p:custDataLst>
              <p:tags r:id="rId14"/>
            </p:custDataLst>
          </p:nvPr>
        </p:nvSpPr>
        <p:spPr>
          <a:xfrm>
            <a:off x="1183245" y="4317508"/>
            <a:ext cx="720476" cy="45719"/>
          </a:xfrm>
          <a:prstGeom prst="roundRect">
            <a:avLst>
              <a:gd name="adj" fmla="val 112619"/>
            </a:avLst>
          </a:prstGeom>
          <a:solidFill>
            <a:srgbClr val="49606E"/>
          </a:solidFill>
        </p:spPr>
      </p:sp>
      <p:sp>
        <p:nvSpPr>
          <p:cNvPr id="42" name="Shape 5"/>
          <p:cNvSpPr/>
          <p:nvPr>
            <p:custDataLst>
              <p:tags r:id="rId15"/>
            </p:custDataLst>
          </p:nvPr>
        </p:nvSpPr>
        <p:spPr>
          <a:xfrm>
            <a:off x="803360" y="4069438"/>
            <a:ext cx="463133" cy="543967"/>
          </a:xfrm>
          <a:prstGeom prst="roundRect">
            <a:avLst>
              <a:gd name="adj" fmla="val 6668"/>
            </a:avLst>
          </a:prstGeom>
          <a:solidFill>
            <a:srgbClr val="304755"/>
          </a:solidFill>
        </p:spPr>
      </p:sp>
      <p:sp>
        <p:nvSpPr>
          <p:cNvPr id="43" name="Text 6"/>
          <p:cNvSpPr/>
          <p:nvPr>
            <p:custDataLst>
              <p:tags r:id="rId16"/>
            </p:custDataLst>
          </p:nvPr>
        </p:nvSpPr>
        <p:spPr>
          <a:xfrm>
            <a:off x="955955" y="4207853"/>
            <a:ext cx="136955" cy="341342"/>
          </a:xfrm>
          <a:prstGeom prst="rect">
            <a:avLst/>
          </a:prstGeom>
          <a:noFill/>
        </p:spPr>
        <p:txBody>
          <a:bodyPr wrap="none" lIns="0" tIns="0" rIns="0" bIns="0" rtlCol="0" anchor="t"/>
          <a:lstStyle/>
          <a:p>
            <a:pPr marL="0" indent="0" algn="ctr">
              <a:lnSpc>
                <a:spcPts val="1900"/>
              </a:lnSpc>
              <a:buNone/>
            </a:pPr>
            <a:r>
              <a:rPr lang="en-US" altLang="zh-CN" sz="1900" dirty="0">
                <a:solidFill>
                  <a:srgbClr val="CAD6DE"/>
                </a:solidFill>
                <a:latin typeface="Unbounded" pitchFamily="34" charset="0"/>
              </a:rPr>
              <a:t>4</a:t>
            </a:r>
            <a:endParaRPr lang="en-US" sz="1900" dirty="0"/>
          </a:p>
        </p:txBody>
      </p:sp>
      <p:sp>
        <p:nvSpPr>
          <p:cNvPr id="44" name="Text 7"/>
          <p:cNvSpPr/>
          <p:nvPr>
            <p:custDataLst>
              <p:tags r:id="rId17"/>
            </p:custDataLst>
          </p:nvPr>
        </p:nvSpPr>
        <p:spPr>
          <a:xfrm>
            <a:off x="1970868" y="4231668"/>
            <a:ext cx="2421914" cy="355600"/>
          </a:xfrm>
          <a:prstGeom prst="rect">
            <a:avLst/>
          </a:prstGeom>
          <a:noFill/>
        </p:spPr>
        <p:txBody>
          <a:bodyPr wrap="none" lIns="0" tIns="0" rIns="0" bIns="0" rtlCol="0" anchor="t"/>
          <a:lstStyle/>
          <a:p>
            <a:pPr>
              <a:lnSpc>
                <a:spcPts val="1950"/>
              </a:lnSpc>
            </a:pPr>
            <a:r>
              <a:rPr lang="zh-CN" altLang="zh-CN" dirty="0"/>
              <a:t>社交分享</a:t>
            </a:r>
            <a:endParaRPr lang="en-US" sz="1600" dirty="0"/>
          </a:p>
        </p:txBody>
      </p:sp>
      <p:sp>
        <p:nvSpPr>
          <p:cNvPr id="45" name="Shape 9"/>
          <p:cNvSpPr/>
          <p:nvPr>
            <p:custDataLst>
              <p:tags r:id="rId18"/>
            </p:custDataLst>
          </p:nvPr>
        </p:nvSpPr>
        <p:spPr>
          <a:xfrm>
            <a:off x="1183245" y="5296875"/>
            <a:ext cx="720476" cy="45719"/>
          </a:xfrm>
          <a:prstGeom prst="roundRect">
            <a:avLst>
              <a:gd name="adj" fmla="val 112619"/>
            </a:avLst>
          </a:prstGeom>
          <a:solidFill>
            <a:srgbClr val="49606E"/>
          </a:solidFill>
        </p:spPr>
      </p:sp>
      <p:sp>
        <p:nvSpPr>
          <p:cNvPr id="46" name="Shape 10"/>
          <p:cNvSpPr/>
          <p:nvPr>
            <p:custDataLst>
              <p:tags r:id="rId19"/>
            </p:custDataLst>
          </p:nvPr>
        </p:nvSpPr>
        <p:spPr>
          <a:xfrm>
            <a:off x="803360" y="5048805"/>
            <a:ext cx="463133" cy="543967"/>
          </a:xfrm>
          <a:prstGeom prst="roundRect">
            <a:avLst>
              <a:gd name="adj" fmla="val 6668"/>
            </a:avLst>
          </a:prstGeom>
          <a:solidFill>
            <a:srgbClr val="304755"/>
          </a:solidFill>
        </p:spPr>
      </p:sp>
      <p:sp>
        <p:nvSpPr>
          <p:cNvPr id="47" name="Text 11"/>
          <p:cNvSpPr/>
          <p:nvPr>
            <p:custDataLst>
              <p:tags r:id="rId20"/>
            </p:custDataLst>
          </p:nvPr>
        </p:nvSpPr>
        <p:spPr>
          <a:xfrm>
            <a:off x="917498" y="5187220"/>
            <a:ext cx="229210" cy="341342"/>
          </a:xfrm>
          <a:prstGeom prst="rect">
            <a:avLst/>
          </a:prstGeom>
          <a:noFill/>
        </p:spPr>
        <p:txBody>
          <a:bodyPr wrap="none" lIns="0" tIns="0" rIns="0" bIns="0" rtlCol="0" anchor="t"/>
          <a:lstStyle/>
          <a:p>
            <a:pPr marL="0" indent="0" algn="ctr">
              <a:lnSpc>
                <a:spcPts val="1900"/>
              </a:lnSpc>
              <a:buNone/>
            </a:pPr>
            <a:r>
              <a:rPr lang="en-US" altLang="zh-CN" sz="1900" dirty="0">
                <a:solidFill>
                  <a:srgbClr val="CAD6DE"/>
                </a:solidFill>
                <a:latin typeface="Unbounded" pitchFamily="34" charset="0"/>
              </a:rPr>
              <a:t>5</a:t>
            </a:r>
            <a:endParaRPr lang="en-US" sz="1900" dirty="0"/>
          </a:p>
        </p:txBody>
      </p:sp>
      <p:sp>
        <p:nvSpPr>
          <p:cNvPr id="48" name="Text 12"/>
          <p:cNvSpPr/>
          <p:nvPr>
            <p:custDataLst>
              <p:tags r:id="rId21"/>
            </p:custDataLst>
          </p:nvPr>
        </p:nvSpPr>
        <p:spPr>
          <a:xfrm>
            <a:off x="1970867" y="5211035"/>
            <a:ext cx="2534733" cy="355600"/>
          </a:xfrm>
          <a:prstGeom prst="rect">
            <a:avLst/>
          </a:prstGeom>
          <a:noFill/>
        </p:spPr>
        <p:txBody>
          <a:bodyPr wrap="none" lIns="0" tIns="0" rIns="0" bIns="0" rtlCol="0" anchor="t"/>
          <a:lstStyle/>
          <a:p>
            <a:pPr>
              <a:lnSpc>
                <a:spcPts val="1950"/>
              </a:lnSpc>
            </a:pPr>
            <a:r>
              <a:rPr lang="zh-CN" altLang="zh-CN" dirty="0"/>
              <a:t>营养建议</a:t>
            </a:r>
            <a:endParaRPr lang="en-US" dirty="0"/>
          </a:p>
        </p:txBody>
      </p:sp>
      <p:sp>
        <p:nvSpPr>
          <p:cNvPr id="49" name="Shape 14"/>
          <p:cNvSpPr/>
          <p:nvPr>
            <p:custDataLst>
              <p:tags r:id="rId22"/>
            </p:custDataLst>
          </p:nvPr>
        </p:nvSpPr>
        <p:spPr>
          <a:xfrm>
            <a:off x="1183245" y="6324105"/>
            <a:ext cx="720476" cy="45719"/>
          </a:xfrm>
          <a:prstGeom prst="roundRect">
            <a:avLst>
              <a:gd name="adj" fmla="val 112619"/>
            </a:avLst>
          </a:prstGeom>
          <a:solidFill>
            <a:srgbClr val="49606E"/>
          </a:solidFill>
        </p:spPr>
      </p:sp>
      <p:sp>
        <p:nvSpPr>
          <p:cNvPr id="50" name="Shape 15"/>
          <p:cNvSpPr/>
          <p:nvPr>
            <p:custDataLst>
              <p:tags r:id="rId23"/>
            </p:custDataLst>
          </p:nvPr>
        </p:nvSpPr>
        <p:spPr>
          <a:xfrm>
            <a:off x="803360" y="6076035"/>
            <a:ext cx="463133" cy="543967"/>
          </a:xfrm>
          <a:prstGeom prst="roundRect">
            <a:avLst>
              <a:gd name="adj" fmla="val 6668"/>
            </a:avLst>
          </a:prstGeom>
          <a:solidFill>
            <a:srgbClr val="304755"/>
          </a:solidFill>
        </p:spPr>
      </p:sp>
      <p:sp>
        <p:nvSpPr>
          <p:cNvPr id="51" name="Text 16"/>
          <p:cNvSpPr/>
          <p:nvPr>
            <p:custDataLst>
              <p:tags r:id="rId24"/>
            </p:custDataLst>
          </p:nvPr>
        </p:nvSpPr>
        <p:spPr>
          <a:xfrm>
            <a:off x="915592" y="6214450"/>
            <a:ext cx="233637" cy="341342"/>
          </a:xfrm>
          <a:prstGeom prst="rect">
            <a:avLst/>
          </a:prstGeom>
          <a:noFill/>
        </p:spPr>
        <p:txBody>
          <a:bodyPr wrap="none" lIns="0" tIns="0" rIns="0" bIns="0" rtlCol="0" anchor="t"/>
          <a:lstStyle/>
          <a:p>
            <a:pPr marL="0" indent="0" algn="ctr">
              <a:lnSpc>
                <a:spcPts val="1900"/>
              </a:lnSpc>
              <a:buNone/>
            </a:pPr>
            <a:r>
              <a:rPr lang="en-US" altLang="zh-CN" sz="1900" dirty="0">
                <a:solidFill>
                  <a:srgbClr val="CAD6DE"/>
                </a:solidFill>
                <a:latin typeface="Unbounded" pitchFamily="34" charset="0"/>
              </a:rPr>
              <a:t>6</a:t>
            </a:r>
            <a:endParaRPr lang="en-US" sz="1900" dirty="0"/>
          </a:p>
        </p:txBody>
      </p:sp>
      <p:sp>
        <p:nvSpPr>
          <p:cNvPr id="52" name="Text 17"/>
          <p:cNvSpPr/>
          <p:nvPr>
            <p:custDataLst>
              <p:tags r:id="rId25"/>
            </p:custDataLst>
          </p:nvPr>
        </p:nvSpPr>
        <p:spPr>
          <a:xfrm>
            <a:off x="1984647" y="6190402"/>
            <a:ext cx="2421914" cy="355600"/>
          </a:xfrm>
          <a:prstGeom prst="rect">
            <a:avLst/>
          </a:prstGeom>
          <a:noFill/>
        </p:spPr>
        <p:txBody>
          <a:bodyPr wrap="none" lIns="0" tIns="0" rIns="0" bIns="0" rtlCol="0" anchor="t"/>
          <a:lstStyle/>
          <a:p>
            <a:pPr>
              <a:lnSpc>
                <a:spcPts val="1950"/>
              </a:lnSpc>
            </a:pPr>
            <a:r>
              <a:rPr lang="zh-CN" altLang="zh-CN" dirty="0"/>
              <a:t>社区互动</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230091" cy="6871516"/>
          </a:xfrm>
          <a:prstGeom prst="rect">
            <a:avLst/>
          </a:prstGeom>
          <a:solidFill>
            <a:srgbClr val="93280F"/>
          </a:solidFill>
        </p:spPr>
      </p:sp>
      <p:sp>
        <p:nvSpPr>
          <p:cNvPr id="3" name="Text 1"/>
          <p:cNvSpPr/>
          <p:nvPr/>
        </p:nvSpPr>
        <p:spPr>
          <a:xfrm>
            <a:off x="0" y="1"/>
            <a:ext cx="12230091" cy="6871516"/>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img.moonshot.cn/pub/slides/slides_tmpl/image/25-10-13-16:02:24-d3mb440s8jdo4os5f0d0.png"/>
          <p:cNvPicPr>
            <a:picLocks noChangeAspect="1"/>
          </p:cNvPicPr>
          <p:nvPr/>
        </p:nvPicPr>
        <p:blipFill>
          <a:blip r:embed="rId3"/>
          <a:stretch>
            <a:fillRect/>
          </a:stretch>
        </p:blipFill>
        <p:spPr>
          <a:xfrm>
            <a:off x="3175" y="-13335"/>
            <a:ext cx="12226925" cy="6871335"/>
          </a:xfrm>
          <a:prstGeom prst="rect">
            <a:avLst/>
          </a:prstGeom>
        </p:spPr>
      </p:pic>
      <p:sp>
        <p:nvSpPr>
          <p:cNvPr id="5" name="Text 2"/>
          <p:cNvSpPr/>
          <p:nvPr/>
        </p:nvSpPr>
        <p:spPr>
          <a:xfrm>
            <a:off x="4036613" y="3064798"/>
            <a:ext cx="8723425" cy="728405"/>
          </a:xfrm>
          <a:prstGeom prst="rect">
            <a:avLst/>
          </a:prstGeom>
          <a:noFill/>
        </p:spPr>
        <p:txBody>
          <a:bodyPr wrap="square" lIns="25400" tIns="25400" rIns="25400" bIns="25400" rtlCol="0" anchor="ctr">
            <a:spAutoFit/>
          </a:bodyPr>
          <a:lstStyle/>
          <a:p>
            <a:pPr marL="0" indent="0" algn="l">
              <a:lnSpc>
                <a:spcPct val="100000"/>
              </a:lnSpc>
              <a:buNone/>
            </a:pPr>
            <a:r>
              <a:rPr lang="en-US" sz="4400" b="1" dirty="0" err="1">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独特产品定义</a:t>
            </a:r>
            <a:endParaRPr lang="en-US" sz="1600" b="1" dirty="0"/>
          </a:p>
        </p:txBody>
      </p:sp>
      <p:sp>
        <p:nvSpPr>
          <p:cNvPr id="6" name="Text 3"/>
          <p:cNvSpPr/>
          <p:nvPr/>
        </p:nvSpPr>
        <p:spPr>
          <a:xfrm>
            <a:off x="537341" y="2242433"/>
            <a:ext cx="2571347" cy="2359620"/>
          </a:xfrm>
          <a:prstGeom prst="rect">
            <a:avLst/>
          </a:prstGeom>
          <a:noFill/>
        </p:spPr>
        <p:txBody>
          <a:bodyPr wrap="square" lIns="25400" tIns="25400" rIns="25400" bIns="25400" rtlCol="0" anchor="ctr">
            <a:spAutoFit/>
          </a:bodyPr>
          <a:lstStyle/>
          <a:p>
            <a:pPr marL="0" indent="0" algn="l">
              <a:lnSpc>
                <a:spcPct val="100000"/>
              </a:lnSpc>
              <a:buNone/>
            </a:pPr>
            <a:r>
              <a:rPr lang="en-US"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0</a:t>
            </a:r>
            <a:r>
              <a:rPr lang="en-US" altLang="zh-CN"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2</a:t>
            </a:r>
            <a:endParaRPr lang="en-US" sz="1600" dirty="0"/>
          </a:p>
        </p:txBody>
      </p:sp>
      <p:pic>
        <p:nvPicPr>
          <p:cNvPr id="7" name="Image 1" descr="https://kimi-img.moonshot.cn/pub/slides/slides_tmpl/image/25-10-13-16:02:24-d3mb440s8jdo4os5f0bg.png"/>
          <p:cNvPicPr>
            <a:picLocks noChangeAspect="1"/>
          </p:cNvPicPr>
          <p:nvPr/>
        </p:nvPicPr>
        <p:blipFill>
          <a:blip r:embed="rId4"/>
          <a:stretch>
            <a:fillRect/>
          </a:stretch>
        </p:blipFill>
        <p:spPr>
          <a:xfrm>
            <a:off x="10918055" y="843185"/>
            <a:ext cx="628927" cy="1213328"/>
          </a:xfrm>
          <a:prstGeom prst="rect">
            <a:avLst/>
          </a:prstGeom>
        </p:spPr>
      </p:pic>
      <p:pic>
        <p:nvPicPr>
          <p:cNvPr id="8" name="Image 2" descr="https://kimi-img.moonshot.cn/pub/slides/slides_tmpl/image/25-10-13-16:02:24-d3mb440s8jdo4os5f0bg.png"/>
          <p:cNvPicPr>
            <a:picLocks noChangeAspect="1"/>
          </p:cNvPicPr>
          <p:nvPr/>
        </p:nvPicPr>
        <p:blipFill>
          <a:blip r:embed="rId4"/>
          <a:stretch>
            <a:fillRect/>
          </a:stretch>
        </p:blipFill>
        <p:spPr>
          <a:xfrm>
            <a:off x="10364463" y="1314825"/>
            <a:ext cx="384453" cy="741689"/>
          </a:xfrm>
          <a:prstGeom prst="rect">
            <a:avLst/>
          </a:prstGeom>
        </p:spPr>
      </p:pic>
      <p:pic>
        <p:nvPicPr>
          <p:cNvPr id="9" name="Image 3" descr="https://kimi-img.moonshot.cn/pub/slides/slides_tmpl/image/25-10-13-16:02:24-d3mb440s8jdo4os5f0c0.png"/>
          <p:cNvPicPr>
            <a:picLocks noChangeAspect="1"/>
          </p:cNvPicPr>
          <p:nvPr/>
        </p:nvPicPr>
        <p:blipFill>
          <a:blip r:embed="rId5"/>
          <a:stretch>
            <a:fillRect/>
          </a:stretch>
        </p:blipFill>
        <p:spPr>
          <a:xfrm>
            <a:off x="9485266" y="4801487"/>
            <a:ext cx="25273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5" y="0"/>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254000" y="1371600"/>
            <a:ext cx="12192000" cy="508000"/>
          </a:xfrm>
          <a:prstGeom prst="rect">
            <a:avLst/>
          </a:prstGeom>
          <a:noFill/>
        </p:spPr>
        <p:txBody>
          <a:bodyPr wrap="square" lIns="0" tIns="0" rIns="0" bIns="0" rtlCol="0" anchor="ctr"/>
          <a:lstStyle/>
          <a:p>
            <a:pPr marL="0" indent="0">
              <a:lnSpc>
                <a:spcPct val="90000"/>
              </a:lnSpc>
              <a:buNone/>
            </a:pPr>
            <a:r>
              <a:rPr 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从工具到生态：TrainTrack 一体化定位</a:t>
            </a:r>
            <a:endParaRPr lang="en-US" sz="1600" dirty="0"/>
          </a:p>
        </p:txBody>
      </p:sp>
      <p:sp>
        <p:nvSpPr>
          <p:cNvPr id="5" name="Text 3"/>
          <p:cNvSpPr/>
          <p:nvPr/>
        </p:nvSpPr>
        <p:spPr>
          <a:xfrm>
            <a:off x="254000" y="2032000"/>
            <a:ext cx="11684000" cy="355600"/>
          </a:xfrm>
          <a:prstGeom prst="rect">
            <a:avLst/>
          </a:prstGeom>
          <a:noFill/>
        </p:spPr>
        <p:txBody>
          <a:bodyPr wrap="square" lIns="0" tIns="0" rIns="0" bIns="0" rtlCol="0" anchor="ctr"/>
          <a:lstStyle/>
          <a:p>
            <a:pPr marL="0" indent="0">
              <a:lnSpc>
                <a:spcPct val="130000"/>
              </a:lnSpc>
              <a:buNone/>
            </a:pPr>
            <a:r>
              <a:rPr lang="en-US" sz="1800" dirty="0">
                <a:solidFill>
                  <a:srgbClr val="3B4E6B"/>
                </a:solidFill>
                <a:latin typeface="MiSans" pitchFamily="34" charset="-122"/>
                <a:ea typeface="MiSans" pitchFamily="34" charset="-122"/>
                <a:cs typeface="MiSans" pitchFamily="34" charset="-120"/>
              </a:rPr>
              <a:t>不止于记录，更是融合</a:t>
            </a:r>
            <a:r>
              <a:rPr lang="en-US" sz="1800" dirty="0">
                <a:solidFill>
                  <a:srgbClr val="3B4E6B"/>
                </a:solidFill>
                <a:highlight>
                  <a:srgbClr val="D1BBA2">
                    <a:alpha val="100000"/>
                  </a:srgbClr>
                </a:highlight>
                <a:latin typeface="MiSans" pitchFamily="34" charset="-122"/>
                <a:ea typeface="MiSans" pitchFamily="34" charset="-122"/>
                <a:cs typeface="MiSans" pitchFamily="34" charset="-120"/>
              </a:rPr>
              <a:t> 训练、营养、社交 </a:t>
            </a:r>
            <a:r>
              <a:rPr lang="en-US" sz="1800" dirty="0">
                <a:solidFill>
                  <a:srgbClr val="3B4E6B"/>
                </a:solidFill>
                <a:latin typeface="MiSans" pitchFamily="34" charset="-122"/>
                <a:ea typeface="MiSans" pitchFamily="34" charset="-122"/>
                <a:cs typeface="MiSans" pitchFamily="34" charset="-120"/>
              </a:rPr>
              <a:t>三大高频场景的超级入口</a:t>
            </a:r>
            <a:endParaRPr lang="en-US" sz="1600" dirty="0"/>
          </a:p>
        </p:txBody>
      </p:sp>
      <p:sp>
        <p:nvSpPr>
          <p:cNvPr id="6" name="Shape 4"/>
          <p:cNvSpPr/>
          <p:nvPr/>
        </p:nvSpPr>
        <p:spPr>
          <a:xfrm>
            <a:off x="254000" y="2794000"/>
            <a:ext cx="3238500" cy="1981200"/>
          </a:xfrm>
          <a:custGeom>
            <a:avLst/>
            <a:gdLst/>
            <a:ahLst/>
            <a:cxnLst/>
            <a:rect l="l" t="t" r="r" b="b"/>
            <a:pathLst>
              <a:path w="3238500" h="1981200">
                <a:moveTo>
                  <a:pt x="101596" y="0"/>
                </a:moveTo>
                <a:lnTo>
                  <a:pt x="3136904" y="0"/>
                </a:lnTo>
                <a:cubicBezTo>
                  <a:pt x="3193014" y="0"/>
                  <a:pt x="3238500" y="45486"/>
                  <a:pt x="3238500" y="101596"/>
                </a:cubicBezTo>
                <a:lnTo>
                  <a:pt x="3238500" y="1879604"/>
                </a:lnTo>
                <a:cubicBezTo>
                  <a:pt x="3238500" y="1935714"/>
                  <a:pt x="3193014" y="1981200"/>
                  <a:pt x="3136904" y="1981200"/>
                </a:cubicBezTo>
                <a:lnTo>
                  <a:pt x="101596" y="1981200"/>
                </a:lnTo>
                <a:cubicBezTo>
                  <a:pt x="45486" y="1981200"/>
                  <a:pt x="0" y="1935714"/>
                  <a:pt x="0" y="1879604"/>
                </a:cubicBezTo>
                <a:lnTo>
                  <a:pt x="0" y="101596"/>
                </a:lnTo>
                <a:cubicBezTo>
                  <a:pt x="0" y="45486"/>
                  <a:pt x="45486" y="0"/>
                  <a:pt x="101596" y="0"/>
                </a:cubicBezTo>
                <a:close/>
              </a:path>
            </a:pathLst>
          </a:custGeom>
          <a:solidFill>
            <a:srgbClr val="D1BBA2">
              <a:alpha val="30196"/>
            </a:srgbClr>
          </a:solidFill>
        </p:spPr>
      </p:sp>
      <p:sp>
        <p:nvSpPr>
          <p:cNvPr id="7" name="Shape 5"/>
          <p:cNvSpPr/>
          <p:nvPr/>
        </p:nvSpPr>
        <p:spPr>
          <a:xfrm>
            <a:off x="1589584" y="3028950"/>
            <a:ext cx="571500" cy="457200"/>
          </a:xfrm>
          <a:custGeom>
            <a:avLst/>
            <a:gdLst/>
            <a:ahLst/>
            <a:cxnLst/>
            <a:rect l="l" t="t" r="r" b="b"/>
            <a:pathLst>
              <a:path w="571500" h="457200">
                <a:moveTo>
                  <a:pt x="85725" y="100013"/>
                </a:moveTo>
                <a:cubicBezTo>
                  <a:pt x="85725" y="76349"/>
                  <a:pt x="104924" y="57150"/>
                  <a:pt x="128588" y="57150"/>
                </a:cubicBezTo>
                <a:cubicBezTo>
                  <a:pt x="152251" y="57150"/>
                  <a:pt x="171450" y="76349"/>
                  <a:pt x="171450" y="100013"/>
                </a:cubicBezTo>
                <a:lnTo>
                  <a:pt x="171450" y="200025"/>
                </a:lnTo>
                <a:lnTo>
                  <a:pt x="400050" y="200025"/>
                </a:lnTo>
                <a:lnTo>
                  <a:pt x="400050" y="100013"/>
                </a:lnTo>
                <a:cubicBezTo>
                  <a:pt x="400050" y="76349"/>
                  <a:pt x="419249" y="57150"/>
                  <a:pt x="442913" y="57150"/>
                </a:cubicBezTo>
                <a:cubicBezTo>
                  <a:pt x="466576" y="57150"/>
                  <a:pt x="485775" y="76349"/>
                  <a:pt x="485775" y="100013"/>
                </a:cubicBezTo>
                <a:lnTo>
                  <a:pt x="485775" y="114300"/>
                </a:lnTo>
                <a:lnTo>
                  <a:pt x="500063" y="114300"/>
                </a:lnTo>
                <a:cubicBezTo>
                  <a:pt x="523726" y="114300"/>
                  <a:pt x="542925" y="133499"/>
                  <a:pt x="542925" y="157163"/>
                </a:cubicBezTo>
                <a:lnTo>
                  <a:pt x="542925" y="200025"/>
                </a:lnTo>
                <a:cubicBezTo>
                  <a:pt x="558731" y="200025"/>
                  <a:pt x="571500" y="212794"/>
                  <a:pt x="571500" y="228600"/>
                </a:cubicBezTo>
                <a:cubicBezTo>
                  <a:pt x="571500" y="244406"/>
                  <a:pt x="558731" y="257175"/>
                  <a:pt x="542925" y="257175"/>
                </a:cubicBezTo>
                <a:lnTo>
                  <a:pt x="542925" y="300038"/>
                </a:lnTo>
                <a:cubicBezTo>
                  <a:pt x="542925" y="323701"/>
                  <a:pt x="523726" y="342900"/>
                  <a:pt x="500063" y="342900"/>
                </a:cubicBezTo>
                <a:lnTo>
                  <a:pt x="485775" y="342900"/>
                </a:lnTo>
                <a:lnTo>
                  <a:pt x="485775" y="357188"/>
                </a:lnTo>
                <a:cubicBezTo>
                  <a:pt x="485775" y="380851"/>
                  <a:pt x="466576" y="400050"/>
                  <a:pt x="442913" y="400050"/>
                </a:cubicBezTo>
                <a:cubicBezTo>
                  <a:pt x="419249" y="400050"/>
                  <a:pt x="400050" y="380851"/>
                  <a:pt x="400050" y="357188"/>
                </a:cubicBezTo>
                <a:lnTo>
                  <a:pt x="400050" y="257175"/>
                </a:lnTo>
                <a:lnTo>
                  <a:pt x="171450" y="257175"/>
                </a:lnTo>
                <a:lnTo>
                  <a:pt x="171450" y="357188"/>
                </a:lnTo>
                <a:cubicBezTo>
                  <a:pt x="171450" y="380851"/>
                  <a:pt x="152251" y="400050"/>
                  <a:pt x="128588" y="400050"/>
                </a:cubicBezTo>
                <a:cubicBezTo>
                  <a:pt x="104924" y="400050"/>
                  <a:pt x="85725" y="380851"/>
                  <a:pt x="85725" y="357188"/>
                </a:cubicBezTo>
                <a:lnTo>
                  <a:pt x="85725" y="342900"/>
                </a:lnTo>
                <a:lnTo>
                  <a:pt x="71438" y="342900"/>
                </a:lnTo>
                <a:cubicBezTo>
                  <a:pt x="47774" y="342900"/>
                  <a:pt x="28575" y="323701"/>
                  <a:pt x="28575" y="300038"/>
                </a:cubicBezTo>
                <a:lnTo>
                  <a:pt x="28575" y="257175"/>
                </a:lnTo>
                <a:cubicBezTo>
                  <a:pt x="12769" y="257175"/>
                  <a:pt x="0" y="244406"/>
                  <a:pt x="0" y="228600"/>
                </a:cubicBezTo>
                <a:cubicBezTo>
                  <a:pt x="0" y="212794"/>
                  <a:pt x="12769" y="200025"/>
                  <a:pt x="28575" y="200025"/>
                </a:cubicBezTo>
                <a:lnTo>
                  <a:pt x="28575" y="157163"/>
                </a:lnTo>
                <a:cubicBezTo>
                  <a:pt x="28575" y="133499"/>
                  <a:pt x="47774" y="114300"/>
                  <a:pt x="71438" y="114300"/>
                </a:cubicBezTo>
                <a:lnTo>
                  <a:pt x="85725" y="114300"/>
                </a:lnTo>
                <a:lnTo>
                  <a:pt x="85725" y="100013"/>
                </a:lnTo>
                <a:close/>
              </a:path>
            </a:pathLst>
          </a:custGeom>
          <a:solidFill>
            <a:srgbClr val="8C3023"/>
          </a:solidFill>
        </p:spPr>
      </p:sp>
      <p:sp>
        <p:nvSpPr>
          <p:cNvPr id="8" name="Text 6"/>
          <p:cNvSpPr/>
          <p:nvPr/>
        </p:nvSpPr>
        <p:spPr>
          <a:xfrm>
            <a:off x="1113334" y="3606800"/>
            <a:ext cx="1524000" cy="355600"/>
          </a:xfrm>
          <a:prstGeom prst="rect">
            <a:avLst/>
          </a:prstGeom>
          <a:noFill/>
        </p:spPr>
        <p:txBody>
          <a:bodyPr wrap="square" lIns="0" tIns="0" rIns="0" bIns="0" rtlCol="0" anchor="ctr"/>
          <a:lstStyle/>
          <a:p>
            <a:pPr marL="0" indent="0" algn="ctr">
              <a:lnSpc>
                <a:spcPct val="120000"/>
              </a:lnSpc>
              <a:buNone/>
            </a:pPr>
            <a:r>
              <a:rPr lang="en-US" sz="2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数据记录</a:t>
            </a:r>
            <a:endParaRPr lang="en-US" sz="1600" dirty="0"/>
          </a:p>
        </p:txBody>
      </p:sp>
      <p:sp>
        <p:nvSpPr>
          <p:cNvPr id="9" name="Text 7"/>
          <p:cNvSpPr/>
          <p:nvPr/>
        </p:nvSpPr>
        <p:spPr>
          <a:xfrm>
            <a:off x="457200" y="4064000"/>
            <a:ext cx="2832100" cy="508000"/>
          </a:xfrm>
          <a:prstGeom prst="rect">
            <a:avLst/>
          </a:prstGeom>
          <a:noFill/>
        </p:spPr>
        <p:txBody>
          <a:bodyPr wrap="square" lIns="0" tIns="0" rIns="0" bIns="0" rtlCol="0" anchor="ctr"/>
          <a:lstStyle/>
          <a:p>
            <a:pPr marL="0" indent="0" algn="ctr">
              <a:lnSpc>
                <a:spcPct val="120000"/>
              </a:lnSpc>
              <a:buNone/>
            </a:pPr>
            <a:r>
              <a:rPr lang="en-US" sz="1400" dirty="0">
                <a:solidFill>
                  <a:srgbClr val="333333"/>
                </a:solidFill>
                <a:latin typeface="MiSans" pitchFamily="34" charset="-122"/>
                <a:ea typeface="MiSans" pitchFamily="34" charset="-122"/>
                <a:cs typeface="MiSans" pitchFamily="34" charset="-120"/>
              </a:rPr>
              <a:t>全面记录训练数据，构建个人专属数据库</a:t>
            </a:r>
            <a:endParaRPr lang="en-US" sz="1600" dirty="0"/>
          </a:p>
        </p:txBody>
      </p:sp>
      <p:sp>
        <p:nvSpPr>
          <p:cNvPr id="10" name="Shape 8"/>
          <p:cNvSpPr/>
          <p:nvPr/>
        </p:nvSpPr>
        <p:spPr>
          <a:xfrm>
            <a:off x="3757116" y="3562350"/>
            <a:ext cx="457200" cy="457200"/>
          </a:xfrm>
          <a:custGeom>
            <a:avLst/>
            <a:gdLst/>
            <a:ahLst/>
            <a:cxnLst/>
            <a:rect l="l" t="t" r="r" b="b"/>
            <a:pathLst>
              <a:path w="457200" h="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3B4E6B"/>
          </a:solidFill>
        </p:spPr>
      </p:sp>
      <p:sp>
        <p:nvSpPr>
          <p:cNvPr id="11" name="Shape 9"/>
          <p:cNvSpPr/>
          <p:nvPr/>
        </p:nvSpPr>
        <p:spPr>
          <a:xfrm>
            <a:off x="4474666" y="2794000"/>
            <a:ext cx="3238500" cy="1981200"/>
          </a:xfrm>
          <a:custGeom>
            <a:avLst/>
            <a:gdLst/>
            <a:ahLst/>
            <a:cxnLst/>
            <a:rect l="l" t="t" r="r" b="b"/>
            <a:pathLst>
              <a:path w="3238500" h="1981200">
                <a:moveTo>
                  <a:pt x="101596" y="0"/>
                </a:moveTo>
                <a:lnTo>
                  <a:pt x="3136904" y="0"/>
                </a:lnTo>
                <a:cubicBezTo>
                  <a:pt x="3193014" y="0"/>
                  <a:pt x="3238500" y="45486"/>
                  <a:pt x="3238500" y="101596"/>
                </a:cubicBezTo>
                <a:lnTo>
                  <a:pt x="3238500" y="1879604"/>
                </a:lnTo>
                <a:cubicBezTo>
                  <a:pt x="3238500" y="1935714"/>
                  <a:pt x="3193014" y="1981200"/>
                  <a:pt x="3136904" y="1981200"/>
                </a:cubicBezTo>
                <a:lnTo>
                  <a:pt x="101596" y="1981200"/>
                </a:lnTo>
                <a:cubicBezTo>
                  <a:pt x="45486" y="1981200"/>
                  <a:pt x="0" y="1935714"/>
                  <a:pt x="0" y="1879604"/>
                </a:cubicBezTo>
                <a:lnTo>
                  <a:pt x="0" y="101596"/>
                </a:lnTo>
                <a:cubicBezTo>
                  <a:pt x="0" y="45486"/>
                  <a:pt x="45486" y="0"/>
                  <a:pt x="101596" y="0"/>
                </a:cubicBezTo>
                <a:close/>
              </a:path>
            </a:pathLst>
          </a:custGeom>
          <a:solidFill>
            <a:srgbClr val="D1BBA2">
              <a:alpha val="30196"/>
            </a:srgbClr>
          </a:solidFill>
        </p:spPr>
      </p:sp>
      <p:sp>
        <p:nvSpPr>
          <p:cNvPr id="13" name="Text 11"/>
          <p:cNvSpPr/>
          <p:nvPr/>
        </p:nvSpPr>
        <p:spPr>
          <a:xfrm>
            <a:off x="5463084" y="3606800"/>
            <a:ext cx="1270000" cy="355600"/>
          </a:xfrm>
          <a:prstGeom prst="rect">
            <a:avLst/>
          </a:prstGeom>
          <a:noFill/>
        </p:spPr>
        <p:txBody>
          <a:bodyPr wrap="square" lIns="0" tIns="0" rIns="0" bIns="0" rtlCol="0" anchor="ctr"/>
          <a:lstStyle/>
          <a:p>
            <a:pPr marL="0" indent="0" algn="ctr">
              <a:lnSpc>
                <a:spcPct val="120000"/>
              </a:lnSpc>
              <a:buNone/>
            </a:pPr>
            <a:r>
              <a:rPr lang="en-US" sz="2000" dirty="0" err="1">
                <a:solidFill>
                  <a:srgbClr val="8C3023"/>
                </a:solidFill>
                <a:latin typeface="Noto Sans SC" panose="020B0200000000000000" pitchFamily="34" charset="-122"/>
                <a:ea typeface="Noto Sans SC" panose="020B0200000000000000" pitchFamily="34" charset="-122"/>
              </a:rPr>
              <a:t>营养</a:t>
            </a:r>
            <a:endParaRPr lang="en-US" sz="1600" dirty="0"/>
          </a:p>
        </p:txBody>
      </p:sp>
      <p:sp>
        <p:nvSpPr>
          <p:cNvPr id="14" name="Text 12"/>
          <p:cNvSpPr/>
          <p:nvPr/>
        </p:nvSpPr>
        <p:spPr>
          <a:xfrm>
            <a:off x="4677866" y="4064000"/>
            <a:ext cx="2832100" cy="508000"/>
          </a:xfrm>
          <a:prstGeom prst="rect">
            <a:avLst/>
          </a:prstGeom>
          <a:noFill/>
        </p:spPr>
        <p:txBody>
          <a:bodyPr wrap="square" lIns="0" tIns="0" rIns="0" bIns="0" rtlCol="0" anchor="ctr"/>
          <a:lstStyle/>
          <a:p>
            <a:pPr marL="0" indent="0" algn="ctr">
              <a:lnSpc>
                <a:spcPct val="120000"/>
              </a:lnSpc>
              <a:buNone/>
            </a:pPr>
            <a:r>
              <a:rPr lang="en-US" sz="1400" dirty="0" err="1">
                <a:solidFill>
                  <a:srgbClr val="333333"/>
                </a:solidFill>
                <a:latin typeface="MiSans" pitchFamily="34" charset="-122"/>
                <a:ea typeface="MiSans" pitchFamily="34" charset="-122"/>
                <a:cs typeface="MiSans" pitchFamily="34" charset="-120"/>
              </a:rPr>
              <a:t>智能分析数据，生成营养方案</a:t>
            </a:r>
            <a:endParaRPr lang="en-US" sz="1600" dirty="0"/>
          </a:p>
        </p:txBody>
      </p:sp>
      <p:sp>
        <p:nvSpPr>
          <p:cNvPr id="15" name="Shape 13"/>
          <p:cNvSpPr/>
          <p:nvPr/>
        </p:nvSpPr>
        <p:spPr>
          <a:xfrm>
            <a:off x="7977783" y="3562350"/>
            <a:ext cx="457200" cy="457200"/>
          </a:xfrm>
          <a:custGeom>
            <a:avLst/>
            <a:gdLst/>
            <a:ahLst/>
            <a:cxnLst/>
            <a:rect l="l" t="t" r="r" b="b"/>
            <a:pathLst>
              <a:path w="457200" h="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3B4E6B"/>
          </a:solidFill>
        </p:spPr>
      </p:sp>
      <p:sp>
        <p:nvSpPr>
          <p:cNvPr id="16" name="Shape 14"/>
          <p:cNvSpPr/>
          <p:nvPr/>
        </p:nvSpPr>
        <p:spPr>
          <a:xfrm>
            <a:off x="8695333" y="2794000"/>
            <a:ext cx="3238500" cy="1981200"/>
          </a:xfrm>
          <a:custGeom>
            <a:avLst/>
            <a:gdLst/>
            <a:ahLst/>
            <a:cxnLst/>
            <a:rect l="l" t="t" r="r" b="b"/>
            <a:pathLst>
              <a:path w="3238500" h="1981200">
                <a:moveTo>
                  <a:pt x="101596" y="0"/>
                </a:moveTo>
                <a:lnTo>
                  <a:pt x="3136904" y="0"/>
                </a:lnTo>
                <a:cubicBezTo>
                  <a:pt x="3193014" y="0"/>
                  <a:pt x="3238500" y="45486"/>
                  <a:pt x="3238500" y="101596"/>
                </a:cubicBezTo>
                <a:lnTo>
                  <a:pt x="3238500" y="1879604"/>
                </a:lnTo>
                <a:cubicBezTo>
                  <a:pt x="3238500" y="1935714"/>
                  <a:pt x="3193014" y="1981200"/>
                  <a:pt x="3136904" y="1981200"/>
                </a:cubicBezTo>
                <a:lnTo>
                  <a:pt x="101596" y="1981200"/>
                </a:lnTo>
                <a:cubicBezTo>
                  <a:pt x="45486" y="1981200"/>
                  <a:pt x="0" y="1935714"/>
                  <a:pt x="0" y="1879604"/>
                </a:cubicBezTo>
                <a:lnTo>
                  <a:pt x="0" y="101596"/>
                </a:lnTo>
                <a:cubicBezTo>
                  <a:pt x="0" y="45486"/>
                  <a:pt x="45486" y="0"/>
                  <a:pt x="101596" y="0"/>
                </a:cubicBezTo>
                <a:close/>
              </a:path>
            </a:pathLst>
          </a:custGeom>
          <a:solidFill>
            <a:srgbClr val="D1BBA2">
              <a:alpha val="30196"/>
            </a:srgbClr>
          </a:solidFill>
        </p:spPr>
      </p:sp>
      <p:sp>
        <p:nvSpPr>
          <p:cNvPr id="17" name="Shape 15"/>
          <p:cNvSpPr/>
          <p:nvPr/>
        </p:nvSpPr>
        <p:spPr>
          <a:xfrm>
            <a:off x="10030916" y="3028950"/>
            <a:ext cx="571500" cy="457200"/>
          </a:xfrm>
          <a:custGeom>
            <a:avLst/>
            <a:gdLst/>
            <a:ahLst/>
            <a:cxnLst/>
            <a:rect l="l" t="t" r="r" b="b"/>
            <a:pathLst>
              <a:path w="571500" h="457200">
                <a:moveTo>
                  <a:pt x="285750" y="14288"/>
                </a:moveTo>
                <a:cubicBezTo>
                  <a:pt x="337006" y="14288"/>
                  <a:pt x="378619" y="55901"/>
                  <a:pt x="378619" y="107156"/>
                </a:cubicBezTo>
                <a:cubicBezTo>
                  <a:pt x="378619" y="158412"/>
                  <a:pt x="337006" y="200025"/>
                  <a:pt x="285750" y="200025"/>
                </a:cubicBezTo>
                <a:cubicBezTo>
                  <a:pt x="234494" y="200025"/>
                  <a:pt x="192881" y="158412"/>
                  <a:pt x="192881" y="107156"/>
                </a:cubicBezTo>
                <a:cubicBezTo>
                  <a:pt x="192881" y="55901"/>
                  <a:pt x="234494" y="14288"/>
                  <a:pt x="285750" y="14288"/>
                </a:cubicBezTo>
                <a:close/>
                <a:moveTo>
                  <a:pt x="85725" y="78581"/>
                </a:moveTo>
                <a:cubicBezTo>
                  <a:pt x="121210" y="78581"/>
                  <a:pt x="150019" y="107390"/>
                  <a:pt x="150019" y="142875"/>
                </a:cubicBezTo>
                <a:cubicBezTo>
                  <a:pt x="150019" y="178360"/>
                  <a:pt x="121210" y="207169"/>
                  <a:pt x="85725" y="207169"/>
                </a:cubicBezTo>
                <a:cubicBezTo>
                  <a:pt x="50240" y="207169"/>
                  <a:pt x="21431" y="178360"/>
                  <a:pt x="21431" y="142875"/>
                </a:cubicBezTo>
                <a:cubicBezTo>
                  <a:pt x="21431" y="107390"/>
                  <a:pt x="50240" y="78581"/>
                  <a:pt x="85725" y="78581"/>
                </a:cubicBezTo>
                <a:close/>
                <a:moveTo>
                  <a:pt x="0" y="371475"/>
                </a:moveTo>
                <a:cubicBezTo>
                  <a:pt x="0" y="308342"/>
                  <a:pt x="51167" y="257175"/>
                  <a:pt x="114300" y="257175"/>
                </a:cubicBezTo>
                <a:cubicBezTo>
                  <a:pt x="125730" y="257175"/>
                  <a:pt x="136803" y="258872"/>
                  <a:pt x="147251" y="261997"/>
                </a:cubicBezTo>
                <a:cubicBezTo>
                  <a:pt x="117872" y="294858"/>
                  <a:pt x="100013" y="338257"/>
                  <a:pt x="100013" y="385763"/>
                </a:cubicBezTo>
                <a:lnTo>
                  <a:pt x="100013" y="400050"/>
                </a:lnTo>
                <a:cubicBezTo>
                  <a:pt x="100013" y="410230"/>
                  <a:pt x="102156" y="419874"/>
                  <a:pt x="105995" y="428625"/>
                </a:cubicBezTo>
                <a:lnTo>
                  <a:pt x="28575" y="428625"/>
                </a:lnTo>
                <a:cubicBezTo>
                  <a:pt x="12769" y="428625"/>
                  <a:pt x="0" y="415856"/>
                  <a:pt x="0" y="400050"/>
                </a:cubicBezTo>
                <a:lnTo>
                  <a:pt x="0" y="371475"/>
                </a:lnTo>
                <a:close/>
                <a:moveTo>
                  <a:pt x="465505" y="428625"/>
                </a:moveTo>
                <a:cubicBezTo>
                  <a:pt x="469344" y="419874"/>
                  <a:pt x="471488" y="410230"/>
                  <a:pt x="471488" y="400050"/>
                </a:cubicBezTo>
                <a:lnTo>
                  <a:pt x="471488" y="385763"/>
                </a:lnTo>
                <a:cubicBezTo>
                  <a:pt x="471488" y="338257"/>
                  <a:pt x="453628" y="294858"/>
                  <a:pt x="424249" y="261997"/>
                </a:cubicBezTo>
                <a:cubicBezTo>
                  <a:pt x="434697" y="258872"/>
                  <a:pt x="445770" y="257175"/>
                  <a:pt x="457200" y="257175"/>
                </a:cubicBezTo>
                <a:cubicBezTo>
                  <a:pt x="520333" y="257175"/>
                  <a:pt x="571500" y="308342"/>
                  <a:pt x="571500" y="371475"/>
                </a:cubicBezTo>
                <a:lnTo>
                  <a:pt x="571500" y="400050"/>
                </a:lnTo>
                <a:cubicBezTo>
                  <a:pt x="571500" y="415856"/>
                  <a:pt x="558731" y="428625"/>
                  <a:pt x="542925" y="428625"/>
                </a:cubicBezTo>
                <a:lnTo>
                  <a:pt x="465505" y="428625"/>
                </a:lnTo>
                <a:close/>
                <a:moveTo>
                  <a:pt x="421481" y="142875"/>
                </a:moveTo>
                <a:cubicBezTo>
                  <a:pt x="421481" y="107390"/>
                  <a:pt x="450290" y="78581"/>
                  <a:pt x="485775" y="78581"/>
                </a:cubicBezTo>
                <a:cubicBezTo>
                  <a:pt x="521260" y="78581"/>
                  <a:pt x="550069" y="107390"/>
                  <a:pt x="550069" y="142875"/>
                </a:cubicBezTo>
                <a:cubicBezTo>
                  <a:pt x="550069" y="178360"/>
                  <a:pt x="521260" y="207169"/>
                  <a:pt x="485775" y="207169"/>
                </a:cubicBezTo>
                <a:cubicBezTo>
                  <a:pt x="450290" y="207169"/>
                  <a:pt x="421481" y="178360"/>
                  <a:pt x="421481" y="142875"/>
                </a:cubicBezTo>
                <a:close/>
                <a:moveTo>
                  <a:pt x="142875" y="385763"/>
                </a:moveTo>
                <a:cubicBezTo>
                  <a:pt x="142875" y="306824"/>
                  <a:pt x="206812" y="242888"/>
                  <a:pt x="285750" y="242888"/>
                </a:cubicBezTo>
                <a:cubicBezTo>
                  <a:pt x="364688" y="242888"/>
                  <a:pt x="428625" y="306824"/>
                  <a:pt x="428625" y="385763"/>
                </a:cubicBezTo>
                <a:lnTo>
                  <a:pt x="428625" y="400050"/>
                </a:lnTo>
                <a:cubicBezTo>
                  <a:pt x="428625" y="415856"/>
                  <a:pt x="415856" y="428625"/>
                  <a:pt x="400050" y="428625"/>
                </a:cubicBezTo>
                <a:lnTo>
                  <a:pt x="171450" y="428625"/>
                </a:lnTo>
                <a:cubicBezTo>
                  <a:pt x="155644" y="428625"/>
                  <a:pt x="142875" y="415856"/>
                  <a:pt x="142875" y="400050"/>
                </a:cubicBezTo>
                <a:lnTo>
                  <a:pt x="142875" y="385763"/>
                </a:lnTo>
                <a:close/>
              </a:path>
            </a:pathLst>
          </a:custGeom>
          <a:solidFill>
            <a:srgbClr val="8C3023"/>
          </a:solidFill>
        </p:spPr>
      </p:sp>
      <p:sp>
        <p:nvSpPr>
          <p:cNvPr id="18" name="Text 16"/>
          <p:cNvSpPr/>
          <p:nvPr/>
        </p:nvSpPr>
        <p:spPr>
          <a:xfrm>
            <a:off x="9554666" y="3606800"/>
            <a:ext cx="1524000" cy="355600"/>
          </a:xfrm>
          <a:prstGeom prst="rect">
            <a:avLst/>
          </a:prstGeom>
          <a:noFill/>
        </p:spPr>
        <p:txBody>
          <a:bodyPr wrap="square" lIns="0" tIns="0" rIns="0" bIns="0" rtlCol="0" anchor="ctr"/>
          <a:lstStyle/>
          <a:p>
            <a:pPr marL="0" indent="0" algn="ctr">
              <a:lnSpc>
                <a:spcPct val="120000"/>
              </a:lnSpc>
              <a:buNone/>
            </a:pPr>
            <a:r>
              <a:rPr lang="en-US" sz="2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内容社区</a:t>
            </a:r>
            <a:endParaRPr lang="en-US" sz="1600" dirty="0"/>
          </a:p>
        </p:txBody>
      </p:sp>
      <p:sp>
        <p:nvSpPr>
          <p:cNvPr id="19" name="Text 17"/>
          <p:cNvSpPr/>
          <p:nvPr/>
        </p:nvSpPr>
        <p:spPr>
          <a:xfrm>
            <a:off x="8898533" y="4064000"/>
            <a:ext cx="2832100" cy="508000"/>
          </a:xfrm>
          <a:prstGeom prst="rect">
            <a:avLst/>
          </a:prstGeom>
          <a:noFill/>
        </p:spPr>
        <p:txBody>
          <a:bodyPr wrap="square" lIns="0" tIns="0" rIns="0" bIns="0" rtlCol="0" anchor="ctr"/>
          <a:lstStyle/>
          <a:p>
            <a:pPr marL="0" indent="0" algn="ctr">
              <a:lnSpc>
                <a:spcPct val="120000"/>
              </a:lnSpc>
              <a:buNone/>
            </a:pPr>
            <a:r>
              <a:rPr lang="en-US" sz="1400" dirty="0">
                <a:solidFill>
                  <a:srgbClr val="333333"/>
                </a:solidFill>
                <a:latin typeface="MiSans" pitchFamily="34" charset="-122"/>
                <a:ea typeface="MiSans" pitchFamily="34" charset="-122"/>
                <a:cs typeface="MiSans" pitchFamily="34" charset="-120"/>
              </a:rPr>
              <a:t>分享成果、参与挑战，构建激励型社交生态</a:t>
            </a:r>
            <a:endParaRPr lang="en-US" sz="1600" dirty="0"/>
          </a:p>
        </p:txBody>
      </p:sp>
      <p:sp>
        <p:nvSpPr>
          <p:cNvPr id="20" name="Text 18"/>
          <p:cNvSpPr/>
          <p:nvPr/>
        </p:nvSpPr>
        <p:spPr>
          <a:xfrm>
            <a:off x="254000" y="5181600"/>
            <a:ext cx="11684000" cy="304800"/>
          </a:xfrm>
          <a:prstGeom prst="rect">
            <a:avLst/>
          </a:prstGeom>
          <a:noFill/>
        </p:spPr>
        <p:txBody>
          <a:bodyPr wrap="square" lIns="0" tIns="0" rIns="0" bIns="0" rtlCol="0" anchor="ctr"/>
          <a:lstStyle/>
          <a:p>
            <a:pPr marL="0" indent="0" algn="ctr">
              <a:lnSpc>
                <a:spcPct val="130000"/>
              </a:lnSpc>
              <a:buNone/>
            </a:pPr>
            <a:r>
              <a:rPr lang="en-US" sz="1600" dirty="0">
                <a:solidFill>
                  <a:srgbClr val="333333"/>
                </a:solidFill>
                <a:latin typeface="MiSans" pitchFamily="34" charset="-122"/>
                <a:ea typeface="MiSans" pitchFamily="34" charset="-122"/>
                <a:cs typeface="MiSans" pitchFamily="34" charset="-120"/>
              </a:rPr>
              <a:t>用户无需在多平台跳转，即可完成</a:t>
            </a:r>
            <a:r>
              <a:rPr lang="en-US" sz="1600" dirty="0">
                <a:solidFill>
                  <a:srgbClr val="3B4E6B"/>
                </a:solidFill>
                <a:latin typeface="MiSans" pitchFamily="34" charset="-122"/>
                <a:ea typeface="MiSans" pitchFamily="34" charset="-122"/>
                <a:cs typeface="MiSans" pitchFamily="34" charset="-120"/>
              </a:rPr>
              <a:t>“练、吃、晒”</a:t>
            </a:r>
            <a:r>
              <a:rPr lang="en-US" sz="1600" dirty="0">
                <a:solidFill>
                  <a:srgbClr val="333333"/>
                </a:solidFill>
                <a:latin typeface="MiSans" pitchFamily="34" charset="-122"/>
                <a:ea typeface="MiSans" pitchFamily="34" charset="-122"/>
                <a:cs typeface="MiSans" pitchFamily="34" charset="-120"/>
              </a:rPr>
              <a:t>全链路动作，奠定产品高粘性基础。</a:t>
            </a:r>
            <a:endParaRPr lang="en-US" sz="1600" dirty="0"/>
          </a:p>
        </p:txBody>
      </p:sp>
      <p:sp>
        <p:nvSpPr>
          <p:cNvPr id="21" name="Shape 21"/>
          <p:cNvSpPr/>
          <p:nvPr/>
        </p:nvSpPr>
        <p:spPr>
          <a:xfrm>
            <a:off x="5878241" y="3090637"/>
            <a:ext cx="424586" cy="463550"/>
          </a:xfrm>
          <a:custGeom>
            <a:avLst/>
            <a:gdLst/>
            <a:ahLst/>
            <a:cxnLst/>
            <a:rect l="l" t="t" r="r" b="b"/>
            <a:pathLst>
              <a:path w="333375" h="381000">
                <a:moveTo>
                  <a:pt x="166688" y="83344"/>
                </a:moveTo>
                <a:cubicBezTo>
                  <a:pt x="160139" y="83344"/>
                  <a:pt x="154781" y="77986"/>
                  <a:pt x="154781" y="71438"/>
                </a:cubicBezTo>
                <a:lnTo>
                  <a:pt x="154781" y="59531"/>
                </a:lnTo>
                <a:cubicBezTo>
                  <a:pt x="154781" y="26640"/>
                  <a:pt x="181421" y="0"/>
                  <a:pt x="214313" y="0"/>
                </a:cubicBezTo>
                <a:lnTo>
                  <a:pt x="226219" y="0"/>
                </a:lnTo>
                <a:cubicBezTo>
                  <a:pt x="232767" y="0"/>
                  <a:pt x="238125" y="5358"/>
                  <a:pt x="238125" y="11906"/>
                </a:cubicBezTo>
                <a:lnTo>
                  <a:pt x="238125" y="23812"/>
                </a:lnTo>
                <a:cubicBezTo>
                  <a:pt x="238125" y="56704"/>
                  <a:pt x="211485" y="83344"/>
                  <a:pt x="178594" y="83344"/>
                </a:cubicBezTo>
                <a:lnTo>
                  <a:pt x="166688" y="83344"/>
                </a:lnTo>
                <a:close/>
                <a:moveTo>
                  <a:pt x="0" y="214313"/>
                </a:moveTo>
                <a:cubicBezTo>
                  <a:pt x="0" y="157535"/>
                  <a:pt x="26566" y="95250"/>
                  <a:pt x="83344" y="95250"/>
                </a:cubicBezTo>
                <a:cubicBezTo>
                  <a:pt x="103659" y="95250"/>
                  <a:pt x="127769" y="102915"/>
                  <a:pt x="144884" y="109612"/>
                </a:cubicBezTo>
                <a:cubicBezTo>
                  <a:pt x="158874" y="115044"/>
                  <a:pt x="174575" y="115044"/>
                  <a:pt x="188565" y="109612"/>
                </a:cubicBezTo>
                <a:cubicBezTo>
                  <a:pt x="205606" y="102989"/>
                  <a:pt x="229791" y="95250"/>
                  <a:pt x="250106" y="95250"/>
                </a:cubicBezTo>
                <a:cubicBezTo>
                  <a:pt x="306884" y="95250"/>
                  <a:pt x="333449" y="157535"/>
                  <a:pt x="333449" y="214313"/>
                </a:cubicBezTo>
                <a:cubicBezTo>
                  <a:pt x="333449" y="309563"/>
                  <a:pt x="273918" y="381000"/>
                  <a:pt x="214387" y="381000"/>
                </a:cubicBezTo>
                <a:cubicBezTo>
                  <a:pt x="202109" y="381000"/>
                  <a:pt x="186035" y="376089"/>
                  <a:pt x="176064" y="372591"/>
                </a:cubicBezTo>
                <a:cubicBezTo>
                  <a:pt x="170036" y="370508"/>
                  <a:pt x="163488" y="370508"/>
                  <a:pt x="157460" y="372591"/>
                </a:cubicBezTo>
                <a:cubicBezTo>
                  <a:pt x="147489" y="376089"/>
                  <a:pt x="131415" y="381000"/>
                  <a:pt x="119137" y="381000"/>
                </a:cubicBezTo>
                <a:cubicBezTo>
                  <a:pt x="59606" y="381000"/>
                  <a:pt x="74" y="309563"/>
                  <a:pt x="74" y="214313"/>
                </a:cubicBezTo>
                <a:close/>
              </a:path>
            </a:pathLst>
          </a:custGeom>
          <a:solidFill>
            <a:srgbClr val="8C3023"/>
          </a:solidFill>
        </p:spPr>
        <p:txBody>
          <a:bodyPr/>
          <a:lstStyle/>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635" y="0"/>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254000" y="1346200"/>
            <a:ext cx="12192000" cy="508000"/>
          </a:xfrm>
          <a:prstGeom prst="rect">
            <a:avLst/>
          </a:prstGeom>
          <a:noFill/>
        </p:spPr>
        <p:txBody>
          <a:bodyPr wrap="square" lIns="0" tIns="0" rIns="0" bIns="0" rtlCol="0" anchor="ctr"/>
          <a:lstStyle/>
          <a:p>
            <a:pPr marL="0" indent="0">
              <a:lnSpc>
                <a:spcPct val="90000"/>
              </a:lnSpc>
              <a:buNone/>
            </a:pPr>
            <a:r>
              <a:rPr 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六维核心功能矩阵</a:t>
            </a:r>
            <a:endParaRPr lang="en-US" sz="1600" dirty="0"/>
          </a:p>
        </p:txBody>
      </p:sp>
      <p:sp>
        <p:nvSpPr>
          <p:cNvPr id="5" name="Text 3"/>
          <p:cNvSpPr/>
          <p:nvPr/>
        </p:nvSpPr>
        <p:spPr>
          <a:xfrm>
            <a:off x="254000" y="1955800"/>
            <a:ext cx="12192000" cy="355600"/>
          </a:xfrm>
          <a:prstGeom prst="rect">
            <a:avLst/>
          </a:prstGeom>
          <a:noFill/>
        </p:spPr>
        <p:txBody>
          <a:bodyPr wrap="square" lIns="0" tIns="0" rIns="0" bIns="0" rtlCol="0" anchor="ctr"/>
          <a:lstStyle/>
          <a:p>
            <a:pPr marL="0" indent="0">
              <a:lnSpc>
                <a:spcPct val="130000"/>
              </a:lnSpc>
              <a:buNone/>
            </a:pPr>
            <a:r>
              <a:rPr lang="en-US" sz="1800" dirty="0">
                <a:solidFill>
                  <a:srgbClr val="3B4E6B"/>
                </a:solidFill>
                <a:latin typeface="MiSans" pitchFamily="34" charset="-122"/>
                <a:ea typeface="MiSans" pitchFamily="34" charset="-122"/>
                <a:cs typeface="MiSans" pitchFamily="34" charset="-120"/>
              </a:rPr>
              <a:t>场景无死角覆盖，模块协同联动</a:t>
            </a:r>
            <a:endParaRPr lang="en-US" sz="1600" dirty="0"/>
          </a:p>
        </p:txBody>
      </p:sp>
      <p:sp>
        <p:nvSpPr>
          <p:cNvPr id="6" name="Shape 4"/>
          <p:cNvSpPr/>
          <p:nvPr/>
        </p:nvSpPr>
        <p:spPr>
          <a:xfrm>
            <a:off x="254000" y="27178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7" name="Shape 5"/>
          <p:cNvSpPr/>
          <p:nvPr/>
        </p:nvSpPr>
        <p:spPr>
          <a:xfrm>
            <a:off x="622300" y="3009900"/>
            <a:ext cx="285750" cy="381000"/>
          </a:xfrm>
          <a:custGeom>
            <a:avLst/>
            <a:gdLst/>
            <a:ahLst/>
            <a:cxnLst/>
            <a:rect l="l" t="t" r="r" b="b"/>
            <a:pathLst>
              <a:path w="285750" h="381000">
                <a:moveTo>
                  <a:pt x="231725" y="23812"/>
                </a:moveTo>
                <a:lnTo>
                  <a:pt x="238125" y="23812"/>
                </a:lnTo>
                <a:cubicBezTo>
                  <a:pt x="264393" y="23812"/>
                  <a:pt x="285750" y="45169"/>
                  <a:pt x="285750" y="71438"/>
                </a:cubicBezTo>
                <a:lnTo>
                  <a:pt x="285750" y="333375"/>
                </a:lnTo>
                <a:cubicBezTo>
                  <a:pt x="285750" y="359643"/>
                  <a:pt x="264393" y="381000"/>
                  <a:pt x="238125" y="381000"/>
                </a:cubicBezTo>
                <a:lnTo>
                  <a:pt x="47625" y="381000"/>
                </a:lnTo>
                <a:cubicBezTo>
                  <a:pt x="21357" y="381000"/>
                  <a:pt x="0" y="359643"/>
                  <a:pt x="0" y="333375"/>
                </a:cubicBezTo>
                <a:lnTo>
                  <a:pt x="0" y="71438"/>
                </a:lnTo>
                <a:cubicBezTo>
                  <a:pt x="0" y="45169"/>
                  <a:pt x="21357" y="23812"/>
                  <a:pt x="47625" y="23812"/>
                </a:cubicBezTo>
                <a:lnTo>
                  <a:pt x="54025" y="23812"/>
                </a:lnTo>
                <a:cubicBezTo>
                  <a:pt x="62210" y="9599"/>
                  <a:pt x="77614" y="0"/>
                  <a:pt x="95250" y="0"/>
                </a:cubicBezTo>
                <a:lnTo>
                  <a:pt x="190500" y="0"/>
                </a:lnTo>
                <a:cubicBezTo>
                  <a:pt x="208136" y="0"/>
                  <a:pt x="223540" y="9599"/>
                  <a:pt x="231725" y="23812"/>
                </a:cubicBezTo>
                <a:close/>
                <a:moveTo>
                  <a:pt x="184547" y="83344"/>
                </a:moveTo>
                <a:cubicBezTo>
                  <a:pt x="194444" y="83344"/>
                  <a:pt x="202406" y="75381"/>
                  <a:pt x="202406" y="65484"/>
                </a:cubicBezTo>
                <a:cubicBezTo>
                  <a:pt x="202406" y="55587"/>
                  <a:pt x="194444" y="47625"/>
                  <a:pt x="184547" y="47625"/>
                </a:cubicBezTo>
                <a:lnTo>
                  <a:pt x="101203" y="47625"/>
                </a:lnTo>
                <a:cubicBezTo>
                  <a:pt x="91306" y="47625"/>
                  <a:pt x="83344" y="55587"/>
                  <a:pt x="83344" y="65484"/>
                </a:cubicBezTo>
                <a:cubicBezTo>
                  <a:pt x="83344" y="75381"/>
                  <a:pt x="91306" y="83344"/>
                  <a:pt x="101203" y="83344"/>
                </a:cubicBezTo>
                <a:lnTo>
                  <a:pt x="184547" y="83344"/>
                </a:lnTo>
                <a:close/>
                <a:moveTo>
                  <a:pt x="95250" y="190500"/>
                </a:moveTo>
                <a:cubicBezTo>
                  <a:pt x="95250" y="177358"/>
                  <a:pt x="84580" y="166688"/>
                  <a:pt x="71438" y="166688"/>
                </a:cubicBezTo>
                <a:cubicBezTo>
                  <a:pt x="58295" y="166688"/>
                  <a:pt x="47625" y="177358"/>
                  <a:pt x="47625" y="190500"/>
                </a:cubicBezTo>
                <a:cubicBezTo>
                  <a:pt x="47625" y="203642"/>
                  <a:pt x="58295" y="214313"/>
                  <a:pt x="71438" y="214313"/>
                </a:cubicBezTo>
                <a:cubicBezTo>
                  <a:pt x="84580" y="214313"/>
                  <a:pt x="95250" y="203642"/>
                  <a:pt x="95250" y="190500"/>
                </a:cubicBezTo>
                <a:close/>
                <a:moveTo>
                  <a:pt x="119063" y="190500"/>
                </a:moveTo>
                <a:cubicBezTo>
                  <a:pt x="119063" y="200397"/>
                  <a:pt x="127025" y="208359"/>
                  <a:pt x="136922" y="208359"/>
                </a:cubicBezTo>
                <a:lnTo>
                  <a:pt x="220266" y="208359"/>
                </a:lnTo>
                <a:cubicBezTo>
                  <a:pt x="230163" y="208359"/>
                  <a:pt x="238125" y="200397"/>
                  <a:pt x="238125" y="190500"/>
                </a:cubicBezTo>
                <a:cubicBezTo>
                  <a:pt x="238125" y="180603"/>
                  <a:pt x="230163" y="172641"/>
                  <a:pt x="220266" y="172641"/>
                </a:cubicBezTo>
                <a:lnTo>
                  <a:pt x="136922" y="172641"/>
                </a:lnTo>
                <a:cubicBezTo>
                  <a:pt x="127025" y="172641"/>
                  <a:pt x="119063" y="180603"/>
                  <a:pt x="119063" y="190500"/>
                </a:cubicBezTo>
                <a:close/>
                <a:moveTo>
                  <a:pt x="119063" y="285750"/>
                </a:moveTo>
                <a:cubicBezTo>
                  <a:pt x="119063" y="295647"/>
                  <a:pt x="127025" y="303609"/>
                  <a:pt x="136922" y="303609"/>
                </a:cubicBezTo>
                <a:lnTo>
                  <a:pt x="220266" y="303609"/>
                </a:lnTo>
                <a:cubicBezTo>
                  <a:pt x="230163" y="303609"/>
                  <a:pt x="238125" y="295647"/>
                  <a:pt x="238125" y="285750"/>
                </a:cubicBezTo>
                <a:cubicBezTo>
                  <a:pt x="238125" y="275853"/>
                  <a:pt x="230163" y="267891"/>
                  <a:pt x="220266" y="267891"/>
                </a:cubicBezTo>
                <a:lnTo>
                  <a:pt x="136922" y="267891"/>
                </a:lnTo>
                <a:cubicBezTo>
                  <a:pt x="127025" y="267891"/>
                  <a:pt x="119063" y="275853"/>
                  <a:pt x="119063" y="285750"/>
                </a:cubicBezTo>
                <a:close/>
                <a:moveTo>
                  <a:pt x="71438" y="309563"/>
                </a:moveTo>
                <a:cubicBezTo>
                  <a:pt x="84580" y="309563"/>
                  <a:pt x="95250" y="298892"/>
                  <a:pt x="95250" y="285750"/>
                </a:cubicBezTo>
                <a:cubicBezTo>
                  <a:pt x="95250" y="272608"/>
                  <a:pt x="84580" y="261938"/>
                  <a:pt x="71438" y="261938"/>
                </a:cubicBezTo>
                <a:cubicBezTo>
                  <a:pt x="58295" y="261938"/>
                  <a:pt x="47625" y="272608"/>
                  <a:pt x="47625" y="285750"/>
                </a:cubicBezTo>
                <a:cubicBezTo>
                  <a:pt x="47625" y="298892"/>
                  <a:pt x="58295" y="309563"/>
                  <a:pt x="71438" y="309563"/>
                </a:cubicBezTo>
                <a:close/>
              </a:path>
            </a:pathLst>
          </a:custGeom>
          <a:solidFill>
            <a:srgbClr val="8C3023"/>
          </a:solidFill>
        </p:spPr>
      </p:sp>
      <p:sp>
        <p:nvSpPr>
          <p:cNvPr id="8" name="Text 6"/>
          <p:cNvSpPr/>
          <p:nvPr/>
        </p:nvSpPr>
        <p:spPr>
          <a:xfrm>
            <a:off x="1270000" y="2921000"/>
            <a:ext cx="24638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训练记录与追踪</a:t>
            </a:r>
            <a:endParaRPr lang="en-US" sz="1600" dirty="0"/>
          </a:p>
        </p:txBody>
      </p:sp>
      <p:sp>
        <p:nvSpPr>
          <p:cNvPr id="9" name="Text 7"/>
          <p:cNvSpPr/>
          <p:nvPr/>
        </p:nvSpPr>
        <p:spPr>
          <a:xfrm>
            <a:off x="1270000" y="3225800"/>
            <a:ext cx="2463800" cy="254000"/>
          </a:xfrm>
          <a:prstGeom prst="rect">
            <a:avLst/>
          </a:prstGeom>
          <a:noFill/>
        </p:spPr>
        <p:txBody>
          <a:bodyPr wrap="square" lIns="0" tIns="0" rIns="0" bIns="0" rtlCol="0" anchor="ctr"/>
          <a:lstStyle/>
          <a:p>
            <a:pPr marL="0" indent="0">
              <a:lnSpc>
                <a:spcPct val="120000"/>
              </a:lnSpc>
              <a:buNone/>
            </a:pPr>
            <a:r>
              <a:rPr lang="en-US" sz="1400" dirty="0" err="1">
                <a:solidFill>
                  <a:srgbClr val="333333"/>
                </a:solidFill>
                <a:latin typeface="MiSans" pitchFamily="34" charset="-122"/>
                <a:ea typeface="MiSans" pitchFamily="34" charset="-122"/>
                <a:cs typeface="MiSans" pitchFamily="34" charset="-120"/>
              </a:rPr>
              <a:t>用户记录数据，追踪训练进度</a:t>
            </a:r>
            <a:endParaRPr lang="en-US" sz="1600" dirty="0"/>
          </a:p>
        </p:txBody>
      </p:sp>
      <p:sp>
        <p:nvSpPr>
          <p:cNvPr id="10" name="Shape 8"/>
          <p:cNvSpPr/>
          <p:nvPr/>
        </p:nvSpPr>
        <p:spPr>
          <a:xfrm>
            <a:off x="4233267" y="27178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11" name="Shape 9"/>
          <p:cNvSpPr/>
          <p:nvPr/>
        </p:nvSpPr>
        <p:spPr>
          <a:xfrm>
            <a:off x="4506317" y="3009900"/>
            <a:ext cx="476250" cy="381000"/>
          </a:xfrm>
          <a:custGeom>
            <a:avLst/>
            <a:gdLst/>
            <a:ahLst/>
            <a:cxnLst/>
            <a:rect l="l" t="t" r="r" b="b"/>
            <a:pathLst>
              <a:path w="476250" h="381000">
                <a:moveTo>
                  <a:pt x="190872" y="5953"/>
                </a:moveTo>
                <a:cubicBezTo>
                  <a:pt x="240156" y="5953"/>
                  <a:pt x="280169" y="45966"/>
                  <a:pt x="280169" y="95250"/>
                </a:cubicBezTo>
                <a:cubicBezTo>
                  <a:pt x="280169" y="144534"/>
                  <a:pt x="240156" y="184547"/>
                  <a:pt x="190872" y="184547"/>
                </a:cubicBezTo>
                <a:cubicBezTo>
                  <a:pt x="141588" y="184547"/>
                  <a:pt x="101575" y="144534"/>
                  <a:pt x="101575" y="95250"/>
                </a:cubicBezTo>
                <a:cubicBezTo>
                  <a:pt x="101575" y="45966"/>
                  <a:pt x="141588" y="5953"/>
                  <a:pt x="190872" y="5953"/>
                </a:cubicBezTo>
                <a:close/>
                <a:moveTo>
                  <a:pt x="168697" y="226219"/>
                </a:moveTo>
                <a:lnTo>
                  <a:pt x="212899" y="226219"/>
                </a:lnTo>
                <a:lnTo>
                  <a:pt x="214015" y="226219"/>
                </a:lnTo>
                <a:cubicBezTo>
                  <a:pt x="204415" y="246162"/>
                  <a:pt x="208211" y="269528"/>
                  <a:pt x="222572" y="285378"/>
                </a:cubicBezTo>
                <a:cubicBezTo>
                  <a:pt x="207541" y="301972"/>
                  <a:pt x="204118" y="326901"/>
                  <a:pt x="215578" y="347439"/>
                </a:cubicBezTo>
                <a:lnTo>
                  <a:pt x="232321" y="377503"/>
                </a:lnTo>
                <a:cubicBezTo>
                  <a:pt x="232990" y="378693"/>
                  <a:pt x="233735" y="379884"/>
                  <a:pt x="234479" y="381000"/>
                </a:cubicBezTo>
                <a:lnTo>
                  <a:pt x="58117" y="381000"/>
                </a:lnTo>
                <a:cubicBezTo>
                  <a:pt x="45913" y="381000"/>
                  <a:pt x="36016" y="371103"/>
                  <a:pt x="36016" y="358899"/>
                </a:cubicBezTo>
                <a:cubicBezTo>
                  <a:pt x="36016" y="285601"/>
                  <a:pt x="95399" y="226219"/>
                  <a:pt x="168697" y="226219"/>
                </a:cubicBezTo>
                <a:close/>
                <a:moveTo>
                  <a:pt x="321915" y="184249"/>
                </a:moveTo>
                <a:cubicBezTo>
                  <a:pt x="321915" y="174352"/>
                  <a:pt x="329878" y="166390"/>
                  <a:pt x="339775" y="166390"/>
                </a:cubicBezTo>
                <a:lnTo>
                  <a:pt x="375493" y="166390"/>
                </a:lnTo>
                <a:cubicBezTo>
                  <a:pt x="385390" y="166390"/>
                  <a:pt x="393353" y="174352"/>
                  <a:pt x="393353" y="184249"/>
                </a:cubicBezTo>
                <a:lnTo>
                  <a:pt x="393353" y="188788"/>
                </a:lnTo>
                <a:cubicBezTo>
                  <a:pt x="393353" y="202853"/>
                  <a:pt x="411287" y="213196"/>
                  <a:pt x="423490" y="206201"/>
                </a:cubicBezTo>
                <a:lnTo>
                  <a:pt x="427211" y="204043"/>
                </a:lnTo>
                <a:cubicBezTo>
                  <a:pt x="435843" y="199058"/>
                  <a:pt x="446931" y="202109"/>
                  <a:pt x="451768" y="210815"/>
                </a:cubicBezTo>
                <a:lnTo>
                  <a:pt x="468437" y="240729"/>
                </a:lnTo>
                <a:cubicBezTo>
                  <a:pt x="473050" y="249064"/>
                  <a:pt x="470371" y="259482"/>
                  <a:pt x="462335" y="264542"/>
                </a:cubicBezTo>
                <a:lnTo>
                  <a:pt x="458837" y="266700"/>
                </a:lnTo>
                <a:cubicBezTo>
                  <a:pt x="446782" y="274216"/>
                  <a:pt x="446782" y="296391"/>
                  <a:pt x="458837" y="303981"/>
                </a:cubicBezTo>
                <a:lnTo>
                  <a:pt x="462260" y="306139"/>
                </a:lnTo>
                <a:cubicBezTo>
                  <a:pt x="470297" y="311200"/>
                  <a:pt x="473050" y="321618"/>
                  <a:pt x="468437" y="329952"/>
                </a:cubicBezTo>
                <a:lnTo>
                  <a:pt x="451693" y="360015"/>
                </a:lnTo>
                <a:cubicBezTo>
                  <a:pt x="446856" y="368722"/>
                  <a:pt x="435769" y="371847"/>
                  <a:pt x="427137" y="366787"/>
                </a:cubicBezTo>
                <a:lnTo>
                  <a:pt x="423490" y="364629"/>
                </a:lnTo>
                <a:cubicBezTo>
                  <a:pt x="411287" y="357560"/>
                  <a:pt x="393353" y="367978"/>
                  <a:pt x="393353" y="382042"/>
                </a:cubicBezTo>
                <a:lnTo>
                  <a:pt x="393353" y="386581"/>
                </a:lnTo>
                <a:cubicBezTo>
                  <a:pt x="393353" y="396478"/>
                  <a:pt x="385390" y="404440"/>
                  <a:pt x="375493" y="404440"/>
                </a:cubicBezTo>
                <a:lnTo>
                  <a:pt x="339775" y="404440"/>
                </a:lnTo>
                <a:cubicBezTo>
                  <a:pt x="329878" y="404440"/>
                  <a:pt x="321915" y="396478"/>
                  <a:pt x="321915" y="386581"/>
                </a:cubicBezTo>
                <a:lnTo>
                  <a:pt x="321915" y="382191"/>
                </a:lnTo>
                <a:cubicBezTo>
                  <a:pt x="321915" y="368052"/>
                  <a:pt x="303907" y="357634"/>
                  <a:pt x="291629" y="364703"/>
                </a:cubicBezTo>
                <a:lnTo>
                  <a:pt x="288057" y="366787"/>
                </a:lnTo>
                <a:cubicBezTo>
                  <a:pt x="279425" y="371773"/>
                  <a:pt x="268412" y="368722"/>
                  <a:pt x="263500" y="360015"/>
                </a:cubicBezTo>
                <a:lnTo>
                  <a:pt x="246683" y="329952"/>
                </a:lnTo>
                <a:cubicBezTo>
                  <a:pt x="242069" y="321618"/>
                  <a:pt x="244748" y="311125"/>
                  <a:pt x="252859" y="306065"/>
                </a:cubicBezTo>
                <a:lnTo>
                  <a:pt x="256133" y="304056"/>
                </a:lnTo>
                <a:cubicBezTo>
                  <a:pt x="268263" y="296540"/>
                  <a:pt x="268263" y="274216"/>
                  <a:pt x="256133" y="266700"/>
                </a:cubicBezTo>
                <a:lnTo>
                  <a:pt x="252785" y="264616"/>
                </a:lnTo>
                <a:cubicBezTo>
                  <a:pt x="244673" y="259556"/>
                  <a:pt x="241995" y="249064"/>
                  <a:pt x="246608" y="240729"/>
                </a:cubicBezTo>
                <a:lnTo>
                  <a:pt x="263351" y="210741"/>
                </a:lnTo>
                <a:cubicBezTo>
                  <a:pt x="268188" y="202034"/>
                  <a:pt x="279276" y="198983"/>
                  <a:pt x="287834" y="203969"/>
                </a:cubicBezTo>
                <a:lnTo>
                  <a:pt x="291405" y="206053"/>
                </a:lnTo>
                <a:cubicBezTo>
                  <a:pt x="303684" y="213122"/>
                  <a:pt x="321692" y="202704"/>
                  <a:pt x="321692" y="188565"/>
                </a:cubicBezTo>
                <a:lnTo>
                  <a:pt x="321692" y="184175"/>
                </a:lnTo>
                <a:close/>
                <a:moveTo>
                  <a:pt x="396255" y="285601"/>
                </a:moveTo>
                <a:cubicBezTo>
                  <a:pt x="396255" y="264245"/>
                  <a:pt x="378916" y="246906"/>
                  <a:pt x="357560" y="246906"/>
                </a:cubicBezTo>
                <a:cubicBezTo>
                  <a:pt x="336203" y="246906"/>
                  <a:pt x="318864" y="264245"/>
                  <a:pt x="318864" y="285601"/>
                </a:cubicBezTo>
                <a:cubicBezTo>
                  <a:pt x="318864" y="306958"/>
                  <a:pt x="336203" y="324296"/>
                  <a:pt x="357560" y="324296"/>
                </a:cubicBezTo>
                <a:cubicBezTo>
                  <a:pt x="378916" y="324296"/>
                  <a:pt x="396255" y="306958"/>
                  <a:pt x="396255" y="285601"/>
                </a:cubicBezTo>
                <a:close/>
              </a:path>
            </a:pathLst>
          </a:custGeom>
          <a:solidFill>
            <a:srgbClr val="8C3023"/>
          </a:solidFill>
        </p:spPr>
      </p:sp>
      <p:sp>
        <p:nvSpPr>
          <p:cNvPr id="12" name="Text 10"/>
          <p:cNvSpPr/>
          <p:nvPr/>
        </p:nvSpPr>
        <p:spPr>
          <a:xfrm>
            <a:off x="5249267" y="2921000"/>
            <a:ext cx="19304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个性化训练计划</a:t>
            </a:r>
            <a:endParaRPr lang="en-US" sz="1600" dirty="0"/>
          </a:p>
        </p:txBody>
      </p:sp>
      <p:sp>
        <p:nvSpPr>
          <p:cNvPr id="13" name="Text 11"/>
          <p:cNvSpPr/>
          <p:nvPr/>
        </p:nvSpPr>
        <p:spPr>
          <a:xfrm>
            <a:off x="5249267" y="3225800"/>
            <a:ext cx="1930400" cy="254000"/>
          </a:xfrm>
          <a:prstGeom prst="rect">
            <a:avLst/>
          </a:prstGeom>
          <a:noFill/>
        </p:spPr>
        <p:txBody>
          <a:bodyPr wrap="square" lIns="0" tIns="0" rIns="0" bIns="0" rtlCol="0" anchor="ctr"/>
          <a:lstStyle/>
          <a:p>
            <a:pPr marL="0" indent="0">
              <a:lnSpc>
                <a:spcPct val="120000"/>
              </a:lnSpc>
              <a:buNone/>
            </a:pPr>
            <a:r>
              <a:rPr lang="en-US" sz="1400" dirty="0" err="1">
                <a:solidFill>
                  <a:srgbClr val="333333"/>
                </a:solidFill>
                <a:latin typeface="MiSans" pitchFamily="34" charset="-122"/>
                <a:ea typeface="MiSans" pitchFamily="34" charset="-122"/>
                <a:cs typeface="MiSans" pitchFamily="34" charset="-120"/>
              </a:rPr>
              <a:t>多种训练模板</a:t>
            </a:r>
            <a:endParaRPr lang="en-US" sz="1600" dirty="0"/>
          </a:p>
        </p:txBody>
      </p:sp>
      <p:sp>
        <p:nvSpPr>
          <p:cNvPr id="14" name="Shape 12"/>
          <p:cNvSpPr/>
          <p:nvPr/>
        </p:nvSpPr>
        <p:spPr>
          <a:xfrm>
            <a:off x="8212634" y="27178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15" name="Shape 13"/>
          <p:cNvSpPr/>
          <p:nvPr/>
        </p:nvSpPr>
        <p:spPr>
          <a:xfrm>
            <a:off x="8485684" y="3009900"/>
            <a:ext cx="476250" cy="381000"/>
          </a:xfrm>
          <a:custGeom>
            <a:avLst/>
            <a:gdLst/>
            <a:ahLst/>
            <a:cxnLst/>
            <a:rect l="l" t="t" r="r" b="b"/>
            <a:pathLst>
              <a:path w="476250" h="381000">
                <a:moveTo>
                  <a:pt x="95250" y="71438"/>
                </a:moveTo>
                <a:cubicBezTo>
                  <a:pt x="95250" y="45169"/>
                  <a:pt x="116607" y="23812"/>
                  <a:pt x="142875" y="23812"/>
                </a:cubicBezTo>
                <a:lnTo>
                  <a:pt x="404813" y="23812"/>
                </a:lnTo>
                <a:cubicBezTo>
                  <a:pt x="431081" y="23812"/>
                  <a:pt x="452438" y="45169"/>
                  <a:pt x="452438" y="71438"/>
                </a:cubicBezTo>
                <a:lnTo>
                  <a:pt x="452438" y="250031"/>
                </a:lnTo>
                <a:lnTo>
                  <a:pt x="381000" y="250031"/>
                </a:lnTo>
                <a:lnTo>
                  <a:pt x="381000" y="238125"/>
                </a:lnTo>
                <a:cubicBezTo>
                  <a:pt x="381000" y="224954"/>
                  <a:pt x="370359" y="214313"/>
                  <a:pt x="357188" y="214313"/>
                </a:cubicBezTo>
                <a:lnTo>
                  <a:pt x="309563" y="214313"/>
                </a:lnTo>
                <a:cubicBezTo>
                  <a:pt x="296391" y="214313"/>
                  <a:pt x="285750" y="224954"/>
                  <a:pt x="285750" y="238125"/>
                </a:cubicBezTo>
                <a:lnTo>
                  <a:pt x="285750" y="250031"/>
                </a:lnTo>
                <a:lnTo>
                  <a:pt x="189681" y="250031"/>
                </a:lnTo>
                <a:cubicBezTo>
                  <a:pt x="197793" y="236041"/>
                  <a:pt x="202406" y="219745"/>
                  <a:pt x="202406" y="202406"/>
                </a:cubicBezTo>
                <a:cubicBezTo>
                  <a:pt x="202406" y="149796"/>
                  <a:pt x="159767" y="107156"/>
                  <a:pt x="107156" y="107156"/>
                </a:cubicBezTo>
                <a:cubicBezTo>
                  <a:pt x="103138" y="107156"/>
                  <a:pt x="99120" y="107379"/>
                  <a:pt x="95250" y="107900"/>
                </a:cubicBezTo>
                <a:lnTo>
                  <a:pt x="95250" y="71438"/>
                </a:lnTo>
                <a:close/>
                <a:moveTo>
                  <a:pt x="247799" y="333375"/>
                </a:moveTo>
                <a:cubicBezTo>
                  <a:pt x="244004" y="315367"/>
                  <a:pt x="235669" y="299070"/>
                  <a:pt x="223912" y="285750"/>
                </a:cubicBezTo>
                <a:lnTo>
                  <a:pt x="452438" y="285750"/>
                </a:lnTo>
                <a:cubicBezTo>
                  <a:pt x="452438" y="312018"/>
                  <a:pt x="431081" y="333375"/>
                  <a:pt x="404813" y="333375"/>
                </a:cubicBezTo>
                <a:lnTo>
                  <a:pt x="247799" y="333375"/>
                </a:lnTo>
                <a:close/>
                <a:moveTo>
                  <a:pt x="47625" y="202406"/>
                </a:moveTo>
                <a:cubicBezTo>
                  <a:pt x="47625" y="169550"/>
                  <a:pt x="74300" y="142875"/>
                  <a:pt x="107156" y="142875"/>
                </a:cubicBezTo>
                <a:cubicBezTo>
                  <a:pt x="140012" y="142875"/>
                  <a:pt x="166688" y="169550"/>
                  <a:pt x="166688" y="202406"/>
                </a:cubicBezTo>
                <a:cubicBezTo>
                  <a:pt x="166688" y="235262"/>
                  <a:pt x="140012" y="261938"/>
                  <a:pt x="107156" y="261938"/>
                </a:cubicBezTo>
                <a:cubicBezTo>
                  <a:pt x="74300" y="261938"/>
                  <a:pt x="47625" y="235262"/>
                  <a:pt x="47625" y="202406"/>
                </a:cubicBezTo>
                <a:close/>
                <a:moveTo>
                  <a:pt x="0" y="357188"/>
                </a:moveTo>
                <a:cubicBezTo>
                  <a:pt x="0" y="317748"/>
                  <a:pt x="31998" y="285750"/>
                  <a:pt x="71438" y="285750"/>
                </a:cubicBezTo>
                <a:lnTo>
                  <a:pt x="142875" y="285750"/>
                </a:lnTo>
                <a:cubicBezTo>
                  <a:pt x="182314" y="285750"/>
                  <a:pt x="214313" y="317748"/>
                  <a:pt x="214313" y="357188"/>
                </a:cubicBezTo>
                <a:cubicBezTo>
                  <a:pt x="214313" y="370359"/>
                  <a:pt x="203671" y="381000"/>
                  <a:pt x="190500" y="381000"/>
                </a:cubicBezTo>
                <a:lnTo>
                  <a:pt x="23812" y="381000"/>
                </a:lnTo>
                <a:cubicBezTo>
                  <a:pt x="10641" y="381000"/>
                  <a:pt x="0" y="370359"/>
                  <a:pt x="0" y="357188"/>
                </a:cubicBezTo>
                <a:close/>
              </a:path>
            </a:pathLst>
          </a:custGeom>
          <a:solidFill>
            <a:srgbClr val="8C3023"/>
          </a:solidFill>
        </p:spPr>
      </p:sp>
      <p:sp>
        <p:nvSpPr>
          <p:cNvPr id="16" name="Text 14"/>
          <p:cNvSpPr/>
          <p:nvPr/>
        </p:nvSpPr>
        <p:spPr>
          <a:xfrm>
            <a:off x="9228634" y="2921000"/>
            <a:ext cx="21082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动作指导</a:t>
            </a:r>
            <a:endParaRPr lang="en-US" sz="1600" dirty="0"/>
          </a:p>
        </p:txBody>
      </p:sp>
      <p:sp>
        <p:nvSpPr>
          <p:cNvPr id="17" name="Text 15"/>
          <p:cNvSpPr/>
          <p:nvPr/>
        </p:nvSpPr>
        <p:spPr>
          <a:xfrm>
            <a:off x="9228634" y="3225800"/>
            <a:ext cx="2108200" cy="254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图文视频，专业安全</a:t>
            </a:r>
            <a:endParaRPr lang="en-US" sz="1600" dirty="0"/>
          </a:p>
        </p:txBody>
      </p:sp>
      <p:sp>
        <p:nvSpPr>
          <p:cNvPr id="18" name="Shape 16"/>
          <p:cNvSpPr/>
          <p:nvPr/>
        </p:nvSpPr>
        <p:spPr>
          <a:xfrm>
            <a:off x="254000" y="39370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19" name="Shape 17"/>
          <p:cNvSpPr/>
          <p:nvPr/>
        </p:nvSpPr>
        <p:spPr>
          <a:xfrm>
            <a:off x="574675" y="4229100"/>
            <a:ext cx="381000" cy="381000"/>
          </a:xfrm>
          <a:custGeom>
            <a:avLst/>
            <a:gdLst/>
            <a:ahLst/>
            <a:cxnLst/>
            <a:rect l="l" t="t" r="r" b="b"/>
            <a:pathLst>
              <a:path w="381000" h="381000">
                <a:moveTo>
                  <a:pt x="285750" y="142875"/>
                </a:moveTo>
                <a:cubicBezTo>
                  <a:pt x="325189" y="142875"/>
                  <a:pt x="357188" y="110877"/>
                  <a:pt x="357188" y="71438"/>
                </a:cubicBezTo>
                <a:cubicBezTo>
                  <a:pt x="357188" y="31998"/>
                  <a:pt x="325189" y="0"/>
                  <a:pt x="285750" y="0"/>
                </a:cubicBezTo>
                <a:cubicBezTo>
                  <a:pt x="246311" y="0"/>
                  <a:pt x="214313" y="31998"/>
                  <a:pt x="214313" y="71438"/>
                </a:cubicBezTo>
                <a:cubicBezTo>
                  <a:pt x="214313" y="75456"/>
                  <a:pt x="214685" y="79474"/>
                  <a:pt x="215280" y="83344"/>
                </a:cubicBezTo>
                <a:lnTo>
                  <a:pt x="118765" y="136996"/>
                </a:lnTo>
                <a:cubicBezTo>
                  <a:pt x="106189" y="125834"/>
                  <a:pt x="89595" y="119063"/>
                  <a:pt x="71438" y="119063"/>
                </a:cubicBezTo>
                <a:cubicBezTo>
                  <a:pt x="31998" y="119063"/>
                  <a:pt x="0" y="151061"/>
                  <a:pt x="0" y="190500"/>
                </a:cubicBezTo>
                <a:cubicBezTo>
                  <a:pt x="0" y="229939"/>
                  <a:pt x="31998" y="261938"/>
                  <a:pt x="71438" y="261938"/>
                </a:cubicBezTo>
                <a:cubicBezTo>
                  <a:pt x="89595" y="261938"/>
                  <a:pt x="106114" y="255166"/>
                  <a:pt x="118765" y="244004"/>
                </a:cubicBezTo>
                <a:lnTo>
                  <a:pt x="215280" y="297656"/>
                </a:lnTo>
                <a:cubicBezTo>
                  <a:pt x="214610" y="301526"/>
                  <a:pt x="214313" y="305470"/>
                  <a:pt x="214313" y="309563"/>
                </a:cubicBezTo>
                <a:cubicBezTo>
                  <a:pt x="214313" y="349002"/>
                  <a:pt x="246311" y="381000"/>
                  <a:pt x="285750" y="381000"/>
                </a:cubicBezTo>
                <a:cubicBezTo>
                  <a:pt x="325189" y="381000"/>
                  <a:pt x="357188" y="349002"/>
                  <a:pt x="357188" y="309563"/>
                </a:cubicBezTo>
                <a:cubicBezTo>
                  <a:pt x="357188" y="270123"/>
                  <a:pt x="325189" y="238125"/>
                  <a:pt x="285750" y="238125"/>
                </a:cubicBezTo>
                <a:cubicBezTo>
                  <a:pt x="267593" y="238125"/>
                  <a:pt x="251073" y="244897"/>
                  <a:pt x="238423" y="256059"/>
                </a:cubicBezTo>
                <a:lnTo>
                  <a:pt x="141908" y="202406"/>
                </a:lnTo>
                <a:cubicBezTo>
                  <a:pt x="142577" y="198537"/>
                  <a:pt x="142875" y="194593"/>
                  <a:pt x="142875" y="190500"/>
                </a:cubicBezTo>
                <a:cubicBezTo>
                  <a:pt x="142875" y="186407"/>
                  <a:pt x="142503" y="182463"/>
                  <a:pt x="141908" y="178594"/>
                </a:cubicBezTo>
                <a:lnTo>
                  <a:pt x="238423" y="124941"/>
                </a:lnTo>
                <a:cubicBezTo>
                  <a:pt x="250999" y="136103"/>
                  <a:pt x="267593" y="142875"/>
                  <a:pt x="285750" y="142875"/>
                </a:cubicBezTo>
                <a:close/>
              </a:path>
            </a:pathLst>
          </a:custGeom>
          <a:solidFill>
            <a:srgbClr val="8C3023"/>
          </a:solidFill>
        </p:spPr>
      </p:sp>
      <p:sp>
        <p:nvSpPr>
          <p:cNvPr id="20" name="Text 18"/>
          <p:cNvSpPr/>
          <p:nvPr/>
        </p:nvSpPr>
        <p:spPr>
          <a:xfrm>
            <a:off x="1270000" y="4140200"/>
            <a:ext cx="21082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社交分享</a:t>
            </a:r>
            <a:endParaRPr lang="en-US" sz="1600" dirty="0"/>
          </a:p>
        </p:txBody>
      </p:sp>
      <p:sp>
        <p:nvSpPr>
          <p:cNvPr id="21" name="Text 19"/>
          <p:cNvSpPr/>
          <p:nvPr/>
        </p:nvSpPr>
        <p:spPr>
          <a:xfrm>
            <a:off x="1270000" y="4445000"/>
            <a:ext cx="2108200" cy="254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分享成果，互相激励</a:t>
            </a:r>
            <a:endParaRPr lang="en-US" sz="1600" dirty="0"/>
          </a:p>
        </p:txBody>
      </p:sp>
      <p:sp>
        <p:nvSpPr>
          <p:cNvPr id="22" name="Shape 20"/>
          <p:cNvSpPr/>
          <p:nvPr/>
        </p:nvSpPr>
        <p:spPr>
          <a:xfrm>
            <a:off x="4233267" y="39370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23" name="Shape 21"/>
          <p:cNvSpPr/>
          <p:nvPr/>
        </p:nvSpPr>
        <p:spPr>
          <a:xfrm>
            <a:off x="4577755" y="4229100"/>
            <a:ext cx="333375" cy="381000"/>
          </a:xfrm>
          <a:custGeom>
            <a:avLst/>
            <a:gdLst/>
            <a:ahLst/>
            <a:cxnLst/>
            <a:rect l="l" t="t" r="r" b="b"/>
            <a:pathLst>
              <a:path w="333375" h="381000">
                <a:moveTo>
                  <a:pt x="166688" y="83344"/>
                </a:moveTo>
                <a:cubicBezTo>
                  <a:pt x="160139" y="83344"/>
                  <a:pt x="154781" y="77986"/>
                  <a:pt x="154781" y="71438"/>
                </a:cubicBezTo>
                <a:lnTo>
                  <a:pt x="154781" y="59531"/>
                </a:lnTo>
                <a:cubicBezTo>
                  <a:pt x="154781" y="26640"/>
                  <a:pt x="181421" y="0"/>
                  <a:pt x="214313" y="0"/>
                </a:cubicBezTo>
                <a:lnTo>
                  <a:pt x="226219" y="0"/>
                </a:lnTo>
                <a:cubicBezTo>
                  <a:pt x="232767" y="0"/>
                  <a:pt x="238125" y="5358"/>
                  <a:pt x="238125" y="11906"/>
                </a:cubicBezTo>
                <a:lnTo>
                  <a:pt x="238125" y="23812"/>
                </a:lnTo>
                <a:cubicBezTo>
                  <a:pt x="238125" y="56704"/>
                  <a:pt x="211485" y="83344"/>
                  <a:pt x="178594" y="83344"/>
                </a:cubicBezTo>
                <a:lnTo>
                  <a:pt x="166688" y="83344"/>
                </a:lnTo>
                <a:close/>
                <a:moveTo>
                  <a:pt x="0" y="214313"/>
                </a:moveTo>
                <a:cubicBezTo>
                  <a:pt x="0" y="157535"/>
                  <a:pt x="26566" y="95250"/>
                  <a:pt x="83344" y="95250"/>
                </a:cubicBezTo>
                <a:cubicBezTo>
                  <a:pt x="103659" y="95250"/>
                  <a:pt x="127769" y="102915"/>
                  <a:pt x="144884" y="109612"/>
                </a:cubicBezTo>
                <a:cubicBezTo>
                  <a:pt x="158874" y="115044"/>
                  <a:pt x="174575" y="115044"/>
                  <a:pt x="188565" y="109612"/>
                </a:cubicBezTo>
                <a:cubicBezTo>
                  <a:pt x="205606" y="102989"/>
                  <a:pt x="229791" y="95250"/>
                  <a:pt x="250106" y="95250"/>
                </a:cubicBezTo>
                <a:cubicBezTo>
                  <a:pt x="306884" y="95250"/>
                  <a:pt x="333449" y="157535"/>
                  <a:pt x="333449" y="214313"/>
                </a:cubicBezTo>
                <a:cubicBezTo>
                  <a:pt x="333449" y="309563"/>
                  <a:pt x="273918" y="381000"/>
                  <a:pt x="214387" y="381000"/>
                </a:cubicBezTo>
                <a:cubicBezTo>
                  <a:pt x="202109" y="381000"/>
                  <a:pt x="186035" y="376089"/>
                  <a:pt x="176064" y="372591"/>
                </a:cubicBezTo>
                <a:cubicBezTo>
                  <a:pt x="170036" y="370508"/>
                  <a:pt x="163488" y="370508"/>
                  <a:pt x="157460" y="372591"/>
                </a:cubicBezTo>
                <a:cubicBezTo>
                  <a:pt x="147489" y="376089"/>
                  <a:pt x="131415" y="381000"/>
                  <a:pt x="119137" y="381000"/>
                </a:cubicBezTo>
                <a:cubicBezTo>
                  <a:pt x="59606" y="381000"/>
                  <a:pt x="74" y="309563"/>
                  <a:pt x="74" y="214313"/>
                </a:cubicBezTo>
                <a:close/>
              </a:path>
            </a:pathLst>
          </a:custGeom>
          <a:solidFill>
            <a:srgbClr val="8C3023"/>
          </a:solidFill>
        </p:spPr>
      </p:sp>
      <p:sp>
        <p:nvSpPr>
          <p:cNvPr id="24" name="Text 22"/>
          <p:cNvSpPr/>
          <p:nvPr/>
        </p:nvSpPr>
        <p:spPr>
          <a:xfrm>
            <a:off x="5249267" y="4140200"/>
            <a:ext cx="21082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营养建议</a:t>
            </a:r>
            <a:endParaRPr lang="en-US" sz="1600" dirty="0"/>
          </a:p>
        </p:txBody>
      </p:sp>
      <p:sp>
        <p:nvSpPr>
          <p:cNvPr id="25" name="Text 23"/>
          <p:cNvSpPr/>
          <p:nvPr/>
        </p:nvSpPr>
        <p:spPr>
          <a:xfrm>
            <a:off x="5249267" y="4445000"/>
            <a:ext cx="2108200" cy="254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智能推荐，均衡膳食</a:t>
            </a:r>
            <a:endParaRPr lang="en-US" sz="1600" dirty="0"/>
          </a:p>
        </p:txBody>
      </p:sp>
      <p:sp>
        <p:nvSpPr>
          <p:cNvPr id="26" name="Shape 24"/>
          <p:cNvSpPr/>
          <p:nvPr/>
        </p:nvSpPr>
        <p:spPr>
          <a:xfrm>
            <a:off x="8212634" y="3937000"/>
            <a:ext cx="3721100" cy="965200"/>
          </a:xfrm>
          <a:custGeom>
            <a:avLst/>
            <a:gdLst/>
            <a:ahLst/>
            <a:cxnLst/>
            <a:rect l="l" t="t" r="r" b="b"/>
            <a:pathLst>
              <a:path w="3721100" h="965200">
                <a:moveTo>
                  <a:pt x="101597" y="0"/>
                </a:moveTo>
                <a:lnTo>
                  <a:pt x="3619503" y="0"/>
                </a:lnTo>
                <a:cubicBezTo>
                  <a:pt x="3675613" y="0"/>
                  <a:pt x="3721100" y="45487"/>
                  <a:pt x="3721100" y="101597"/>
                </a:cubicBezTo>
                <a:lnTo>
                  <a:pt x="3721100" y="863603"/>
                </a:lnTo>
                <a:cubicBezTo>
                  <a:pt x="3721100" y="919713"/>
                  <a:pt x="3675613" y="965200"/>
                  <a:pt x="3619503" y="965200"/>
                </a:cubicBezTo>
                <a:lnTo>
                  <a:pt x="101597" y="965200"/>
                </a:lnTo>
                <a:cubicBezTo>
                  <a:pt x="45487" y="965200"/>
                  <a:pt x="0" y="919713"/>
                  <a:pt x="0" y="863603"/>
                </a:cubicBezTo>
                <a:lnTo>
                  <a:pt x="0" y="101597"/>
                </a:lnTo>
                <a:cubicBezTo>
                  <a:pt x="0" y="45487"/>
                  <a:pt x="45487" y="0"/>
                  <a:pt x="101597" y="0"/>
                </a:cubicBezTo>
                <a:close/>
              </a:path>
            </a:pathLst>
          </a:custGeom>
          <a:solidFill>
            <a:srgbClr val="D1BBA2">
              <a:alpha val="30196"/>
            </a:srgbClr>
          </a:solidFill>
        </p:spPr>
      </p:sp>
      <p:sp>
        <p:nvSpPr>
          <p:cNvPr id="27" name="Shape 25"/>
          <p:cNvSpPr/>
          <p:nvPr/>
        </p:nvSpPr>
        <p:spPr>
          <a:xfrm>
            <a:off x="8533309" y="4229100"/>
            <a:ext cx="381000" cy="381000"/>
          </a:xfrm>
          <a:custGeom>
            <a:avLst/>
            <a:gdLst/>
            <a:ahLst/>
            <a:cxnLst/>
            <a:rect l="l" t="t" r="r" b="b"/>
            <a:pathLst>
              <a:path w="381000" h="381000">
                <a:moveTo>
                  <a:pt x="107379" y="0"/>
                </a:moveTo>
                <a:lnTo>
                  <a:pt x="274067" y="0"/>
                </a:lnTo>
                <a:cubicBezTo>
                  <a:pt x="293787" y="0"/>
                  <a:pt x="309860" y="16222"/>
                  <a:pt x="309116" y="35868"/>
                </a:cubicBezTo>
                <a:cubicBezTo>
                  <a:pt x="308967" y="39812"/>
                  <a:pt x="308818" y="43755"/>
                  <a:pt x="308595" y="47625"/>
                </a:cubicBezTo>
                <a:lnTo>
                  <a:pt x="345504" y="47625"/>
                </a:lnTo>
                <a:cubicBezTo>
                  <a:pt x="364927" y="47625"/>
                  <a:pt x="382042" y="63698"/>
                  <a:pt x="380554" y="84683"/>
                </a:cubicBezTo>
                <a:cubicBezTo>
                  <a:pt x="374972" y="161851"/>
                  <a:pt x="335533" y="204267"/>
                  <a:pt x="292745" y="226442"/>
                </a:cubicBezTo>
                <a:cubicBezTo>
                  <a:pt x="280988" y="232544"/>
                  <a:pt x="269007" y="237083"/>
                  <a:pt x="257621" y="240432"/>
                </a:cubicBezTo>
                <a:cubicBezTo>
                  <a:pt x="242590" y="261714"/>
                  <a:pt x="226963" y="272951"/>
                  <a:pt x="214536" y="278978"/>
                </a:cubicBezTo>
                <a:lnTo>
                  <a:pt x="214536" y="333375"/>
                </a:lnTo>
                <a:lnTo>
                  <a:pt x="262161" y="333375"/>
                </a:lnTo>
                <a:cubicBezTo>
                  <a:pt x="275332" y="333375"/>
                  <a:pt x="285973" y="344016"/>
                  <a:pt x="285973" y="357188"/>
                </a:cubicBezTo>
                <a:cubicBezTo>
                  <a:pt x="285973" y="370359"/>
                  <a:pt x="275332" y="381000"/>
                  <a:pt x="262161" y="381000"/>
                </a:cubicBezTo>
                <a:lnTo>
                  <a:pt x="119286" y="381000"/>
                </a:lnTo>
                <a:cubicBezTo>
                  <a:pt x="106114" y="381000"/>
                  <a:pt x="95473" y="370359"/>
                  <a:pt x="95473" y="357188"/>
                </a:cubicBezTo>
                <a:cubicBezTo>
                  <a:pt x="95473" y="344016"/>
                  <a:pt x="106114" y="333375"/>
                  <a:pt x="119286" y="333375"/>
                </a:cubicBezTo>
                <a:lnTo>
                  <a:pt x="166911" y="333375"/>
                </a:lnTo>
                <a:lnTo>
                  <a:pt x="166911" y="278978"/>
                </a:lnTo>
                <a:cubicBezTo>
                  <a:pt x="155004" y="273248"/>
                  <a:pt x="140196" y="262607"/>
                  <a:pt x="125760" y="243036"/>
                </a:cubicBezTo>
                <a:cubicBezTo>
                  <a:pt x="112068" y="239464"/>
                  <a:pt x="97185" y="234032"/>
                  <a:pt x="82674" y="225847"/>
                </a:cubicBezTo>
                <a:cubicBezTo>
                  <a:pt x="42416" y="203299"/>
                  <a:pt x="6102" y="160809"/>
                  <a:pt x="893" y="84534"/>
                </a:cubicBezTo>
                <a:cubicBezTo>
                  <a:pt x="-521" y="63624"/>
                  <a:pt x="16520" y="47551"/>
                  <a:pt x="35942" y="47551"/>
                </a:cubicBezTo>
                <a:lnTo>
                  <a:pt x="72851" y="47551"/>
                </a:lnTo>
                <a:cubicBezTo>
                  <a:pt x="72628" y="43681"/>
                  <a:pt x="72479" y="39812"/>
                  <a:pt x="72330" y="35793"/>
                </a:cubicBezTo>
                <a:cubicBezTo>
                  <a:pt x="71586" y="16073"/>
                  <a:pt x="87660" y="-74"/>
                  <a:pt x="107379" y="-74"/>
                </a:cubicBezTo>
                <a:close/>
                <a:moveTo>
                  <a:pt x="75530" y="83344"/>
                </a:moveTo>
                <a:lnTo>
                  <a:pt x="36537" y="83344"/>
                </a:lnTo>
                <a:cubicBezTo>
                  <a:pt x="41151" y="146372"/>
                  <a:pt x="70098" y="177924"/>
                  <a:pt x="99938" y="194667"/>
                </a:cubicBezTo>
                <a:cubicBezTo>
                  <a:pt x="89222" y="166911"/>
                  <a:pt x="80367" y="130671"/>
                  <a:pt x="75530" y="83344"/>
                </a:cubicBezTo>
                <a:close/>
                <a:moveTo>
                  <a:pt x="282773" y="191095"/>
                </a:moveTo>
                <a:cubicBezTo>
                  <a:pt x="312911" y="173385"/>
                  <a:pt x="340147" y="141908"/>
                  <a:pt x="344760" y="83344"/>
                </a:cubicBezTo>
                <a:lnTo>
                  <a:pt x="305842" y="83344"/>
                </a:lnTo>
                <a:cubicBezTo>
                  <a:pt x="301228" y="128662"/>
                  <a:pt x="292894" y="163860"/>
                  <a:pt x="282773" y="191095"/>
                </a:cubicBezTo>
                <a:close/>
              </a:path>
            </a:pathLst>
          </a:custGeom>
          <a:solidFill>
            <a:srgbClr val="8C3023"/>
          </a:solidFill>
        </p:spPr>
      </p:sp>
      <p:sp>
        <p:nvSpPr>
          <p:cNvPr id="28" name="Text 26"/>
          <p:cNvSpPr/>
          <p:nvPr/>
        </p:nvSpPr>
        <p:spPr>
          <a:xfrm>
            <a:off x="9228634" y="4140200"/>
            <a:ext cx="2286000" cy="304800"/>
          </a:xfrm>
          <a:prstGeom prst="rect">
            <a:avLst/>
          </a:prstGeom>
          <a:noFill/>
        </p:spPr>
        <p:txBody>
          <a:bodyPr wrap="square" lIns="0" tIns="0" rIns="0" bIns="0" rtlCol="0" anchor="ctr"/>
          <a:lstStyle/>
          <a:p>
            <a:pPr marL="0" indent="0">
              <a:lnSpc>
                <a:spcPct val="130000"/>
              </a:lnSpc>
              <a:buNone/>
            </a:pPr>
            <a:r>
              <a:rPr lang="en-US" sz="1600" dirty="0">
                <a:solidFill>
                  <a:srgbClr val="8C3023"/>
                </a:solidFill>
                <a:latin typeface="MiSans" pitchFamily="34" charset="-122"/>
                <a:ea typeface="MiSans" pitchFamily="34" charset="-122"/>
                <a:cs typeface="MiSans" pitchFamily="34" charset="-120"/>
              </a:rPr>
              <a:t>挑战与成就</a:t>
            </a:r>
            <a:endParaRPr lang="en-US" sz="1600" dirty="0"/>
          </a:p>
        </p:txBody>
      </p:sp>
      <p:sp>
        <p:nvSpPr>
          <p:cNvPr id="29" name="Text 27"/>
          <p:cNvSpPr/>
          <p:nvPr/>
        </p:nvSpPr>
        <p:spPr>
          <a:xfrm>
            <a:off x="9228634" y="4445000"/>
            <a:ext cx="2286000" cy="254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游戏化设计，持续激励</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230091" cy="6871516"/>
          </a:xfrm>
          <a:prstGeom prst="rect">
            <a:avLst/>
          </a:prstGeom>
          <a:solidFill>
            <a:srgbClr val="93280F"/>
          </a:solidFill>
        </p:spPr>
      </p:sp>
      <p:sp>
        <p:nvSpPr>
          <p:cNvPr id="3" name="Text 1"/>
          <p:cNvSpPr/>
          <p:nvPr/>
        </p:nvSpPr>
        <p:spPr>
          <a:xfrm>
            <a:off x="0" y="1"/>
            <a:ext cx="12230091" cy="6871516"/>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img.moonshot.cn/pub/slides/slides_tmpl/image/25-10-13-16:02:24-d3mb440s8jdo4os5f0d0.png"/>
          <p:cNvPicPr>
            <a:picLocks noChangeAspect="1"/>
          </p:cNvPicPr>
          <p:nvPr/>
        </p:nvPicPr>
        <p:blipFill>
          <a:blip r:embed="rId3"/>
          <a:stretch>
            <a:fillRect/>
          </a:stretch>
        </p:blipFill>
        <p:spPr>
          <a:xfrm>
            <a:off x="3175" y="-13335"/>
            <a:ext cx="12226925" cy="6871335"/>
          </a:xfrm>
          <a:prstGeom prst="rect">
            <a:avLst/>
          </a:prstGeom>
        </p:spPr>
      </p:pic>
      <p:sp>
        <p:nvSpPr>
          <p:cNvPr id="5" name="Text 2"/>
          <p:cNvSpPr/>
          <p:nvPr/>
        </p:nvSpPr>
        <p:spPr>
          <a:xfrm>
            <a:off x="4036613" y="3064798"/>
            <a:ext cx="8723425" cy="736600"/>
          </a:xfrm>
          <a:prstGeom prst="rect">
            <a:avLst/>
          </a:prstGeom>
          <a:noFill/>
        </p:spPr>
        <p:txBody>
          <a:bodyPr wrap="square" lIns="25400" tIns="25400" rIns="25400" bIns="25400" rtlCol="0" anchor="ctr">
            <a:spAutoFit/>
          </a:bodyPr>
          <a:lstStyle/>
          <a:p>
            <a:pPr marL="0" indent="0" algn="l">
              <a:lnSpc>
                <a:spcPct val="100000"/>
              </a:lnSpc>
              <a:buNone/>
            </a:pPr>
            <a:r>
              <a:rPr lang="en-US" sz="44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市场纵深洞察</a:t>
            </a:r>
            <a:endParaRPr lang="en-US" sz="1600" b="1" dirty="0"/>
          </a:p>
        </p:txBody>
      </p:sp>
      <p:sp>
        <p:nvSpPr>
          <p:cNvPr id="6" name="Text 3"/>
          <p:cNvSpPr/>
          <p:nvPr/>
        </p:nvSpPr>
        <p:spPr>
          <a:xfrm>
            <a:off x="537341" y="2321510"/>
            <a:ext cx="2571347" cy="2359620"/>
          </a:xfrm>
          <a:prstGeom prst="rect">
            <a:avLst/>
          </a:prstGeom>
          <a:noFill/>
        </p:spPr>
        <p:txBody>
          <a:bodyPr wrap="square" lIns="25400" tIns="25400" rIns="25400" bIns="25400" rtlCol="0" anchor="ctr">
            <a:spAutoFit/>
          </a:bodyPr>
          <a:lstStyle/>
          <a:p>
            <a:pPr marL="0" indent="0" algn="l">
              <a:lnSpc>
                <a:spcPct val="100000"/>
              </a:lnSpc>
              <a:buNone/>
            </a:pPr>
            <a:r>
              <a:rPr lang="en-US"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0</a:t>
            </a:r>
            <a:r>
              <a:rPr lang="en-US" altLang="zh-CN"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3</a:t>
            </a:r>
            <a:endParaRPr lang="en-US" sz="1600" dirty="0"/>
          </a:p>
        </p:txBody>
      </p:sp>
      <p:pic>
        <p:nvPicPr>
          <p:cNvPr id="7" name="Image 1" descr="https://kimi-img.moonshot.cn/pub/slides/slides_tmpl/image/25-10-13-16:02:24-d3mb440s8jdo4os5f0bg.png"/>
          <p:cNvPicPr>
            <a:picLocks noChangeAspect="1"/>
          </p:cNvPicPr>
          <p:nvPr/>
        </p:nvPicPr>
        <p:blipFill>
          <a:blip r:embed="rId4"/>
          <a:stretch>
            <a:fillRect/>
          </a:stretch>
        </p:blipFill>
        <p:spPr>
          <a:xfrm>
            <a:off x="10918055" y="843185"/>
            <a:ext cx="628927" cy="1213328"/>
          </a:xfrm>
          <a:prstGeom prst="rect">
            <a:avLst/>
          </a:prstGeom>
        </p:spPr>
      </p:pic>
      <p:pic>
        <p:nvPicPr>
          <p:cNvPr id="8" name="Image 2" descr="https://kimi-img.moonshot.cn/pub/slides/slides_tmpl/image/25-10-13-16:02:24-d3mb440s8jdo4os5f0bg.png"/>
          <p:cNvPicPr>
            <a:picLocks noChangeAspect="1"/>
          </p:cNvPicPr>
          <p:nvPr/>
        </p:nvPicPr>
        <p:blipFill>
          <a:blip r:embed="rId4"/>
          <a:stretch>
            <a:fillRect/>
          </a:stretch>
        </p:blipFill>
        <p:spPr>
          <a:xfrm>
            <a:off x="10364463" y="1314825"/>
            <a:ext cx="384453" cy="741689"/>
          </a:xfrm>
          <a:prstGeom prst="rect">
            <a:avLst/>
          </a:prstGeom>
        </p:spPr>
      </p:pic>
      <p:pic>
        <p:nvPicPr>
          <p:cNvPr id="9" name="Image 3" descr="https://kimi-img.moonshot.cn/pub/slides/slides_tmpl/image/25-10-13-16:02:24-d3mb440s8jdo4os5f0c0.png"/>
          <p:cNvPicPr>
            <a:picLocks noChangeAspect="1"/>
          </p:cNvPicPr>
          <p:nvPr/>
        </p:nvPicPr>
        <p:blipFill>
          <a:blip r:embed="rId5"/>
          <a:stretch>
            <a:fillRect/>
          </a:stretch>
        </p:blipFill>
        <p:spPr>
          <a:xfrm>
            <a:off x="9485266" y="4801487"/>
            <a:ext cx="2527300" cy="30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635" y="0"/>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254000" y="1168400"/>
            <a:ext cx="12192000" cy="508000"/>
          </a:xfrm>
          <a:prstGeom prst="rect">
            <a:avLst/>
          </a:prstGeom>
          <a:noFill/>
        </p:spPr>
        <p:txBody>
          <a:bodyPr wrap="square" lIns="0" tIns="0" rIns="0" bIns="0" rtlCol="0" anchor="ctr"/>
          <a:lstStyle/>
          <a:p>
            <a:pPr marL="0" indent="0">
              <a:lnSpc>
                <a:spcPct val="90000"/>
              </a:lnSpc>
              <a:buNone/>
            </a:pPr>
            <a:r>
              <a:rPr 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健身人口红利：渗透率与增速双高</a:t>
            </a:r>
            <a:endParaRPr lang="en-US" sz="1600" dirty="0"/>
          </a:p>
        </p:txBody>
      </p:sp>
      <p:sp>
        <p:nvSpPr>
          <p:cNvPr id="5" name="Text 3"/>
          <p:cNvSpPr/>
          <p:nvPr/>
        </p:nvSpPr>
        <p:spPr>
          <a:xfrm>
            <a:off x="254000" y="1879600"/>
            <a:ext cx="12192000" cy="355600"/>
          </a:xfrm>
          <a:prstGeom prst="rect">
            <a:avLst/>
          </a:prstGeom>
          <a:noFill/>
        </p:spPr>
        <p:txBody>
          <a:bodyPr wrap="square" lIns="0" tIns="0" rIns="0" bIns="0" rtlCol="0" anchor="ctr"/>
          <a:lstStyle/>
          <a:p>
            <a:pPr marL="0" indent="0">
              <a:lnSpc>
                <a:spcPct val="130000"/>
              </a:lnSpc>
              <a:buNone/>
            </a:pPr>
            <a:r>
              <a:rPr lang="en-US" sz="1800" dirty="0">
                <a:solidFill>
                  <a:srgbClr val="3B4E6B"/>
                </a:solidFill>
                <a:latin typeface="MiSans" pitchFamily="34" charset="-122"/>
                <a:ea typeface="MiSans" pitchFamily="34" charset="-122"/>
                <a:cs typeface="MiSans" pitchFamily="34" charset="-120"/>
              </a:rPr>
              <a:t>个性化智能训练是下一轮付费升级主引擎</a:t>
            </a:r>
            <a:endParaRPr lang="en-US" sz="1600" dirty="0"/>
          </a:p>
        </p:txBody>
      </p:sp>
      <p:sp>
        <p:nvSpPr>
          <p:cNvPr id="6" name="Text 4"/>
          <p:cNvSpPr/>
          <p:nvPr/>
        </p:nvSpPr>
        <p:spPr>
          <a:xfrm>
            <a:off x="920750" y="2971800"/>
            <a:ext cx="2641600" cy="762000"/>
          </a:xfrm>
          <a:prstGeom prst="rect">
            <a:avLst/>
          </a:prstGeom>
          <a:noFill/>
        </p:spPr>
        <p:txBody>
          <a:bodyPr wrap="square" lIns="0" tIns="0" rIns="0" bIns="0" rtlCol="0" anchor="ctr"/>
          <a:lstStyle/>
          <a:p>
            <a:pPr marL="0" indent="0" algn="ctr">
              <a:lnSpc>
                <a:spcPct val="80000"/>
              </a:lnSpc>
              <a:buNone/>
            </a:pPr>
            <a:r>
              <a:rPr lang="en-US" altLang="zh-CN" sz="6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5</a:t>
            </a:r>
            <a:r>
              <a:rPr lang="en-US" sz="6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亿+</a:t>
            </a:r>
            <a:endParaRPr lang="en-US" sz="1600" dirty="0"/>
          </a:p>
        </p:txBody>
      </p:sp>
      <p:sp>
        <p:nvSpPr>
          <p:cNvPr id="7" name="Text 5"/>
          <p:cNvSpPr/>
          <p:nvPr/>
        </p:nvSpPr>
        <p:spPr>
          <a:xfrm>
            <a:off x="920750" y="3835400"/>
            <a:ext cx="2641600" cy="355600"/>
          </a:xfrm>
          <a:prstGeom prst="rect">
            <a:avLst/>
          </a:prstGeom>
          <a:noFill/>
        </p:spPr>
        <p:txBody>
          <a:bodyPr wrap="square" lIns="0" tIns="0" rIns="0" bIns="0" rtlCol="0" anchor="ctr"/>
          <a:lstStyle/>
          <a:p>
            <a:pPr marL="0" indent="0" algn="ctr">
              <a:lnSpc>
                <a:spcPct val="130000"/>
              </a:lnSpc>
              <a:buNone/>
            </a:pPr>
            <a:r>
              <a:rPr lang="en-US" sz="1800" dirty="0">
                <a:solidFill>
                  <a:srgbClr val="333333"/>
                </a:solidFill>
                <a:latin typeface="MiSans" pitchFamily="34" charset="-122"/>
                <a:ea typeface="MiSans" pitchFamily="34" charset="-122"/>
                <a:cs typeface="MiSans" pitchFamily="34" charset="-120"/>
              </a:rPr>
              <a:t>经常锻炼人口 (202</a:t>
            </a:r>
            <a:r>
              <a:rPr lang="en-US" altLang="zh-CN" sz="1800" dirty="0">
                <a:solidFill>
                  <a:srgbClr val="333333"/>
                </a:solidFill>
                <a:latin typeface="MiSans" pitchFamily="34" charset="-122"/>
                <a:ea typeface="MiSans" pitchFamily="34" charset="-122"/>
                <a:cs typeface="MiSans" pitchFamily="34" charset="-120"/>
              </a:rPr>
              <a:t>5</a:t>
            </a:r>
            <a:r>
              <a:rPr lang="en-US" sz="1800" dirty="0">
                <a:solidFill>
                  <a:srgbClr val="333333"/>
                </a:solidFill>
                <a:latin typeface="MiSans" pitchFamily="34" charset="-122"/>
                <a:ea typeface="MiSans" pitchFamily="34" charset="-122"/>
                <a:cs typeface="MiSans" pitchFamily="34" charset="-120"/>
              </a:rPr>
              <a:t>)</a:t>
            </a:r>
            <a:endParaRPr lang="en-US" sz="1600" dirty="0"/>
          </a:p>
        </p:txBody>
      </p:sp>
      <p:sp>
        <p:nvSpPr>
          <p:cNvPr id="8" name="Text 6"/>
          <p:cNvSpPr/>
          <p:nvPr/>
        </p:nvSpPr>
        <p:spPr>
          <a:xfrm>
            <a:off x="4893370" y="2971800"/>
            <a:ext cx="2019300" cy="762000"/>
          </a:xfrm>
          <a:prstGeom prst="rect">
            <a:avLst/>
          </a:prstGeom>
          <a:noFill/>
        </p:spPr>
        <p:txBody>
          <a:bodyPr wrap="square" lIns="0" tIns="0" rIns="0" bIns="0" rtlCol="0" anchor="ctr"/>
          <a:lstStyle/>
          <a:p>
            <a:pPr marL="0" indent="0" algn="ctr">
              <a:lnSpc>
                <a:spcPct val="80000"/>
              </a:lnSpc>
              <a:buNone/>
            </a:pPr>
            <a:r>
              <a:rPr lang="en-US" sz="6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1</a:t>
            </a:r>
            <a:r>
              <a:rPr lang="en-US" altLang="zh-CN" sz="6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.3</a:t>
            </a:r>
            <a:r>
              <a:rPr lang="en-US" sz="6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9" name="Text 7"/>
          <p:cNvSpPr/>
          <p:nvPr/>
        </p:nvSpPr>
        <p:spPr>
          <a:xfrm>
            <a:off x="4893370" y="3835400"/>
            <a:ext cx="2019300" cy="355600"/>
          </a:xfrm>
          <a:prstGeom prst="rect">
            <a:avLst/>
          </a:prstGeom>
          <a:noFill/>
        </p:spPr>
        <p:txBody>
          <a:bodyPr wrap="square" lIns="0" tIns="0" rIns="0" bIns="0" rtlCol="0" anchor="ctr"/>
          <a:lstStyle/>
          <a:p>
            <a:pPr marL="0" indent="0" algn="ctr">
              <a:lnSpc>
                <a:spcPct val="130000"/>
              </a:lnSpc>
              <a:buNone/>
            </a:pPr>
            <a:r>
              <a:rPr lang="en-US" dirty="0" err="1">
                <a:solidFill>
                  <a:srgbClr val="333333"/>
                </a:solidFill>
                <a:latin typeface="MiSans" pitchFamily="34" charset="-122"/>
                <a:ea typeface="MiSans" pitchFamily="34" charset="-122"/>
              </a:rPr>
              <a:t>距</a:t>
            </a:r>
            <a:r>
              <a:rPr lang="zh-CN" altLang="en-US" dirty="0">
                <a:solidFill>
                  <a:srgbClr val="333333"/>
                </a:solidFill>
                <a:latin typeface="MiSans" pitchFamily="34" charset="-122"/>
                <a:ea typeface="MiSans" pitchFamily="34" charset="-122"/>
              </a:rPr>
              <a:t> </a:t>
            </a:r>
            <a:r>
              <a:rPr lang="en-US" altLang="zh-CN" dirty="0">
                <a:solidFill>
                  <a:srgbClr val="333333"/>
                </a:solidFill>
                <a:latin typeface="MiSans" pitchFamily="34" charset="-122"/>
                <a:ea typeface="MiSans" pitchFamily="34" charset="-122"/>
              </a:rPr>
              <a:t>2020 </a:t>
            </a:r>
            <a:r>
              <a:rPr lang="zh-CN" altLang="en-US" dirty="0">
                <a:solidFill>
                  <a:srgbClr val="333333"/>
                </a:solidFill>
                <a:latin typeface="MiSans" pitchFamily="34" charset="-122"/>
                <a:ea typeface="MiSans" pitchFamily="34" charset="-122"/>
              </a:rPr>
              <a:t>年增加</a:t>
            </a:r>
            <a:endParaRPr lang="en-US" sz="1600" dirty="0"/>
          </a:p>
        </p:txBody>
      </p:sp>
      <p:sp>
        <p:nvSpPr>
          <p:cNvPr id="10" name="Text 8"/>
          <p:cNvSpPr/>
          <p:nvPr/>
        </p:nvSpPr>
        <p:spPr>
          <a:xfrm>
            <a:off x="8248452" y="2844800"/>
            <a:ext cx="3022600" cy="762000"/>
          </a:xfrm>
          <a:prstGeom prst="rect">
            <a:avLst/>
          </a:prstGeom>
          <a:noFill/>
        </p:spPr>
        <p:txBody>
          <a:bodyPr wrap="square" lIns="0" tIns="0" rIns="0" bIns="0" rtlCol="0" anchor="ctr"/>
          <a:lstStyle/>
          <a:p>
            <a:pPr marL="0" indent="0" algn="ctr">
              <a:lnSpc>
                <a:spcPct val="80000"/>
              </a:lnSpc>
              <a:buNone/>
            </a:pPr>
            <a:r>
              <a:rPr lang="en-US" sz="6000" dirty="0">
                <a:solidFill>
                  <a:srgbClr val="3B4E6B"/>
                </a:solidFill>
                <a:latin typeface="Noto Sans SC" panose="020B0200000000000000" pitchFamily="34" charset="-122"/>
                <a:ea typeface="Noto Sans SC" panose="020B0200000000000000" pitchFamily="34" charset="-122"/>
                <a:cs typeface="Noto Sans SC" panose="020B0200000000000000" pitchFamily="34" charset="-120"/>
              </a:rPr>
              <a:t>6%</a:t>
            </a:r>
            <a:endParaRPr lang="en-US" sz="1600" dirty="0"/>
          </a:p>
        </p:txBody>
      </p:sp>
      <p:sp>
        <p:nvSpPr>
          <p:cNvPr id="11" name="Text 9"/>
          <p:cNvSpPr/>
          <p:nvPr/>
        </p:nvSpPr>
        <p:spPr>
          <a:xfrm>
            <a:off x="8248452" y="3708400"/>
            <a:ext cx="3022600" cy="355600"/>
          </a:xfrm>
          <a:prstGeom prst="rect">
            <a:avLst/>
          </a:prstGeom>
          <a:noFill/>
        </p:spPr>
        <p:txBody>
          <a:bodyPr wrap="square" lIns="0" tIns="0" rIns="0" bIns="0" rtlCol="0" anchor="ctr"/>
          <a:lstStyle/>
          <a:p>
            <a:pPr marL="0" indent="0" algn="ctr">
              <a:lnSpc>
                <a:spcPct val="130000"/>
              </a:lnSpc>
              <a:buNone/>
            </a:pPr>
            <a:r>
              <a:rPr lang="en-US" altLang="zh-CN" sz="1800" dirty="0">
                <a:solidFill>
                  <a:srgbClr val="333333"/>
                </a:solidFill>
                <a:latin typeface="MiSans" pitchFamily="34" charset="-122"/>
                <a:ea typeface="MiSans" pitchFamily="34" charset="-122"/>
                <a:cs typeface="MiSans" pitchFamily="34" charset="-120"/>
              </a:rPr>
              <a:t>2023</a:t>
            </a:r>
            <a:r>
              <a:rPr lang="en-US" sz="1800" dirty="0">
                <a:solidFill>
                  <a:srgbClr val="333333"/>
                </a:solidFill>
                <a:latin typeface="MiSans" pitchFamily="34" charset="-122"/>
                <a:ea typeface="MiSans" pitchFamily="34" charset="-122"/>
                <a:cs typeface="MiSans" pitchFamily="34" charset="-120"/>
              </a:rPr>
              <a:t>中国健身付费渗透率</a:t>
            </a:r>
            <a:endParaRPr lang="en-US" sz="1600" dirty="0"/>
          </a:p>
        </p:txBody>
      </p:sp>
      <p:sp>
        <p:nvSpPr>
          <p:cNvPr id="12" name="Text 10"/>
          <p:cNvSpPr/>
          <p:nvPr/>
        </p:nvSpPr>
        <p:spPr>
          <a:xfrm>
            <a:off x="8248452" y="4064000"/>
            <a:ext cx="3022600" cy="254000"/>
          </a:xfrm>
          <a:prstGeom prst="rect">
            <a:avLst/>
          </a:prstGeom>
          <a:noFill/>
        </p:spPr>
        <p:txBody>
          <a:bodyPr wrap="square" lIns="0" tIns="0" rIns="0" bIns="0" rtlCol="0" anchor="ctr"/>
          <a:lstStyle/>
          <a:p>
            <a:pPr marL="0" indent="0" algn="ctr">
              <a:lnSpc>
                <a:spcPct val="120000"/>
              </a:lnSpc>
              <a:buNone/>
            </a:pPr>
            <a:r>
              <a:rPr lang="en-US" sz="1400" dirty="0">
                <a:solidFill>
                  <a:srgbClr val="6A7282"/>
                </a:solidFill>
                <a:latin typeface="MiSans" pitchFamily="34" charset="-122"/>
                <a:ea typeface="MiSans" pitchFamily="34" charset="-122"/>
                <a:cs typeface="MiSans" pitchFamily="34" charset="-120"/>
              </a:rPr>
              <a:t>(北美为</a:t>
            </a:r>
            <a:r>
              <a:rPr lang="en-US" altLang="zh-CN" sz="1400" dirty="0">
                <a:solidFill>
                  <a:srgbClr val="6A7282"/>
                </a:solidFill>
                <a:latin typeface="MiSans" pitchFamily="34" charset="-122"/>
                <a:ea typeface="MiSans" pitchFamily="34" charset="-122"/>
                <a:cs typeface="MiSans" pitchFamily="34" charset="-120"/>
              </a:rPr>
              <a:t>22</a:t>
            </a:r>
            <a:r>
              <a:rPr lang="en-US" sz="1400" dirty="0">
                <a:solidFill>
                  <a:srgbClr val="6A7282"/>
                </a:solidFill>
                <a:latin typeface="MiSans" pitchFamily="34" charset="-122"/>
                <a:ea typeface="MiSans" pitchFamily="34" charset="-122"/>
                <a:cs typeface="MiSans" pitchFamily="34" charset="-120"/>
              </a:rPr>
              <a:t>%)</a:t>
            </a:r>
            <a:endParaRPr lang="en-US" sz="1600" dirty="0"/>
          </a:p>
        </p:txBody>
      </p:sp>
      <p:sp>
        <p:nvSpPr>
          <p:cNvPr id="13" name="Shape 11"/>
          <p:cNvSpPr/>
          <p:nvPr/>
        </p:nvSpPr>
        <p:spPr>
          <a:xfrm>
            <a:off x="254000" y="4927600"/>
            <a:ext cx="11684000" cy="762000"/>
          </a:xfrm>
          <a:custGeom>
            <a:avLst/>
            <a:gdLst/>
            <a:ahLst/>
            <a:cxnLst/>
            <a:rect l="l" t="t" r="r" b="b"/>
            <a:pathLst>
              <a:path w="11684000" h="762000">
                <a:moveTo>
                  <a:pt x="101597" y="0"/>
                </a:moveTo>
                <a:lnTo>
                  <a:pt x="11582403" y="0"/>
                </a:lnTo>
                <a:cubicBezTo>
                  <a:pt x="11638513" y="0"/>
                  <a:pt x="11684000" y="45487"/>
                  <a:pt x="11684000" y="101597"/>
                </a:cubicBezTo>
                <a:lnTo>
                  <a:pt x="11684000" y="660403"/>
                </a:lnTo>
                <a:cubicBezTo>
                  <a:pt x="11684000" y="716513"/>
                  <a:pt x="11638513" y="762000"/>
                  <a:pt x="11582403" y="762000"/>
                </a:cubicBezTo>
                <a:lnTo>
                  <a:pt x="101597" y="762000"/>
                </a:lnTo>
                <a:cubicBezTo>
                  <a:pt x="45487" y="762000"/>
                  <a:pt x="0" y="716513"/>
                  <a:pt x="0" y="660403"/>
                </a:cubicBezTo>
                <a:lnTo>
                  <a:pt x="0" y="101597"/>
                </a:lnTo>
                <a:cubicBezTo>
                  <a:pt x="0" y="45487"/>
                  <a:pt x="45487" y="0"/>
                  <a:pt x="101597" y="0"/>
                </a:cubicBezTo>
                <a:close/>
              </a:path>
            </a:pathLst>
          </a:custGeom>
          <a:solidFill>
            <a:srgbClr val="D1BBA2">
              <a:alpha val="30196"/>
            </a:srgbClr>
          </a:solidFill>
        </p:spPr>
      </p:sp>
      <p:sp>
        <p:nvSpPr>
          <p:cNvPr id="14" name="Text 12"/>
          <p:cNvSpPr/>
          <p:nvPr/>
        </p:nvSpPr>
        <p:spPr>
          <a:xfrm>
            <a:off x="203200" y="5130800"/>
            <a:ext cx="11785600" cy="355600"/>
          </a:xfrm>
          <a:prstGeom prst="rect">
            <a:avLst/>
          </a:prstGeom>
          <a:noFill/>
        </p:spPr>
        <p:txBody>
          <a:bodyPr wrap="square" lIns="0" tIns="0" rIns="0" bIns="0" rtlCol="0" anchor="ctr"/>
          <a:lstStyle/>
          <a:p>
            <a:pPr marL="0" indent="0" algn="ctr">
              <a:lnSpc>
                <a:spcPct val="130000"/>
              </a:lnSpc>
              <a:buNone/>
            </a:pPr>
            <a:r>
              <a:rPr lang="en-US" sz="1800" dirty="0">
                <a:solidFill>
                  <a:srgbClr val="333333"/>
                </a:solidFill>
                <a:latin typeface="MiSans" pitchFamily="34" charset="-122"/>
                <a:ea typeface="MiSans" pitchFamily="34" charset="-122"/>
                <a:cs typeface="MiSans" pitchFamily="34" charset="-120"/>
              </a:rPr>
              <a:t>通过“人口基数 × 付费意愿 × </a:t>
            </a:r>
            <a:r>
              <a:rPr lang="en-US" sz="1800" dirty="0" err="1">
                <a:solidFill>
                  <a:srgbClr val="333333"/>
                </a:solidFill>
                <a:latin typeface="MiSans" pitchFamily="34" charset="-122"/>
                <a:ea typeface="MiSans" pitchFamily="34" charset="-122"/>
                <a:cs typeface="MiSans" pitchFamily="34" charset="-120"/>
              </a:rPr>
              <a:t>每用户平均收入”三因子模型，量化未来市场空间巨大</a:t>
            </a:r>
            <a:r>
              <a:rPr lang="en-US" sz="1800" dirty="0">
                <a:solidFill>
                  <a:srgbClr val="333333"/>
                </a:solidFill>
                <a:latin typeface="MiSans" pitchFamily="34" charset="-122"/>
                <a:ea typeface="MiSans" pitchFamily="34" charset="-122"/>
                <a:cs typeface="MiSans" pitchFamily="34" charset="-120"/>
              </a:rPr>
              <a: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6" y="635"/>
            <a:ext cx="12192635" cy="6857365"/>
          </a:xfrm>
          <a:prstGeom prst="rect">
            <a:avLst/>
          </a:prstGeom>
          <a:solidFill>
            <a:srgbClr val="E5E0D4"/>
          </a:solidFill>
        </p:spPr>
        <p:txBody>
          <a:bodyPr/>
          <a:lstStyle/>
          <a:p>
            <a:endParaRPr lang="zh-CN" altLang="en-US" dirty="0"/>
          </a:p>
        </p:txBody>
      </p:sp>
      <p:pic>
        <p:nvPicPr>
          <p:cNvPr id="17" name="图片 16" descr="a6630e65cf6367fd278c3e8072ac89b4"/>
          <p:cNvPicPr>
            <a:picLocks noChangeAspect="1"/>
          </p:cNvPicPr>
          <p:nvPr/>
        </p:nvPicPr>
        <p:blipFill>
          <a:blip r:embed="rId3"/>
          <a:srcRect l="-64" t="9572" r="27951" b="4516"/>
          <a:stretch>
            <a:fillRect/>
          </a:stretch>
        </p:blipFill>
        <p:spPr>
          <a:xfrm>
            <a:off x="0" y="1225290"/>
            <a:ext cx="5056072" cy="3791821"/>
          </a:xfrm>
          <a:prstGeom prst="rect">
            <a:avLst/>
          </a:prstGeom>
        </p:spPr>
      </p:pic>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5" name="Text 2"/>
          <p:cNvSpPr/>
          <p:nvPr/>
        </p:nvSpPr>
        <p:spPr>
          <a:xfrm>
            <a:off x="5289130" y="809800"/>
            <a:ext cx="7886700" cy="508000"/>
          </a:xfrm>
          <a:prstGeom prst="rect">
            <a:avLst/>
          </a:prstGeom>
          <a:noFill/>
        </p:spPr>
        <p:txBody>
          <a:bodyPr wrap="square" lIns="0" tIns="0" rIns="0" bIns="0" rtlCol="0" anchor="ctr"/>
          <a:lstStyle/>
          <a:p>
            <a:pPr marL="0" indent="0">
              <a:lnSpc>
                <a:spcPct val="90000"/>
              </a:lnSpc>
              <a:buNone/>
            </a:pPr>
            <a:r>
              <a:rPr 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政策东风：互联网+健身</a:t>
            </a:r>
            <a:endParaRPr lang="en-US" sz="1600" dirty="0"/>
          </a:p>
        </p:txBody>
      </p:sp>
      <p:sp>
        <p:nvSpPr>
          <p:cNvPr id="6" name="Text 3"/>
          <p:cNvSpPr/>
          <p:nvPr/>
        </p:nvSpPr>
        <p:spPr>
          <a:xfrm>
            <a:off x="5289130" y="1521000"/>
            <a:ext cx="7886700" cy="355600"/>
          </a:xfrm>
          <a:prstGeom prst="rect">
            <a:avLst/>
          </a:prstGeom>
          <a:noFill/>
        </p:spPr>
        <p:txBody>
          <a:bodyPr wrap="square" lIns="0" tIns="0" rIns="0" bIns="0" rtlCol="0" anchor="ctr"/>
          <a:lstStyle/>
          <a:p>
            <a:pPr marL="0" indent="0">
              <a:lnSpc>
                <a:spcPct val="130000"/>
              </a:lnSpc>
              <a:buNone/>
            </a:pPr>
            <a:r>
              <a:rPr lang="en-US" sz="1800" dirty="0">
                <a:solidFill>
                  <a:srgbClr val="3B4E6B"/>
                </a:solidFill>
                <a:latin typeface="MiSans" pitchFamily="34" charset="-122"/>
                <a:ea typeface="MiSans" pitchFamily="34" charset="-122"/>
                <a:cs typeface="MiSans" pitchFamily="34" charset="-120"/>
              </a:rPr>
              <a:t>连续五年写入政府工作报告，明确鼓励</a:t>
            </a:r>
            <a:r>
              <a:rPr lang="zh-CN" altLang="en-US" sz="1800" dirty="0">
                <a:solidFill>
                  <a:srgbClr val="3B4E6B"/>
                </a:solidFill>
                <a:latin typeface="MiSans" pitchFamily="34" charset="-122"/>
                <a:ea typeface="MiSans" pitchFamily="34" charset="-122"/>
                <a:cs typeface="MiSans" pitchFamily="34" charset="-120"/>
              </a:rPr>
              <a:t>体育产业高质量发展</a:t>
            </a:r>
            <a:r>
              <a:rPr lang="en-US" sz="1800" dirty="0">
                <a:solidFill>
                  <a:srgbClr val="3B4E6B"/>
                </a:solidFill>
                <a:latin typeface="MiSans" pitchFamily="34" charset="-122"/>
                <a:ea typeface="MiSans" pitchFamily="34" charset="-122"/>
                <a:cs typeface="MiSans" pitchFamily="34" charset="-120"/>
              </a:rPr>
              <a:t>。</a:t>
            </a:r>
            <a:endParaRPr lang="en-US" sz="1600" dirty="0"/>
          </a:p>
        </p:txBody>
      </p:sp>
      <p:sp>
        <p:nvSpPr>
          <p:cNvPr id="7" name="Shape 4"/>
          <p:cNvSpPr/>
          <p:nvPr/>
        </p:nvSpPr>
        <p:spPr>
          <a:xfrm>
            <a:off x="5365330" y="2289350"/>
            <a:ext cx="228600" cy="304800"/>
          </a:xfrm>
          <a:custGeom>
            <a:avLst/>
            <a:gdLst/>
            <a:ahLst/>
            <a:cxnLst/>
            <a:rect l="l" t="t" r="r" b="b"/>
            <a:pathLst>
              <a:path w="228600" h="304800">
                <a:moveTo>
                  <a:pt x="0" y="38100"/>
                </a:moveTo>
                <a:cubicBezTo>
                  <a:pt x="0" y="17085"/>
                  <a:pt x="17085" y="0"/>
                  <a:pt x="38100" y="0"/>
                </a:cubicBezTo>
                <a:lnTo>
                  <a:pt x="127099" y="0"/>
                </a:lnTo>
                <a:cubicBezTo>
                  <a:pt x="137220" y="0"/>
                  <a:pt x="146923" y="3989"/>
                  <a:pt x="154067" y="11132"/>
                </a:cubicBezTo>
                <a:lnTo>
                  <a:pt x="217468" y="74593"/>
                </a:lnTo>
                <a:cubicBezTo>
                  <a:pt x="224611" y="81736"/>
                  <a:pt x="228600" y="91440"/>
                  <a:pt x="228600" y="101560"/>
                </a:cubicBezTo>
                <a:lnTo>
                  <a:pt x="228600" y="266700"/>
                </a:lnTo>
                <a:cubicBezTo>
                  <a:pt x="228600" y="287715"/>
                  <a:pt x="211515" y="304800"/>
                  <a:pt x="190500" y="304800"/>
                </a:cubicBezTo>
                <a:lnTo>
                  <a:pt x="38100" y="304800"/>
                </a:lnTo>
                <a:cubicBezTo>
                  <a:pt x="17085" y="304800"/>
                  <a:pt x="0" y="287715"/>
                  <a:pt x="0" y="266700"/>
                </a:cubicBezTo>
                <a:lnTo>
                  <a:pt x="0" y="38100"/>
                </a:lnTo>
                <a:close/>
                <a:moveTo>
                  <a:pt x="123825" y="34826"/>
                </a:moveTo>
                <a:lnTo>
                  <a:pt x="123825" y="90488"/>
                </a:lnTo>
                <a:cubicBezTo>
                  <a:pt x="123825" y="98405"/>
                  <a:pt x="130195" y="104775"/>
                  <a:pt x="138113" y="104775"/>
                </a:cubicBezTo>
                <a:lnTo>
                  <a:pt x="193774" y="104775"/>
                </a:lnTo>
                <a:lnTo>
                  <a:pt x="123825" y="34826"/>
                </a:lnTo>
                <a:close/>
                <a:moveTo>
                  <a:pt x="71438" y="152400"/>
                </a:moveTo>
                <a:cubicBezTo>
                  <a:pt x="63520" y="152400"/>
                  <a:pt x="57150" y="158770"/>
                  <a:pt x="57150" y="166688"/>
                </a:cubicBezTo>
                <a:cubicBezTo>
                  <a:pt x="57150" y="174605"/>
                  <a:pt x="63520" y="180975"/>
                  <a:pt x="71438" y="180975"/>
                </a:cubicBezTo>
                <a:lnTo>
                  <a:pt x="157163" y="180975"/>
                </a:lnTo>
                <a:cubicBezTo>
                  <a:pt x="165080" y="180975"/>
                  <a:pt x="171450" y="174605"/>
                  <a:pt x="171450" y="166688"/>
                </a:cubicBezTo>
                <a:cubicBezTo>
                  <a:pt x="171450" y="158770"/>
                  <a:pt x="165080" y="152400"/>
                  <a:pt x="157163" y="152400"/>
                </a:cubicBezTo>
                <a:lnTo>
                  <a:pt x="71438" y="152400"/>
                </a:lnTo>
                <a:close/>
                <a:moveTo>
                  <a:pt x="71438" y="209550"/>
                </a:moveTo>
                <a:cubicBezTo>
                  <a:pt x="63520" y="209550"/>
                  <a:pt x="57150" y="215920"/>
                  <a:pt x="57150" y="223838"/>
                </a:cubicBezTo>
                <a:cubicBezTo>
                  <a:pt x="57150" y="231755"/>
                  <a:pt x="63520" y="238125"/>
                  <a:pt x="71438" y="238125"/>
                </a:cubicBezTo>
                <a:lnTo>
                  <a:pt x="157163" y="238125"/>
                </a:lnTo>
                <a:cubicBezTo>
                  <a:pt x="165080" y="238125"/>
                  <a:pt x="171450" y="231755"/>
                  <a:pt x="171450" y="223838"/>
                </a:cubicBezTo>
                <a:cubicBezTo>
                  <a:pt x="171450" y="215920"/>
                  <a:pt x="165080" y="209550"/>
                  <a:pt x="157163" y="209550"/>
                </a:cubicBezTo>
                <a:lnTo>
                  <a:pt x="71438" y="209550"/>
                </a:lnTo>
                <a:close/>
              </a:path>
            </a:pathLst>
          </a:custGeom>
          <a:solidFill>
            <a:srgbClr val="8C3023"/>
          </a:solidFill>
        </p:spPr>
      </p:sp>
      <p:sp>
        <p:nvSpPr>
          <p:cNvPr id="8" name="Text 5"/>
          <p:cNvSpPr/>
          <p:nvPr/>
        </p:nvSpPr>
        <p:spPr>
          <a:xfrm>
            <a:off x="5873330" y="2181400"/>
            <a:ext cx="4533900" cy="304800"/>
          </a:xfrm>
          <a:prstGeom prst="rect">
            <a:avLst/>
          </a:prstGeom>
          <a:noFill/>
        </p:spPr>
        <p:txBody>
          <a:bodyPr wrap="square" lIns="0" tIns="0" rIns="0" bIns="0" rtlCol="0" anchor="ctr"/>
          <a:lstStyle/>
          <a:p>
            <a:pPr marL="0" indent="0">
              <a:lnSpc>
                <a:spcPct val="130000"/>
              </a:lnSpc>
              <a:buNone/>
            </a:pPr>
            <a:r>
              <a:rPr lang="en-US" sz="1600" dirty="0">
                <a:solidFill>
                  <a:srgbClr val="333333"/>
                </a:solidFill>
                <a:latin typeface="MiSans" pitchFamily="34" charset="-122"/>
                <a:ea typeface="MiSans" pitchFamily="34" charset="-122"/>
                <a:cs typeface="MiSans" pitchFamily="34" charset="-120"/>
              </a:rPr>
              <a:t>《全民健身计划2021-2025》</a:t>
            </a:r>
            <a:endParaRPr lang="en-US" sz="1600" dirty="0"/>
          </a:p>
        </p:txBody>
      </p:sp>
      <p:sp>
        <p:nvSpPr>
          <p:cNvPr id="9" name="Text 6"/>
          <p:cNvSpPr/>
          <p:nvPr/>
        </p:nvSpPr>
        <p:spPr>
          <a:xfrm>
            <a:off x="5873151" y="2486200"/>
            <a:ext cx="6635115" cy="254000"/>
          </a:xfrm>
          <a:prstGeom prst="rect">
            <a:avLst/>
          </a:prstGeom>
          <a:noFill/>
        </p:spPr>
        <p:txBody>
          <a:bodyPr wrap="square" lIns="0" tIns="0" rIns="0" bIns="0" rtlCol="0" anchor="ctr"/>
          <a:lstStyle/>
          <a:p>
            <a:pPr marL="0" indent="0">
              <a:lnSpc>
                <a:spcPct val="120000"/>
              </a:lnSpc>
              <a:buNone/>
            </a:pPr>
            <a:r>
              <a:rPr lang="zh-CN" altLang="en-US" sz="1600" dirty="0"/>
              <a:t>明确指出要提升科学健身指导服务水平以及推动体育产业现代化发展</a:t>
            </a:r>
            <a:r>
              <a:rPr lang="en-US" altLang="zh-CN" sz="1600" dirty="0"/>
              <a:t>。</a:t>
            </a:r>
          </a:p>
        </p:txBody>
      </p:sp>
      <p:sp>
        <p:nvSpPr>
          <p:cNvPr id="10" name="Shape 7"/>
          <p:cNvSpPr/>
          <p:nvPr/>
        </p:nvSpPr>
        <p:spPr>
          <a:xfrm>
            <a:off x="5308180" y="3051350"/>
            <a:ext cx="342900" cy="304800"/>
          </a:xfrm>
          <a:custGeom>
            <a:avLst/>
            <a:gdLst/>
            <a:ahLst/>
            <a:cxnLst/>
            <a:rect l="l" t="t" r="r" b="b"/>
            <a:pathLst>
              <a:path w="342900" h="304800">
                <a:moveTo>
                  <a:pt x="142399" y="-4762"/>
                </a:moveTo>
                <a:cubicBezTo>
                  <a:pt x="138767" y="-8453"/>
                  <a:pt x="133469" y="-9942"/>
                  <a:pt x="128468" y="-8573"/>
                </a:cubicBezTo>
                <a:cubicBezTo>
                  <a:pt x="123468" y="-7203"/>
                  <a:pt x="119598" y="-3334"/>
                  <a:pt x="118348" y="1667"/>
                </a:cubicBezTo>
                <a:lnTo>
                  <a:pt x="109240" y="37505"/>
                </a:lnTo>
                <a:cubicBezTo>
                  <a:pt x="108585" y="40124"/>
                  <a:pt x="105906" y="41672"/>
                  <a:pt x="103346" y="40898"/>
                </a:cubicBezTo>
                <a:lnTo>
                  <a:pt x="67747" y="30897"/>
                </a:lnTo>
                <a:cubicBezTo>
                  <a:pt x="62746" y="29468"/>
                  <a:pt x="57388" y="30897"/>
                  <a:pt x="53757" y="34528"/>
                </a:cubicBezTo>
                <a:cubicBezTo>
                  <a:pt x="50125" y="38160"/>
                  <a:pt x="48697" y="43517"/>
                  <a:pt x="50125" y="48518"/>
                </a:cubicBezTo>
                <a:lnTo>
                  <a:pt x="60186" y="84118"/>
                </a:lnTo>
                <a:cubicBezTo>
                  <a:pt x="60900" y="86678"/>
                  <a:pt x="59353" y="89356"/>
                  <a:pt x="56793" y="90011"/>
                </a:cubicBezTo>
                <a:lnTo>
                  <a:pt x="20895" y="99120"/>
                </a:lnTo>
                <a:cubicBezTo>
                  <a:pt x="15895" y="100370"/>
                  <a:pt x="11966" y="104299"/>
                  <a:pt x="10597" y="109299"/>
                </a:cubicBezTo>
                <a:cubicBezTo>
                  <a:pt x="9227" y="114300"/>
                  <a:pt x="10716" y="119598"/>
                  <a:pt x="14407" y="123230"/>
                </a:cubicBezTo>
                <a:lnTo>
                  <a:pt x="40898" y="149007"/>
                </a:lnTo>
                <a:cubicBezTo>
                  <a:pt x="42803" y="150852"/>
                  <a:pt x="42803" y="153948"/>
                  <a:pt x="40898" y="155853"/>
                </a:cubicBezTo>
                <a:lnTo>
                  <a:pt x="14466" y="181630"/>
                </a:lnTo>
                <a:cubicBezTo>
                  <a:pt x="10775" y="185261"/>
                  <a:pt x="9287" y="190560"/>
                  <a:pt x="10656" y="195560"/>
                </a:cubicBezTo>
                <a:cubicBezTo>
                  <a:pt x="12025" y="200561"/>
                  <a:pt x="15954" y="204430"/>
                  <a:pt x="20955" y="205740"/>
                </a:cubicBezTo>
                <a:lnTo>
                  <a:pt x="56793" y="214848"/>
                </a:lnTo>
                <a:cubicBezTo>
                  <a:pt x="59412" y="215503"/>
                  <a:pt x="60960" y="218182"/>
                  <a:pt x="60186" y="220742"/>
                </a:cubicBezTo>
                <a:lnTo>
                  <a:pt x="50125" y="256282"/>
                </a:lnTo>
                <a:cubicBezTo>
                  <a:pt x="48697" y="261283"/>
                  <a:pt x="50125" y="266640"/>
                  <a:pt x="53757" y="270272"/>
                </a:cubicBezTo>
                <a:cubicBezTo>
                  <a:pt x="57388" y="273903"/>
                  <a:pt x="62746" y="275332"/>
                  <a:pt x="67747" y="273903"/>
                </a:cubicBezTo>
                <a:lnTo>
                  <a:pt x="103346" y="263843"/>
                </a:lnTo>
                <a:cubicBezTo>
                  <a:pt x="105906" y="263128"/>
                  <a:pt x="108585" y="264676"/>
                  <a:pt x="109240" y="267236"/>
                </a:cubicBezTo>
                <a:lnTo>
                  <a:pt x="118348" y="303074"/>
                </a:lnTo>
                <a:cubicBezTo>
                  <a:pt x="119598" y="308074"/>
                  <a:pt x="123527" y="312003"/>
                  <a:pt x="128528" y="313373"/>
                </a:cubicBezTo>
                <a:cubicBezTo>
                  <a:pt x="133529" y="314742"/>
                  <a:pt x="138827" y="313253"/>
                  <a:pt x="142458" y="309563"/>
                </a:cubicBezTo>
                <a:lnTo>
                  <a:pt x="168235" y="283071"/>
                </a:lnTo>
                <a:cubicBezTo>
                  <a:pt x="170081" y="281166"/>
                  <a:pt x="173176" y="281166"/>
                  <a:pt x="175081" y="283071"/>
                </a:cubicBezTo>
                <a:lnTo>
                  <a:pt x="200799" y="309563"/>
                </a:lnTo>
                <a:cubicBezTo>
                  <a:pt x="204430" y="313253"/>
                  <a:pt x="209729" y="314742"/>
                  <a:pt x="214729" y="313373"/>
                </a:cubicBezTo>
                <a:cubicBezTo>
                  <a:pt x="219730" y="312003"/>
                  <a:pt x="223599" y="308074"/>
                  <a:pt x="224909" y="303074"/>
                </a:cubicBezTo>
                <a:lnTo>
                  <a:pt x="234017" y="267295"/>
                </a:lnTo>
                <a:cubicBezTo>
                  <a:pt x="234672" y="264676"/>
                  <a:pt x="237351" y="263128"/>
                  <a:pt x="239911" y="263902"/>
                </a:cubicBezTo>
                <a:lnTo>
                  <a:pt x="275511" y="273963"/>
                </a:lnTo>
                <a:cubicBezTo>
                  <a:pt x="280511" y="275392"/>
                  <a:pt x="285869" y="273963"/>
                  <a:pt x="289500" y="270331"/>
                </a:cubicBezTo>
                <a:cubicBezTo>
                  <a:pt x="293132" y="266700"/>
                  <a:pt x="294561" y="261342"/>
                  <a:pt x="293132" y="256342"/>
                </a:cubicBezTo>
                <a:lnTo>
                  <a:pt x="283071" y="220742"/>
                </a:lnTo>
                <a:cubicBezTo>
                  <a:pt x="282357" y="218182"/>
                  <a:pt x="283905" y="215503"/>
                  <a:pt x="286464" y="214848"/>
                </a:cubicBezTo>
                <a:lnTo>
                  <a:pt x="322302" y="205740"/>
                </a:lnTo>
                <a:cubicBezTo>
                  <a:pt x="327303" y="204490"/>
                  <a:pt x="331232" y="200561"/>
                  <a:pt x="332601" y="195560"/>
                </a:cubicBezTo>
                <a:cubicBezTo>
                  <a:pt x="333970" y="190560"/>
                  <a:pt x="332482" y="185202"/>
                  <a:pt x="328791" y="181630"/>
                </a:cubicBezTo>
                <a:lnTo>
                  <a:pt x="302300" y="155853"/>
                </a:lnTo>
                <a:cubicBezTo>
                  <a:pt x="300395" y="154007"/>
                  <a:pt x="300395" y="150912"/>
                  <a:pt x="302300" y="149007"/>
                </a:cubicBezTo>
                <a:lnTo>
                  <a:pt x="328791" y="123230"/>
                </a:lnTo>
                <a:cubicBezTo>
                  <a:pt x="332482" y="119598"/>
                  <a:pt x="333970" y="114300"/>
                  <a:pt x="332601" y="109299"/>
                </a:cubicBezTo>
                <a:cubicBezTo>
                  <a:pt x="331232" y="104299"/>
                  <a:pt x="327303" y="100429"/>
                  <a:pt x="322302" y="99120"/>
                </a:cubicBezTo>
                <a:lnTo>
                  <a:pt x="286464" y="90011"/>
                </a:lnTo>
                <a:cubicBezTo>
                  <a:pt x="283845" y="89356"/>
                  <a:pt x="282297" y="86677"/>
                  <a:pt x="283071" y="84118"/>
                </a:cubicBezTo>
                <a:lnTo>
                  <a:pt x="293132" y="48518"/>
                </a:lnTo>
                <a:cubicBezTo>
                  <a:pt x="294561" y="43517"/>
                  <a:pt x="293132" y="38160"/>
                  <a:pt x="289500" y="34528"/>
                </a:cubicBezTo>
                <a:cubicBezTo>
                  <a:pt x="285869" y="30897"/>
                  <a:pt x="280511" y="29468"/>
                  <a:pt x="275511" y="30897"/>
                </a:cubicBezTo>
                <a:lnTo>
                  <a:pt x="239911" y="40957"/>
                </a:lnTo>
                <a:cubicBezTo>
                  <a:pt x="237351" y="41672"/>
                  <a:pt x="234672" y="40124"/>
                  <a:pt x="234017" y="37564"/>
                </a:cubicBezTo>
                <a:lnTo>
                  <a:pt x="224909" y="1667"/>
                </a:lnTo>
                <a:cubicBezTo>
                  <a:pt x="223659" y="-3334"/>
                  <a:pt x="219730" y="-7263"/>
                  <a:pt x="214729" y="-8632"/>
                </a:cubicBezTo>
                <a:cubicBezTo>
                  <a:pt x="209729" y="-10001"/>
                  <a:pt x="204430" y="-8513"/>
                  <a:pt x="200799" y="-4822"/>
                </a:cubicBezTo>
                <a:lnTo>
                  <a:pt x="175022" y="21729"/>
                </a:lnTo>
                <a:cubicBezTo>
                  <a:pt x="173176" y="23634"/>
                  <a:pt x="170081" y="23634"/>
                  <a:pt x="168176" y="21729"/>
                </a:cubicBezTo>
                <a:lnTo>
                  <a:pt x="142399" y="-4762"/>
                </a:lnTo>
                <a:close/>
              </a:path>
            </a:pathLst>
          </a:custGeom>
          <a:solidFill>
            <a:srgbClr val="8C3023"/>
          </a:solidFill>
        </p:spPr>
      </p:sp>
      <p:sp>
        <p:nvSpPr>
          <p:cNvPr id="11" name="Text 8"/>
          <p:cNvSpPr/>
          <p:nvPr/>
        </p:nvSpPr>
        <p:spPr>
          <a:xfrm>
            <a:off x="5873330" y="2943400"/>
            <a:ext cx="5664200" cy="304800"/>
          </a:xfrm>
          <a:prstGeom prst="rect">
            <a:avLst/>
          </a:prstGeom>
          <a:noFill/>
        </p:spPr>
        <p:txBody>
          <a:bodyPr wrap="square" lIns="0" tIns="0" rIns="0" bIns="0" rtlCol="0" anchor="ctr"/>
          <a:lstStyle/>
          <a:p>
            <a:pPr marL="0" indent="0">
              <a:lnSpc>
                <a:spcPct val="130000"/>
              </a:lnSpc>
              <a:buNone/>
            </a:pPr>
            <a:r>
              <a:rPr lang="zh-CN" altLang="en-US" sz="1600" dirty="0"/>
              <a:t>政府扶持</a:t>
            </a:r>
          </a:p>
        </p:txBody>
      </p:sp>
      <p:sp>
        <p:nvSpPr>
          <p:cNvPr id="12" name="Text 9"/>
          <p:cNvSpPr/>
          <p:nvPr/>
        </p:nvSpPr>
        <p:spPr>
          <a:xfrm>
            <a:off x="5873151" y="3248200"/>
            <a:ext cx="5752465" cy="1149985"/>
          </a:xfrm>
          <a:prstGeom prst="rect">
            <a:avLst/>
          </a:prstGeom>
          <a:noFill/>
        </p:spPr>
        <p:txBody>
          <a:bodyPr wrap="square" lIns="0" tIns="0" rIns="0" bIns="0" rtlCol="0" anchor="ctr"/>
          <a:lstStyle/>
          <a:p>
            <a:pPr marL="0" indent="0">
              <a:lnSpc>
                <a:spcPct val="120000"/>
              </a:lnSpc>
              <a:buNone/>
            </a:pPr>
            <a:r>
              <a:rPr lang="en-US" altLang="zh-CN" sz="1600" dirty="0"/>
              <a:t>1.</a:t>
            </a:r>
            <a:r>
              <a:rPr lang="zh-CN" altLang="en-US" sz="1600" dirty="0"/>
              <a:t>落实已有税费政策。可享受研究开发费用税前加计扣除、小微企业财税优惠等政策</a:t>
            </a:r>
          </a:p>
          <a:p>
            <a:pPr marL="0" indent="0">
              <a:lnSpc>
                <a:spcPct val="120000"/>
              </a:lnSpc>
              <a:buNone/>
            </a:pPr>
            <a:r>
              <a:rPr lang="en-US" altLang="zh-CN" sz="1600" dirty="0"/>
              <a:t>2.</a:t>
            </a:r>
            <a:r>
              <a:rPr lang="zh-CN" altLang="en-US" sz="1600" dirty="0"/>
              <a:t>加大金融支持力度。鼓励银行业金融机构开展体育企业应收账款、知识产权等质押贷款创新。</a:t>
            </a:r>
            <a:endParaRPr lang="en-US" altLang="zh-CN" sz="1600" dirty="0"/>
          </a:p>
        </p:txBody>
      </p:sp>
      <p:sp>
        <p:nvSpPr>
          <p:cNvPr id="13" name="Shape 10"/>
          <p:cNvSpPr/>
          <p:nvPr/>
        </p:nvSpPr>
        <p:spPr>
          <a:xfrm>
            <a:off x="5308180" y="4530900"/>
            <a:ext cx="342900" cy="304800"/>
          </a:xfrm>
          <a:custGeom>
            <a:avLst/>
            <a:gdLst/>
            <a:ahLst/>
            <a:cxnLst/>
            <a:rect l="l" t="t" r="r" b="b"/>
            <a:pathLst>
              <a:path w="342900" h="304800">
                <a:moveTo>
                  <a:pt x="160080" y="50721"/>
                </a:moveTo>
                <a:lnTo>
                  <a:pt x="90666" y="127873"/>
                </a:lnTo>
                <a:cubicBezTo>
                  <a:pt x="87928" y="130909"/>
                  <a:pt x="88047" y="135612"/>
                  <a:pt x="90964" y="138529"/>
                </a:cubicBezTo>
                <a:cubicBezTo>
                  <a:pt x="109121" y="156686"/>
                  <a:pt x="138589" y="156686"/>
                  <a:pt x="156746" y="138529"/>
                </a:cubicBezTo>
                <a:lnTo>
                  <a:pt x="175677" y="119598"/>
                </a:lnTo>
                <a:cubicBezTo>
                  <a:pt x="178177" y="117098"/>
                  <a:pt x="181332" y="115729"/>
                  <a:pt x="184547" y="115491"/>
                </a:cubicBezTo>
                <a:cubicBezTo>
                  <a:pt x="188595" y="115133"/>
                  <a:pt x="192762" y="116503"/>
                  <a:pt x="195858" y="119598"/>
                </a:cubicBezTo>
                <a:lnTo>
                  <a:pt x="300990" y="223838"/>
                </a:lnTo>
                <a:lnTo>
                  <a:pt x="342900" y="190500"/>
                </a:lnTo>
                <a:lnTo>
                  <a:pt x="342900" y="19050"/>
                </a:lnTo>
                <a:lnTo>
                  <a:pt x="276225" y="57150"/>
                </a:lnTo>
                <a:lnTo>
                  <a:pt x="262057" y="47685"/>
                </a:lnTo>
                <a:cubicBezTo>
                  <a:pt x="252651" y="41434"/>
                  <a:pt x="241637" y="38100"/>
                  <a:pt x="230326" y="38100"/>
                </a:cubicBezTo>
                <a:lnTo>
                  <a:pt x="188416" y="38100"/>
                </a:lnTo>
                <a:cubicBezTo>
                  <a:pt x="187762" y="38100"/>
                  <a:pt x="187047" y="38100"/>
                  <a:pt x="186392" y="38160"/>
                </a:cubicBezTo>
                <a:cubicBezTo>
                  <a:pt x="176332" y="38695"/>
                  <a:pt x="166866" y="43220"/>
                  <a:pt x="160080" y="50721"/>
                </a:cubicBezTo>
                <a:close/>
                <a:moveTo>
                  <a:pt x="69413" y="108764"/>
                </a:moveTo>
                <a:lnTo>
                  <a:pt x="132993" y="38100"/>
                </a:lnTo>
                <a:lnTo>
                  <a:pt x="109418" y="38100"/>
                </a:lnTo>
                <a:cubicBezTo>
                  <a:pt x="94238" y="38100"/>
                  <a:pt x="79712" y="44113"/>
                  <a:pt x="68997" y="54828"/>
                </a:cubicBezTo>
                <a:lnTo>
                  <a:pt x="66675" y="57150"/>
                </a:lnTo>
                <a:lnTo>
                  <a:pt x="0" y="19050"/>
                </a:lnTo>
                <a:lnTo>
                  <a:pt x="0" y="190500"/>
                </a:lnTo>
                <a:lnTo>
                  <a:pt x="93107" y="268069"/>
                </a:lnTo>
                <a:cubicBezTo>
                  <a:pt x="106799" y="279499"/>
                  <a:pt x="124063" y="285750"/>
                  <a:pt x="141863" y="285750"/>
                </a:cubicBezTo>
                <a:lnTo>
                  <a:pt x="151209" y="285750"/>
                </a:lnTo>
                <a:lnTo>
                  <a:pt x="147042" y="281583"/>
                </a:lnTo>
                <a:cubicBezTo>
                  <a:pt x="141446" y="275987"/>
                  <a:pt x="141446" y="266938"/>
                  <a:pt x="147042" y="261402"/>
                </a:cubicBezTo>
                <a:cubicBezTo>
                  <a:pt x="152638" y="255865"/>
                  <a:pt x="161687" y="255806"/>
                  <a:pt x="167223" y="261402"/>
                </a:cubicBezTo>
                <a:lnTo>
                  <a:pt x="191631" y="285810"/>
                </a:lnTo>
                <a:lnTo>
                  <a:pt x="196989" y="285810"/>
                </a:lnTo>
                <a:cubicBezTo>
                  <a:pt x="208359" y="285810"/>
                  <a:pt x="219492" y="283250"/>
                  <a:pt x="229612" y="278487"/>
                </a:cubicBezTo>
                <a:lnTo>
                  <a:pt x="213717" y="262533"/>
                </a:lnTo>
                <a:cubicBezTo>
                  <a:pt x="208121" y="256937"/>
                  <a:pt x="208121" y="247888"/>
                  <a:pt x="213717" y="242352"/>
                </a:cubicBezTo>
                <a:cubicBezTo>
                  <a:pt x="219313" y="236815"/>
                  <a:pt x="228362" y="236756"/>
                  <a:pt x="233898" y="242352"/>
                </a:cubicBezTo>
                <a:lnTo>
                  <a:pt x="252948" y="261402"/>
                </a:lnTo>
                <a:lnTo>
                  <a:pt x="263366" y="250984"/>
                </a:lnTo>
                <a:cubicBezTo>
                  <a:pt x="268665" y="245685"/>
                  <a:pt x="270212" y="238006"/>
                  <a:pt x="267891" y="231279"/>
                </a:cubicBezTo>
                <a:lnTo>
                  <a:pt x="185797" y="149840"/>
                </a:lnTo>
                <a:lnTo>
                  <a:pt x="176927" y="158710"/>
                </a:lnTo>
                <a:cubicBezTo>
                  <a:pt x="147578" y="188059"/>
                  <a:pt x="100072" y="188059"/>
                  <a:pt x="70723" y="158710"/>
                </a:cubicBezTo>
                <a:cubicBezTo>
                  <a:pt x="57031" y="145018"/>
                  <a:pt x="56495" y="123051"/>
                  <a:pt x="69413" y="108704"/>
                </a:cubicBezTo>
                <a:close/>
              </a:path>
            </a:pathLst>
          </a:custGeom>
          <a:solidFill>
            <a:srgbClr val="8C3023"/>
          </a:solidFill>
        </p:spPr>
      </p:sp>
      <p:sp>
        <p:nvSpPr>
          <p:cNvPr id="14" name="Text 11"/>
          <p:cNvSpPr/>
          <p:nvPr/>
        </p:nvSpPr>
        <p:spPr>
          <a:xfrm>
            <a:off x="5873330" y="4530900"/>
            <a:ext cx="4064000" cy="304800"/>
          </a:xfrm>
          <a:prstGeom prst="rect">
            <a:avLst/>
          </a:prstGeom>
          <a:noFill/>
        </p:spPr>
        <p:txBody>
          <a:bodyPr wrap="square" lIns="0" tIns="0" rIns="0" bIns="0" rtlCol="0" anchor="ctr"/>
          <a:lstStyle/>
          <a:p>
            <a:pPr marL="0" indent="0">
              <a:lnSpc>
                <a:spcPct val="130000"/>
              </a:lnSpc>
              <a:buNone/>
            </a:pPr>
            <a:r>
              <a:rPr lang="en-US" sz="1600" dirty="0">
                <a:solidFill>
                  <a:srgbClr val="333333"/>
                </a:solidFill>
                <a:latin typeface="MiSans" pitchFamily="34" charset="-122"/>
                <a:ea typeface="MiSans" pitchFamily="34" charset="-122"/>
                <a:cs typeface="MiSans" pitchFamily="34" charset="-120"/>
              </a:rPr>
              <a:t>打开合作通道</a:t>
            </a:r>
            <a:endParaRPr lang="en-US" sz="1600" dirty="0"/>
          </a:p>
        </p:txBody>
      </p:sp>
      <p:sp>
        <p:nvSpPr>
          <p:cNvPr id="15" name="Text 12"/>
          <p:cNvSpPr/>
          <p:nvPr/>
        </p:nvSpPr>
        <p:spPr>
          <a:xfrm>
            <a:off x="5873151" y="4968415"/>
            <a:ext cx="5976620" cy="464185"/>
          </a:xfrm>
          <a:prstGeom prst="rect">
            <a:avLst/>
          </a:prstGeom>
          <a:noFill/>
        </p:spPr>
        <p:txBody>
          <a:bodyPr wrap="square" lIns="0" tIns="0" rIns="0" bIns="0" rtlCol="0" anchor="ctr"/>
          <a:lstStyle/>
          <a:p>
            <a:pPr marL="0" indent="0">
              <a:lnSpc>
                <a:spcPct val="120000"/>
              </a:lnSpc>
              <a:buNone/>
            </a:pPr>
            <a:r>
              <a:rPr lang="zh-CN" altLang="en-US" sz="1600" dirty="0"/>
              <a:t>政府实施</a:t>
            </a:r>
            <a:r>
              <a:rPr lang="en-US" altLang="zh-CN" sz="1600" dirty="0"/>
              <a:t>“</a:t>
            </a:r>
            <a:r>
              <a:rPr lang="zh-CN" altLang="en-US" sz="1600" dirty="0"/>
              <a:t>体育＋</a:t>
            </a:r>
            <a:r>
              <a:rPr lang="en-US" altLang="zh-CN" sz="1600" dirty="0"/>
              <a:t>”</a:t>
            </a:r>
            <a:r>
              <a:rPr lang="zh-CN" altLang="en-US" sz="1600" dirty="0"/>
              <a:t>行动</a:t>
            </a:r>
            <a:r>
              <a:rPr lang="en-US" altLang="zh-CN" sz="1600" dirty="0"/>
              <a:t>。</a:t>
            </a:r>
            <a:r>
              <a:rPr lang="zh-CN" altLang="en-US" sz="1600" dirty="0"/>
              <a:t>推动体医融合发展</a:t>
            </a:r>
            <a:r>
              <a:rPr lang="en-US" altLang="zh-CN" sz="1600" dirty="0"/>
              <a:t>、</a:t>
            </a:r>
            <a:r>
              <a:rPr lang="zh-CN" altLang="en-US" sz="1600" dirty="0"/>
              <a:t>鼓励体旅融合发展以及加快体教融合发展。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635"/>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0" y="1117600"/>
            <a:ext cx="12192000" cy="508000"/>
          </a:xfrm>
          <a:prstGeom prst="rect">
            <a:avLst/>
          </a:prstGeom>
          <a:noFill/>
        </p:spPr>
        <p:txBody>
          <a:bodyPr wrap="square" lIns="0" tIns="0" rIns="0" bIns="0" rtlCol="0" anchor="ctr"/>
          <a:lstStyle/>
          <a:p>
            <a:pPr marL="0" indent="0" algn="ctr">
              <a:lnSpc>
                <a:spcPct val="90000"/>
              </a:lnSpc>
              <a:buNone/>
            </a:pPr>
            <a:r>
              <a:rPr lang="en-US" sz="3600" dirty="0" err="1">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竞品象限图</a:t>
            </a:r>
            <a:r>
              <a:rPr lang="en-US" altLang="zh-CN"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5" name="Text 3"/>
          <p:cNvSpPr/>
          <p:nvPr/>
        </p:nvSpPr>
        <p:spPr>
          <a:xfrm>
            <a:off x="0" y="1828800"/>
            <a:ext cx="12192000" cy="355600"/>
          </a:xfrm>
          <a:prstGeom prst="rect">
            <a:avLst/>
          </a:prstGeom>
          <a:noFill/>
        </p:spPr>
        <p:txBody>
          <a:bodyPr wrap="square" lIns="0" tIns="0" rIns="0" bIns="0" rtlCol="0" anchor="ctr"/>
          <a:lstStyle/>
          <a:p>
            <a:pPr marL="0" indent="0" algn="ctr">
              <a:lnSpc>
                <a:spcPct val="130000"/>
              </a:lnSpc>
              <a:buNone/>
            </a:pPr>
            <a:r>
              <a:rPr lang="en-US" sz="1800" dirty="0">
                <a:solidFill>
                  <a:srgbClr val="3B4E6B"/>
                </a:solidFill>
                <a:latin typeface="MiSans" pitchFamily="34" charset="-122"/>
                <a:ea typeface="MiSans" pitchFamily="34" charset="-122"/>
                <a:cs typeface="MiSans" pitchFamily="34" charset="-120"/>
              </a:rPr>
              <a:t>头部产品多聚焦单点，TrainTrack通过错位竞争切入右上象限</a:t>
            </a:r>
            <a:endParaRPr lang="en-US" sz="1600" dirty="0"/>
          </a:p>
        </p:txBody>
      </p:sp>
      <p:sp>
        <p:nvSpPr>
          <p:cNvPr id="6" name="Shape 4"/>
          <p:cNvSpPr/>
          <p:nvPr/>
        </p:nvSpPr>
        <p:spPr>
          <a:xfrm>
            <a:off x="215374" y="2489199"/>
            <a:ext cx="11830075" cy="3405109"/>
          </a:xfrm>
          <a:custGeom>
            <a:avLst/>
            <a:gdLst/>
            <a:ahLst/>
            <a:cxnLst/>
            <a:rect l="l" t="t" r="r" b="b"/>
            <a:pathLst>
              <a:path w="11684000" h="3251200">
                <a:moveTo>
                  <a:pt x="101600" y="0"/>
                </a:moveTo>
                <a:lnTo>
                  <a:pt x="11582400" y="0"/>
                </a:lnTo>
                <a:cubicBezTo>
                  <a:pt x="11638475" y="0"/>
                  <a:pt x="11684000" y="45525"/>
                  <a:pt x="11684000" y="101600"/>
                </a:cubicBezTo>
                <a:lnTo>
                  <a:pt x="11684000" y="3149600"/>
                </a:lnTo>
                <a:cubicBezTo>
                  <a:pt x="11684000" y="3205675"/>
                  <a:pt x="11638475" y="3251200"/>
                  <a:pt x="11582400" y="3251200"/>
                </a:cubicBezTo>
                <a:lnTo>
                  <a:pt x="101600" y="3251200"/>
                </a:lnTo>
                <a:cubicBezTo>
                  <a:pt x="45525" y="3251200"/>
                  <a:pt x="0" y="3205675"/>
                  <a:pt x="0" y="3149600"/>
                </a:cubicBezTo>
                <a:lnTo>
                  <a:pt x="0" y="101600"/>
                </a:lnTo>
                <a:cubicBezTo>
                  <a:pt x="0" y="45525"/>
                  <a:pt x="45525" y="0"/>
                  <a:pt x="101600" y="0"/>
                </a:cubicBezTo>
                <a:close/>
              </a:path>
            </a:pathLst>
          </a:custGeom>
          <a:solidFill>
            <a:srgbClr val="D1BBA2">
              <a:alpha val="20000"/>
            </a:srgbClr>
          </a:solidFill>
        </p:spPr>
        <p:txBody>
          <a:bodyPr/>
          <a:lstStyle/>
          <a:p>
            <a:endParaRPr lang="zh-CN" altLang="en-US" dirty="0"/>
          </a:p>
        </p:txBody>
      </p:sp>
      <p:sp>
        <p:nvSpPr>
          <p:cNvPr id="7" name="Text 5"/>
          <p:cNvSpPr/>
          <p:nvPr/>
        </p:nvSpPr>
        <p:spPr>
          <a:xfrm>
            <a:off x="5595352" y="5648641"/>
            <a:ext cx="1314803" cy="254000"/>
          </a:xfrm>
          <a:prstGeom prst="rect">
            <a:avLst/>
          </a:prstGeom>
          <a:noFill/>
        </p:spPr>
        <p:txBody>
          <a:bodyPr wrap="square" lIns="0" tIns="0" rIns="0" bIns="0" rtlCol="0" anchor="ctr"/>
          <a:lstStyle/>
          <a:p>
            <a:pPr marL="0" indent="0">
              <a:lnSpc>
                <a:spcPct val="120000"/>
              </a:lnSpc>
              <a:buNone/>
            </a:pPr>
            <a:r>
              <a:rPr lang="en-US" sz="1400" dirty="0">
                <a:solidFill>
                  <a:srgbClr val="8C3023"/>
                </a:solidFill>
                <a:latin typeface="MiSans" pitchFamily="34" charset="-122"/>
                <a:ea typeface="MiSans" pitchFamily="34" charset="-122"/>
                <a:cs typeface="MiSans" pitchFamily="34" charset="-120"/>
              </a:rPr>
              <a:t>生态闭环程度 →</a:t>
            </a:r>
            <a:endParaRPr lang="en-US" sz="1600" dirty="0"/>
          </a:p>
        </p:txBody>
      </p:sp>
      <p:sp>
        <p:nvSpPr>
          <p:cNvPr id="8" name="Text 6"/>
          <p:cNvSpPr/>
          <p:nvPr/>
        </p:nvSpPr>
        <p:spPr>
          <a:xfrm rot="-5400000">
            <a:off x="-571525" y="3629903"/>
            <a:ext cx="1612900" cy="254000"/>
          </a:xfrm>
          <a:prstGeom prst="rect">
            <a:avLst/>
          </a:prstGeom>
          <a:noFill/>
        </p:spPr>
        <p:txBody>
          <a:bodyPr wrap="square" lIns="0" tIns="0" rIns="0" bIns="0" rtlCol="0" anchor="ctr"/>
          <a:lstStyle/>
          <a:p>
            <a:pPr marL="0" indent="0">
              <a:lnSpc>
                <a:spcPct val="120000"/>
              </a:lnSpc>
              <a:buNone/>
            </a:pPr>
            <a:r>
              <a:rPr lang="en-US" sz="1400" dirty="0" err="1">
                <a:solidFill>
                  <a:srgbClr val="8C3023"/>
                </a:solidFill>
                <a:latin typeface="MiSans" pitchFamily="34" charset="-122"/>
                <a:ea typeface="MiSans" pitchFamily="34" charset="-122"/>
                <a:cs typeface="MiSans" pitchFamily="34" charset="-120"/>
              </a:rPr>
              <a:t>运动个性化深度</a:t>
            </a:r>
            <a:r>
              <a:rPr lang="en-US" sz="1400" dirty="0">
                <a:solidFill>
                  <a:srgbClr val="8C3023"/>
                </a:solidFill>
                <a:latin typeface="MiSans" pitchFamily="34" charset="-122"/>
                <a:ea typeface="MiSans" pitchFamily="34" charset="-122"/>
                <a:cs typeface="MiSans" pitchFamily="34" charset="-120"/>
              </a:rPr>
              <a:t> →</a:t>
            </a:r>
            <a:endParaRPr lang="en-US" sz="1600" dirty="0"/>
          </a:p>
        </p:txBody>
      </p:sp>
      <p:sp>
        <p:nvSpPr>
          <p:cNvPr id="9" name="Shape 7"/>
          <p:cNvSpPr/>
          <p:nvPr/>
        </p:nvSpPr>
        <p:spPr>
          <a:xfrm>
            <a:off x="8583022" y="2863309"/>
            <a:ext cx="1270000" cy="711200"/>
          </a:xfrm>
          <a:custGeom>
            <a:avLst/>
            <a:gdLst/>
            <a:ahLst/>
            <a:cxnLst/>
            <a:rect l="l" t="t" r="r" b="b"/>
            <a:pathLst>
              <a:path w="1270000" h="711200">
                <a:moveTo>
                  <a:pt x="101602" y="0"/>
                </a:moveTo>
                <a:lnTo>
                  <a:pt x="1168398" y="0"/>
                </a:lnTo>
                <a:cubicBezTo>
                  <a:pt x="1224511" y="0"/>
                  <a:pt x="1270000" y="45489"/>
                  <a:pt x="1270000" y="101602"/>
                </a:cubicBezTo>
                <a:lnTo>
                  <a:pt x="1270000" y="609598"/>
                </a:lnTo>
                <a:cubicBezTo>
                  <a:pt x="1270000" y="665711"/>
                  <a:pt x="1224511" y="711200"/>
                  <a:pt x="1168398" y="711200"/>
                </a:cubicBezTo>
                <a:lnTo>
                  <a:pt x="101602" y="711200"/>
                </a:lnTo>
                <a:cubicBezTo>
                  <a:pt x="45489" y="711200"/>
                  <a:pt x="0" y="665711"/>
                  <a:pt x="0" y="609598"/>
                </a:cubicBezTo>
                <a:lnTo>
                  <a:pt x="0" y="101602"/>
                </a:lnTo>
                <a:cubicBezTo>
                  <a:pt x="0" y="45526"/>
                  <a:pt x="45526" y="0"/>
                  <a:pt x="101602" y="0"/>
                </a:cubicBezTo>
                <a:close/>
              </a:path>
            </a:pathLst>
          </a:custGeom>
          <a:solidFill>
            <a:srgbClr val="D1BBA2">
              <a:alpha val="50196"/>
            </a:srgbClr>
          </a:solidFill>
        </p:spPr>
      </p:sp>
      <p:sp>
        <p:nvSpPr>
          <p:cNvPr id="10" name="Text 8"/>
          <p:cNvSpPr/>
          <p:nvPr/>
        </p:nvSpPr>
        <p:spPr>
          <a:xfrm>
            <a:off x="8430622" y="2956976"/>
            <a:ext cx="1574800" cy="304800"/>
          </a:xfrm>
          <a:prstGeom prst="rect">
            <a:avLst/>
          </a:prstGeom>
          <a:noFill/>
        </p:spPr>
        <p:txBody>
          <a:bodyPr wrap="square" lIns="0" tIns="0" rIns="0" bIns="0" rtlCol="0" anchor="ctr"/>
          <a:lstStyle/>
          <a:p>
            <a:pPr marL="0" indent="0" algn="ctr">
              <a:lnSpc>
                <a:spcPct val="130000"/>
              </a:lnSpc>
              <a:buNone/>
            </a:pPr>
            <a:r>
              <a:rPr lang="en-US" sz="1600" dirty="0">
                <a:solidFill>
                  <a:srgbClr val="8C3023"/>
                </a:solidFill>
                <a:latin typeface="MiSans" pitchFamily="34" charset="-122"/>
                <a:ea typeface="MiSans" pitchFamily="34" charset="-122"/>
                <a:cs typeface="MiSans" pitchFamily="34" charset="-120"/>
              </a:rPr>
              <a:t>TrainTrack</a:t>
            </a:r>
            <a:endParaRPr lang="en-US" sz="1600" dirty="0"/>
          </a:p>
        </p:txBody>
      </p:sp>
      <p:sp>
        <p:nvSpPr>
          <p:cNvPr id="11" name="Text 9"/>
          <p:cNvSpPr/>
          <p:nvPr/>
        </p:nvSpPr>
        <p:spPr>
          <a:xfrm>
            <a:off x="8430622" y="3261776"/>
            <a:ext cx="1574800" cy="203200"/>
          </a:xfrm>
          <a:prstGeom prst="rect">
            <a:avLst/>
          </a:prstGeom>
          <a:noFill/>
        </p:spPr>
        <p:txBody>
          <a:bodyPr wrap="square" lIns="0" tIns="0" rIns="0" bIns="0" rtlCol="0" anchor="ctr"/>
          <a:lstStyle/>
          <a:p>
            <a:pPr marL="0" indent="0" algn="ctr">
              <a:lnSpc>
                <a:spcPct val="110000"/>
              </a:lnSpc>
              <a:buNone/>
            </a:pPr>
            <a:r>
              <a:rPr lang="en-US" sz="1200" dirty="0">
                <a:solidFill>
                  <a:srgbClr val="333333"/>
                </a:solidFill>
                <a:latin typeface="MiSans" pitchFamily="34" charset="-122"/>
                <a:ea typeface="MiSans" pitchFamily="34" charset="-122"/>
                <a:cs typeface="MiSans" pitchFamily="34" charset="-120"/>
              </a:rPr>
              <a:t>一体化深度运营</a:t>
            </a:r>
            <a:endParaRPr lang="en-US" sz="1600" dirty="0"/>
          </a:p>
        </p:txBody>
      </p:sp>
      <p:sp>
        <p:nvSpPr>
          <p:cNvPr id="12" name="Shape 10"/>
          <p:cNvSpPr/>
          <p:nvPr/>
        </p:nvSpPr>
        <p:spPr>
          <a:xfrm>
            <a:off x="8583022" y="4443245"/>
            <a:ext cx="1308100" cy="711200"/>
          </a:xfrm>
          <a:custGeom>
            <a:avLst/>
            <a:gdLst/>
            <a:ahLst/>
            <a:cxnLst/>
            <a:rect l="l" t="t" r="r" b="b"/>
            <a:pathLst>
              <a:path w="1308100" h="711200">
                <a:moveTo>
                  <a:pt x="101602" y="0"/>
                </a:moveTo>
                <a:lnTo>
                  <a:pt x="1206498" y="0"/>
                </a:lnTo>
                <a:cubicBezTo>
                  <a:pt x="1262611" y="0"/>
                  <a:pt x="1308100" y="45489"/>
                  <a:pt x="1308100" y="101602"/>
                </a:cubicBezTo>
                <a:lnTo>
                  <a:pt x="1308100" y="609598"/>
                </a:lnTo>
                <a:cubicBezTo>
                  <a:pt x="1308100" y="665711"/>
                  <a:pt x="1262611" y="711200"/>
                  <a:pt x="1206498" y="711200"/>
                </a:cubicBezTo>
                <a:lnTo>
                  <a:pt x="101602" y="711200"/>
                </a:lnTo>
                <a:cubicBezTo>
                  <a:pt x="45489" y="711200"/>
                  <a:pt x="0" y="665711"/>
                  <a:pt x="0" y="609598"/>
                </a:cubicBezTo>
                <a:lnTo>
                  <a:pt x="0" y="101602"/>
                </a:lnTo>
                <a:cubicBezTo>
                  <a:pt x="0" y="45526"/>
                  <a:pt x="45526" y="0"/>
                  <a:pt x="101602" y="0"/>
                </a:cubicBezTo>
                <a:close/>
              </a:path>
            </a:pathLst>
          </a:custGeom>
          <a:solidFill>
            <a:srgbClr val="E5E7EB">
              <a:alpha val="80000"/>
            </a:srgbClr>
          </a:solidFill>
        </p:spPr>
      </p:sp>
      <p:sp>
        <p:nvSpPr>
          <p:cNvPr id="13" name="Text 11"/>
          <p:cNvSpPr/>
          <p:nvPr/>
        </p:nvSpPr>
        <p:spPr>
          <a:xfrm>
            <a:off x="8430622" y="4646445"/>
            <a:ext cx="1612900" cy="304800"/>
          </a:xfrm>
          <a:prstGeom prst="rect">
            <a:avLst/>
          </a:prstGeom>
          <a:noFill/>
        </p:spPr>
        <p:txBody>
          <a:bodyPr wrap="square" lIns="0" tIns="0" rIns="0" bIns="0" rtlCol="0" anchor="ctr"/>
          <a:lstStyle/>
          <a:p>
            <a:pPr marL="0" indent="0" algn="ctr">
              <a:lnSpc>
                <a:spcPct val="130000"/>
              </a:lnSpc>
              <a:buNone/>
            </a:pPr>
            <a:r>
              <a:rPr lang="en-US" sz="1600" dirty="0">
                <a:solidFill>
                  <a:srgbClr val="4A5565"/>
                </a:solidFill>
                <a:latin typeface="MiSans" pitchFamily="34" charset="-122"/>
                <a:ea typeface="MiSans" pitchFamily="34" charset="-122"/>
                <a:cs typeface="MiSans" pitchFamily="34" charset="-120"/>
              </a:rPr>
              <a:t>Keep</a:t>
            </a:r>
            <a:endParaRPr lang="en-US" sz="1600" dirty="0"/>
          </a:p>
        </p:txBody>
      </p:sp>
      <p:sp>
        <p:nvSpPr>
          <p:cNvPr id="15" name="Shape 13"/>
          <p:cNvSpPr/>
          <p:nvPr/>
        </p:nvSpPr>
        <p:spPr>
          <a:xfrm>
            <a:off x="2450114" y="4443245"/>
            <a:ext cx="1117600" cy="711200"/>
          </a:xfrm>
          <a:custGeom>
            <a:avLst/>
            <a:gdLst/>
            <a:ahLst/>
            <a:cxnLst/>
            <a:rect l="l" t="t" r="r" b="b"/>
            <a:pathLst>
              <a:path w="1117600" h="711200">
                <a:moveTo>
                  <a:pt x="101602" y="0"/>
                </a:moveTo>
                <a:lnTo>
                  <a:pt x="1015998" y="0"/>
                </a:lnTo>
                <a:cubicBezTo>
                  <a:pt x="1072111" y="0"/>
                  <a:pt x="1117600" y="45489"/>
                  <a:pt x="1117600" y="101602"/>
                </a:cubicBezTo>
                <a:lnTo>
                  <a:pt x="1117600" y="609598"/>
                </a:lnTo>
                <a:cubicBezTo>
                  <a:pt x="1117600" y="665711"/>
                  <a:pt x="1072111" y="711200"/>
                  <a:pt x="1015998" y="711200"/>
                </a:cubicBezTo>
                <a:lnTo>
                  <a:pt x="101602" y="711200"/>
                </a:lnTo>
                <a:cubicBezTo>
                  <a:pt x="45489" y="711200"/>
                  <a:pt x="0" y="665711"/>
                  <a:pt x="0" y="609598"/>
                </a:cubicBezTo>
                <a:lnTo>
                  <a:pt x="0" y="101602"/>
                </a:lnTo>
                <a:cubicBezTo>
                  <a:pt x="0" y="45526"/>
                  <a:pt x="45526" y="0"/>
                  <a:pt x="101602" y="0"/>
                </a:cubicBezTo>
                <a:close/>
              </a:path>
            </a:pathLst>
          </a:custGeom>
          <a:solidFill>
            <a:srgbClr val="E5E7EB">
              <a:alpha val="80000"/>
            </a:srgbClr>
          </a:solidFill>
        </p:spPr>
      </p:sp>
      <p:sp>
        <p:nvSpPr>
          <p:cNvPr id="16" name="Text 14"/>
          <p:cNvSpPr/>
          <p:nvPr/>
        </p:nvSpPr>
        <p:spPr>
          <a:xfrm>
            <a:off x="2297714" y="4646445"/>
            <a:ext cx="1422400" cy="304800"/>
          </a:xfrm>
          <a:prstGeom prst="rect">
            <a:avLst/>
          </a:prstGeom>
          <a:noFill/>
        </p:spPr>
        <p:txBody>
          <a:bodyPr wrap="square" lIns="0" tIns="0" rIns="0" bIns="0" rtlCol="0" anchor="ctr"/>
          <a:lstStyle/>
          <a:p>
            <a:pPr marL="0" indent="0" algn="ctr">
              <a:lnSpc>
                <a:spcPct val="130000"/>
              </a:lnSpc>
              <a:buNone/>
            </a:pPr>
            <a:r>
              <a:rPr lang="en-US" sz="1600" dirty="0">
                <a:solidFill>
                  <a:srgbClr val="4A5565"/>
                </a:solidFill>
                <a:latin typeface="MiSans" pitchFamily="34" charset="-122"/>
                <a:ea typeface="MiSans" pitchFamily="34" charset="-122"/>
                <a:cs typeface="MiSans" pitchFamily="34" charset="-120"/>
              </a:rPr>
              <a:t>薄荷健康</a:t>
            </a:r>
            <a:endParaRPr lang="en-US" sz="1600" dirty="0"/>
          </a:p>
        </p:txBody>
      </p:sp>
      <p:sp>
        <p:nvSpPr>
          <p:cNvPr id="17" name="Text 15"/>
          <p:cNvSpPr/>
          <p:nvPr/>
        </p:nvSpPr>
        <p:spPr>
          <a:xfrm>
            <a:off x="2297714" y="4849645"/>
            <a:ext cx="1422400" cy="203200"/>
          </a:xfrm>
          <a:prstGeom prst="rect">
            <a:avLst/>
          </a:prstGeom>
          <a:noFill/>
        </p:spPr>
        <p:txBody>
          <a:bodyPr wrap="square" lIns="0" tIns="0" rIns="0" bIns="0" rtlCol="0" anchor="ctr"/>
          <a:lstStyle/>
          <a:p>
            <a:pPr marL="0" indent="0" algn="ctr">
              <a:lnSpc>
                <a:spcPct val="110000"/>
              </a:lnSpc>
              <a:buNone/>
            </a:pPr>
            <a:endParaRPr lang="en-US" sz="1600" dirty="0"/>
          </a:p>
        </p:txBody>
      </p:sp>
      <p:cxnSp>
        <p:nvCxnSpPr>
          <p:cNvPr id="20" name="直线箭头连接符 19"/>
          <p:cNvCxnSpPr/>
          <p:nvPr/>
        </p:nvCxnSpPr>
        <p:spPr>
          <a:xfrm flipV="1">
            <a:off x="379379" y="2577830"/>
            <a:ext cx="0" cy="30447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直线箭头连接符 21"/>
          <p:cNvCxnSpPr/>
          <p:nvPr/>
        </p:nvCxnSpPr>
        <p:spPr>
          <a:xfrm>
            <a:off x="369651" y="5632315"/>
            <a:ext cx="1150206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直线箭头连接符 18"/>
          <p:cNvCxnSpPr/>
          <p:nvPr/>
        </p:nvCxnSpPr>
        <p:spPr>
          <a:xfrm>
            <a:off x="379379" y="4109663"/>
            <a:ext cx="11502066" cy="0"/>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直线连接符 22"/>
          <p:cNvCxnSpPr/>
          <p:nvPr/>
        </p:nvCxnSpPr>
        <p:spPr>
          <a:xfrm flipV="1">
            <a:off x="6244044" y="2489199"/>
            <a:ext cx="0" cy="313338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Shape 10"/>
          <p:cNvSpPr/>
          <p:nvPr/>
        </p:nvSpPr>
        <p:spPr>
          <a:xfrm>
            <a:off x="2384205" y="2907623"/>
            <a:ext cx="1308100" cy="711200"/>
          </a:xfrm>
          <a:custGeom>
            <a:avLst/>
            <a:gdLst/>
            <a:ahLst/>
            <a:cxnLst/>
            <a:rect l="l" t="t" r="r" b="b"/>
            <a:pathLst>
              <a:path w="1308100" h="711200">
                <a:moveTo>
                  <a:pt x="101602" y="0"/>
                </a:moveTo>
                <a:lnTo>
                  <a:pt x="1206498" y="0"/>
                </a:lnTo>
                <a:cubicBezTo>
                  <a:pt x="1262611" y="0"/>
                  <a:pt x="1308100" y="45489"/>
                  <a:pt x="1308100" y="101602"/>
                </a:cubicBezTo>
                <a:lnTo>
                  <a:pt x="1308100" y="609598"/>
                </a:lnTo>
                <a:cubicBezTo>
                  <a:pt x="1308100" y="665711"/>
                  <a:pt x="1262611" y="711200"/>
                  <a:pt x="1206498" y="711200"/>
                </a:cubicBezTo>
                <a:lnTo>
                  <a:pt x="101602" y="711200"/>
                </a:lnTo>
                <a:cubicBezTo>
                  <a:pt x="45489" y="711200"/>
                  <a:pt x="0" y="665711"/>
                  <a:pt x="0" y="609598"/>
                </a:cubicBezTo>
                <a:lnTo>
                  <a:pt x="0" y="101602"/>
                </a:lnTo>
                <a:cubicBezTo>
                  <a:pt x="0" y="45526"/>
                  <a:pt x="45526" y="0"/>
                  <a:pt x="101602" y="0"/>
                </a:cubicBezTo>
                <a:close/>
              </a:path>
            </a:pathLst>
          </a:custGeom>
          <a:solidFill>
            <a:srgbClr val="E5E7EB">
              <a:alpha val="80000"/>
            </a:srgbClr>
          </a:solidFill>
        </p:spPr>
      </p:sp>
      <p:sp>
        <p:nvSpPr>
          <p:cNvPr id="25" name="Text 11"/>
          <p:cNvSpPr/>
          <p:nvPr/>
        </p:nvSpPr>
        <p:spPr>
          <a:xfrm>
            <a:off x="2231805" y="3103936"/>
            <a:ext cx="1612900" cy="304800"/>
          </a:xfrm>
          <a:prstGeom prst="rect">
            <a:avLst/>
          </a:prstGeom>
          <a:noFill/>
        </p:spPr>
        <p:txBody>
          <a:bodyPr wrap="square" lIns="0" tIns="0" rIns="0" bIns="0" rtlCol="0" anchor="ctr"/>
          <a:lstStyle/>
          <a:p>
            <a:pPr marL="0" indent="0" algn="ctr">
              <a:lnSpc>
                <a:spcPct val="130000"/>
              </a:lnSpc>
              <a:buNone/>
            </a:pPr>
            <a:r>
              <a:rPr lang="en-US" sz="1600" dirty="0">
                <a:solidFill>
                  <a:srgbClr val="4A5565"/>
                </a:solidFill>
                <a:latin typeface="MiSans" pitchFamily="34" charset="-122"/>
                <a:ea typeface="MiSans" pitchFamily="34" charset="-122"/>
                <a:cs typeface="MiSans" pitchFamily="34" charset="-120"/>
              </a:rPr>
              <a:t>Nike</a:t>
            </a:r>
            <a:endParaRPr lang="en-US" sz="1600" dirty="0"/>
          </a:p>
        </p:txBody>
      </p:sp>
      <p:sp>
        <p:nvSpPr>
          <p:cNvPr id="26" name="Text 12"/>
          <p:cNvSpPr/>
          <p:nvPr/>
        </p:nvSpPr>
        <p:spPr>
          <a:xfrm>
            <a:off x="2231805" y="3314023"/>
            <a:ext cx="1612900" cy="203200"/>
          </a:xfrm>
          <a:prstGeom prst="rect">
            <a:avLst/>
          </a:prstGeom>
          <a:noFill/>
        </p:spPr>
        <p:txBody>
          <a:bodyPr wrap="square" lIns="0" tIns="0" rIns="0" bIns="0" rtlCol="0" anchor="ctr"/>
          <a:lstStyle/>
          <a:p>
            <a:pPr marL="0" indent="0" algn="ctr">
              <a:lnSpc>
                <a:spcPct val="110000"/>
              </a:lnSpc>
              <a:buNone/>
            </a:pP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230091" cy="6871516"/>
          </a:xfrm>
          <a:prstGeom prst="rect">
            <a:avLst/>
          </a:prstGeom>
          <a:solidFill>
            <a:srgbClr val="93280F"/>
          </a:solidFill>
        </p:spPr>
      </p:sp>
      <p:sp>
        <p:nvSpPr>
          <p:cNvPr id="3" name="Text 1"/>
          <p:cNvSpPr/>
          <p:nvPr/>
        </p:nvSpPr>
        <p:spPr>
          <a:xfrm>
            <a:off x="0" y="1"/>
            <a:ext cx="12230091" cy="6871516"/>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img.moonshot.cn/pub/slides/slides_tmpl/image/25-10-13-16:02:24-d3mb440s8jdo4os5f0d0.png"/>
          <p:cNvPicPr>
            <a:picLocks noChangeAspect="1"/>
          </p:cNvPicPr>
          <p:nvPr/>
        </p:nvPicPr>
        <p:blipFill>
          <a:blip r:embed="rId3"/>
          <a:stretch>
            <a:fillRect/>
          </a:stretch>
        </p:blipFill>
        <p:spPr>
          <a:xfrm>
            <a:off x="3175" y="-13335"/>
            <a:ext cx="12226925" cy="6871335"/>
          </a:xfrm>
          <a:prstGeom prst="rect">
            <a:avLst/>
          </a:prstGeom>
        </p:spPr>
      </p:pic>
      <p:sp>
        <p:nvSpPr>
          <p:cNvPr id="6" name="Text 3"/>
          <p:cNvSpPr/>
          <p:nvPr/>
        </p:nvSpPr>
        <p:spPr>
          <a:xfrm>
            <a:off x="537341" y="2321510"/>
            <a:ext cx="2571347" cy="2359620"/>
          </a:xfrm>
          <a:prstGeom prst="rect">
            <a:avLst/>
          </a:prstGeom>
          <a:noFill/>
        </p:spPr>
        <p:txBody>
          <a:bodyPr wrap="square" lIns="25400" tIns="25400" rIns="25400" bIns="25400" rtlCol="0" anchor="ctr">
            <a:spAutoFit/>
          </a:bodyPr>
          <a:lstStyle/>
          <a:p>
            <a:pPr marL="0" indent="0" algn="l">
              <a:lnSpc>
                <a:spcPct val="100000"/>
              </a:lnSpc>
              <a:buNone/>
            </a:pPr>
            <a:r>
              <a:rPr lang="en-US"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0</a:t>
            </a:r>
            <a:r>
              <a:rPr lang="en-US" altLang="zh-CN"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4</a:t>
            </a:r>
            <a:endParaRPr lang="en-US" sz="1600" dirty="0"/>
          </a:p>
        </p:txBody>
      </p:sp>
      <p:pic>
        <p:nvPicPr>
          <p:cNvPr id="7" name="Image 1" descr="https://kimi-img.moonshot.cn/pub/slides/slides_tmpl/image/25-10-13-16:02:24-d3mb440s8jdo4os5f0bg.png"/>
          <p:cNvPicPr>
            <a:picLocks noChangeAspect="1"/>
          </p:cNvPicPr>
          <p:nvPr/>
        </p:nvPicPr>
        <p:blipFill>
          <a:blip r:embed="rId4"/>
          <a:stretch>
            <a:fillRect/>
          </a:stretch>
        </p:blipFill>
        <p:spPr>
          <a:xfrm>
            <a:off x="10918055" y="843185"/>
            <a:ext cx="628927" cy="1213328"/>
          </a:xfrm>
          <a:prstGeom prst="rect">
            <a:avLst/>
          </a:prstGeom>
        </p:spPr>
      </p:pic>
      <p:pic>
        <p:nvPicPr>
          <p:cNvPr id="8" name="Image 2" descr="https://kimi-img.moonshot.cn/pub/slides/slides_tmpl/image/25-10-13-16:02:24-d3mb440s8jdo4os5f0bg.png"/>
          <p:cNvPicPr>
            <a:picLocks noChangeAspect="1"/>
          </p:cNvPicPr>
          <p:nvPr/>
        </p:nvPicPr>
        <p:blipFill>
          <a:blip r:embed="rId4"/>
          <a:stretch>
            <a:fillRect/>
          </a:stretch>
        </p:blipFill>
        <p:spPr>
          <a:xfrm>
            <a:off x="10364463" y="1314825"/>
            <a:ext cx="384453" cy="741689"/>
          </a:xfrm>
          <a:prstGeom prst="rect">
            <a:avLst/>
          </a:prstGeom>
        </p:spPr>
      </p:pic>
      <p:pic>
        <p:nvPicPr>
          <p:cNvPr id="9" name="Image 3" descr="https://kimi-img.moonshot.cn/pub/slides/slides_tmpl/image/25-10-13-16:02:24-d3mb440s8jdo4os5f0c0.png"/>
          <p:cNvPicPr>
            <a:picLocks noChangeAspect="1"/>
          </p:cNvPicPr>
          <p:nvPr/>
        </p:nvPicPr>
        <p:blipFill>
          <a:blip r:embed="rId5"/>
          <a:stretch>
            <a:fillRect/>
          </a:stretch>
        </p:blipFill>
        <p:spPr>
          <a:xfrm>
            <a:off x="9485266" y="4801487"/>
            <a:ext cx="2527300" cy="304800"/>
          </a:xfrm>
          <a:prstGeom prst="rect">
            <a:avLst/>
          </a:prstGeom>
        </p:spPr>
      </p:pic>
      <p:sp>
        <p:nvSpPr>
          <p:cNvPr id="11" name="Text 2"/>
          <p:cNvSpPr/>
          <p:nvPr/>
        </p:nvSpPr>
        <p:spPr>
          <a:xfrm>
            <a:off x="4097138" y="3064797"/>
            <a:ext cx="6267325" cy="728405"/>
          </a:xfrm>
          <a:prstGeom prst="rect">
            <a:avLst/>
          </a:prstGeom>
          <a:noFill/>
        </p:spPr>
        <p:txBody>
          <a:bodyPr wrap="square" lIns="25400" tIns="25400" rIns="25400" bIns="25400" rtlCol="0" anchor="ctr">
            <a:spAutoFit/>
          </a:bodyPr>
          <a:lstStyle/>
          <a:p>
            <a:r>
              <a:rPr lang="en-US" altLang="zh-CN" sz="4400" b="1" dirty="0" err="1">
                <a:solidFill>
                  <a:srgbClr val="93280F"/>
                </a:solidFill>
                <a:latin typeface="Arial" panose="020B0604020202020204" pitchFamily="34" charset="0"/>
                <a:ea typeface="Noto Sans SC" panose="020B0200000000000000" pitchFamily="34" charset="-122"/>
                <a:cs typeface="Arial" panose="020B0604020202020204" pitchFamily="34" charset="0"/>
              </a:rPr>
              <a:t>目标用户</a:t>
            </a:r>
            <a:r>
              <a:rPr lang="en-US" sz="4400" b="1" dirty="0" err="1">
                <a:solidFill>
                  <a:srgbClr val="93280F"/>
                </a:solidFill>
                <a:latin typeface="Arial" panose="020B0604020202020204" pitchFamily="34" charset="0"/>
                <a:ea typeface="Noto Sans SC" panose="020B0200000000000000" pitchFamily="34" charset="-122"/>
                <a:cs typeface="Arial" panose="020B0604020202020204" pitchFamily="34" charset="0"/>
              </a:rPr>
              <a:t>与全域营销策略</a:t>
            </a:r>
            <a:endParaRPr lang="en-US" sz="1600" b="1"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1270" y="635"/>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635" y="203835"/>
            <a:ext cx="12192000" cy="508000"/>
          </a:xfrm>
          <a:prstGeom prst="rect">
            <a:avLst/>
          </a:prstGeom>
          <a:noFill/>
        </p:spPr>
        <p:txBody>
          <a:bodyPr wrap="square" lIns="0" tIns="0" rIns="0" bIns="0" rtlCol="0" anchor="ctr"/>
          <a:lstStyle/>
          <a:p>
            <a:pPr marL="0" indent="0" algn="ctr">
              <a:lnSpc>
                <a:spcPct val="90000"/>
              </a:lnSpc>
              <a:buNone/>
            </a:pPr>
            <a:r>
              <a:rPr lang="en-US" sz="3600" dirty="0" err="1">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用户画像</a:t>
            </a:r>
            <a:endParaRPr lang="en-US" sz="1600" dirty="0"/>
          </a:p>
        </p:txBody>
      </p:sp>
      <p:sp>
        <p:nvSpPr>
          <p:cNvPr id="5" name="Shape 3"/>
          <p:cNvSpPr/>
          <p:nvPr/>
        </p:nvSpPr>
        <p:spPr>
          <a:xfrm>
            <a:off x="897543" y="915035"/>
            <a:ext cx="10396913" cy="5552267"/>
          </a:xfrm>
          <a:custGeom>
            <a:avLst/>
            <a:gdLst/>
            <a:ahLst/>
            <a:cxnLst/>
            <a:rect l="l" t="t" r="r" b="b"/>
            <a:pathLst>
              <a:path w="3695700" h="2184400">
                <a:moveTo>
                  <a:pt x="101596" y="0"/>
                </a:moveTo>
                <a:lnTo>
                  <a:pt x="3594104" y="0"/>
                </a:lnTo>
                <a:cubicBezTo>
                  <a:pt x="3650214" y="0"/>
                  <a:pt x="3695700" y="45486"/>
                  <a:pt x="3695700" y="101596"/>
                </a:cubicBezTo>
                <a:lnTo>
                  <a:pt x="3695700" y="2082804"/>
                </a:lnTo>
                <a:cubicBezTo>
                  <a:pt x="3695700" y="2138914"/>
                  <a:pt x="3650214" y="2184400"/>
                  <a:pt x="3594104" y="2184400"/>
                </a:cubicBezTo>
                <a:lnTo>
                  <a:pt x="101596" y="2184400"/>
                </a:lnTo>
                <a:cubicBezTo>
                  <a:pt x="45486" y="2184400"/>
                  <a:pt x="0" y="2138914"/>
                  <a:pt x="0" y="2082804"/>
                </a:cubicBezTo>
                <a:lnTo>
                  <a:pt x="0" y="101596"/>
                </a:lnTo>
                <a:cubicBezTo>
                  <a:pt x="0" y="45524"/>
                  <a:pt x="45524" y="0"/>
                  <a:pt x="101596" y="0"/>
                </a:cubicBezTo>
                <a:close/>
              </a:path>
            </a:pathLst>
          </a:custGeom>
          <a:solidFill>
            <a:srgbClr val="D1BBA2">
              <a:alpha val="30196"/>
            </a:srgbClr>
          </a:solidFill>
        </p:spPr>
        <p:txBody>
          <a:bodyPr/>
          <a:lstStyle/>
          <a:p>
            <a:endParaRPr lang="zh-CN" altLang="en-US" dirty="0"/>
          </a:p>
        </p:txBody>
      </p:sp>
      <p:sp>
        <p:nvSpPr>
          <p:cNvPr id="7" name="Text 5"/>
          <p:cNvSpPr/>
          <p:nvPr/>
        </p:nvSpPr>
        <p:spPr>
          <a:xfrm>
            <a:off x="1222519" y="1034155"/>
            <a:ext cx="9745056" cy="4908810"/>
          </a:xfrm>
          <a:prstGeom prst="rect">
            <a:avLst/>
          </a:prstGeom>
          <a:noFill/>
        </p:spPr>
        <p:txBody>
          <a:bodyPr wrap="square" lIns="0" tIns="0" rIns="0" bIns="0" rtlCol="0" anchor="t"/>
          <a:lstStyle/>
          <a:p>
            <a:pPr marL="0" indent="0">
              <a:lnSpc>
                <a:spcPct val="120000"/>
              </a:lnSpc>
              <a:buNone/>
            </a:pPr>
            <a:endParaRPr lang="en-US" sz="20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endParaRPr>
          </a:p>
          <a:p>
            <a:pPr marL="285750" lvl="0" indent="-285750">
              <a:lnSpc>
                <a:spcPct val="150000"/>
              </a:lnSpc>
              <a:buFont typeface="Arial" panose="020B0604020202020204" pitchFamily="34" charset="0"/>
              <a:buChar char="•"/>
            </a:pPr>
            <a:r>
              <a:rPr lang="zh-CN" altLang="zh-CN" sz="2000" b="1" dirty="0"/>
              <a:t>健身爱好者：</a:t>
            </a:r>
            <a:r>
              <a:rPr lang="en-US" altLang="zh-CN" sz="2000" b="1" dirty="0"/>
              <a:t> </a:t>
            </a:r>
            <a:r>
              <a:rPr lang="en-US" altLang="zh-CN" sz="2000" dirty="0"/>
              <a:t>18-45</a:t>
            </a:r>
            <a:r>
              <a:rPr lang="zh-CN" altLang="zh-CN" sz="2000" dirty="0"/>
              <a:t>岁，男女比例均衡，中等收入及以上，有健身习惯，需要个性化训练计划、专业的动作指导和数据追踪。</a:t>
            </a:r>
          </a:p>
          <a:p>
            <a:pPr marL="285750" indent="-285750">
              <a:lnSpc>
                <a:spcPct val="150000"/>
              </a:lnSpc>
              <a:buFont typeface="Arial" panose="020B0604020202020204" pitchFamily="34" charset="0"/>
              <a:buChar char="•"/>
            </a:pPr>
            <a:r>
              <a:rPr lang="zh-CN" altLang="zh-CN" sz="2000" b="1" dirty="0"/>
              <a:t>时间有限的上班族：</a:t>
            </a:r>
            <a:r>
              <a:rPr lang="en-US" altLang="zh-CN" sz="2000" dirty="0"/>
              <a:t> 25-40</a:t>
            </a:r>
            <a:r>
              <a:rPr lang="zh-CN" altLang="zh-CN" sz="2000" dirty="0"/>
              <a:t>岁，男女比例均衡，中等收入及以上，工作繁忙，需要方便快捷的训练计划。</a:t>
            </a:r>
          </a:p>
          <a:p>
            <a:pPr marL="285750" indent="-285750">
              <a:lnSpc>
                <a:spcPct val="150000"/>
              </a:lnSpc>
              <a:buFont typeface="Arial" panose="020B0604020202020204" pitchFamily="34" charset="0"/>
              <a:buChar char="•"/>
            </a:pPr>
            <a:r>
              <a:rPr lang="zh-CN" altLang="zh-CN" sz="2000" b="1" dirty="0"/>
              <a:t>追求个性化健身方案的人群：</a:t>
            </a:r>
            <a:r>
              <a:rPr lang="en-US" altLang="zh-CN" sz="2000" b="1" dirty="0"/>
              <a:t> </a:t>
            </a:r>
            <a:r>
              <a:rPr lang="en-US" altLang="zh-CN" sz="2000" dirty="0"/>
              <a:t>20-35</a:t>
            </a:r>
            <a:r>
              <a:rPr lang="zh-CN" altLang="zh-CN" sz="2000" dirty="0"/>
              <a:t>岁，男女比例均衡，中等收入及以上，对健身有较高要求，需要详细的身体数据分析和定制化的训练计划和饮食建议。</a:t>
            </a:r>
          </a:p>
          <a:p>
            <a:pPr marL="285750" indent="-285750">
              <a:lnSpc>
                <a:spcPct val="150000"/>
              </a:lnSpc>
              <a:buFont typeface="Arial" panose="020B0604020202020204" pitchFamily="34" charset="0"/>
              <a:buChar char="•"/>
            </a:pPr>
            <a:r>
              <a:rPr lang="zh-CN" altLang="zh-CN" sz="2000" b="1" dirty="0"/>
              <a:t>喜欢社交互动的人群：</a:t>
            </a:r>
            <a:r>
              <a:rPr lang="en-US" altLang="zh-CN" sz="2000" b="1" dirty="0"/>
              <a:t> </a:t>
            </a:r>
            <a:r>
              <a:rPr lang="en-US" altLang="zh-CN" sz="2000" dirty="0"/>
              <a:t>18-30</a:t>
            </a:r>
            <a:r>
              <a:rPr lang="zh-CN" altLang="zh-CN" sz="2000" dirty="0"/>
              <a:t>岁，男女比例均衡，中等收入及以上，喜欢在社交平台分享健身成果，需要便捷的社交分享功能和活跃的健身社区。</a:t>
            </a:r>
          </a:p>
          <a:p>
            <a:pPr marL="285750" indent="-285750">
              <a:lnSpc>
                <a:spcPct val="150000"/>
              </a:lnSpc>
              <a:buFont typeface="Arial" panose="020B0604020202020204" pitchFamily="34" charset="0"/>
              <a:buChar char="•"/>
            </a:pPr>
            <a:r>
              <a:rPr lang="zh-CN" altLang="zh-CN" sz="2000" b="1" dirty="0"/>
              <a:t>需要专业指导的人群：</a:t>
            </a:r>
            <a:r>
              <a:rPr lang="en-US" altLang="zh-CN" sz="2000" b="1" dirty="0"/>
              <a:t> </a:t>
            </a:r>
            <a:r>
              <a:rPr lang="en-US" altLang="zh-CN" sz="2000" dirty="0"/>
              <a:t>20-50</a:t>
            </a:r>
            <a:r>
              <a:rPr lang="zh-CN" altLang="zh-CN" sz="2000" dirty="0"/>
              <a:t>岁，男女比例均衡，中等收入及以上，对健身知识了解不多，需要专业的训练动作指导。</a:t>
            </a:r>
          </a:p>
          <a:p>
            <a:pPr marL="0" indent="0">
              <a:lnSpc>
                <a:spcPct val="150000"/>
              </a:lnSpc>
              <a:buNone/>
            </a:pPr>
            <a:endParaRPr lang="en-US" sz="2000" b="1" dirty="0"/>
          </a:p>
          <a:p>
            <a:pPr marL="0" indent="0">
              <a:lnSpc>
                <a:spcPct val="120000"/>
              </a:lnSpc>
              <a:buNone/>
            </a:pP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35"/>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gn="ctr">
              <a:lnSpc>
                <a:spcPct val="150000"/>
              </a:lnSpc>
              <a:buNone/>
            </a:pPr>
            <a:endParaRPr lang="en-US" sz="1600" dirty="0"/>
          </a:p>
        </p:txBody>
      </p:sp>
      <p:sp>
        <p:nvSpPr>
          <p:cNvPr id="6" name="Shape 4"/>
          <p:cNvSpPr/>
          <p:nvPr/>
        </p:nvSpPr>
        <p:spPr>
          <a:xfrm>
            <a:off x="781993" y="1332171"/>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7" name="Shape 5"/>
          <p:cNvSpPr/>
          <p:nvPr/>
        </p:nvSpPr>
        <p:spPr>
          <a:xfrm>
            <a:off x="2061027" y="1780885"/>
            <a:ext cx="428625" cy="381000"/>
          </a:xfrm>
          <a:custGeom>
            <a:avLst/>
            <a:gdLst/>
            <a:ahLst/>
            <a:cxnLst/>
            <a:rect l="l" t="t" r="r" b="b"/>
            <a:pathLst>
              <a:path w="428625" h="381000">
                <a:moveTo>
                  <a:pt x="71438" y="47625"/>
                </a:moveTo>
                <a:cubicBezTo>
                  <a:pt x="45169" y="47625"/>
                  <a:pt x="23812" y="68982"/>
                  <a:pt x="23812" y="95250"/>
                </a:cubicBezTo>
                <a:lnTo>
                  <a:pt x="23812" y="285750"/>
                </a:lnTo>
                <a:cubicBezTo>
                  <a:pt x="23812" y="312018"/>
                  <a:pt x="45169" y="333375"/>
                  <a:pt x="71438" y="333375"/>
                </a:cubicBezTo>
                <a:lnTo>
                  <a:pt x="261938" y="333375"/>
                </a:lnTo>
                <a:cubicBezTo>
                  <a:pt x="288206" y="333375"/>
                  <a:pt x="309563" y="312018"/>
                  <a:pt x="309563" y="285750"/>
                </a:cubicBezTo>
                <a:lnTo>
                  <a:pt x="309563" y="95250"/>
                </a:lnTo>
                <a:cubicBezTo>
                  <a:pt x="309563" y="68982"/>
                  <a:pt x="288206" y="47625"/>
                  <a:pt x="261938" y="47625"/>
                </a:cubicBezTo>
                <a:lnTo>
                  <a:pt x="71438" y="47625"/>
                </a:lnTo>
                <a:close/>
                <a:moveTo>
                  <a:pt x="345281" y="250031"/>
                </a:moveTo>
                <a:lnTo>
                  <a:pt x="399976" y="293787"/>
                </a:lnTo>
                <a:cubicBezTo>
                  <a:pt x="403101" y="296317"/>
                  <a:pt x="406971" y="297656"/>
                  <a:pt x="410989" y="297656"/>
                </a:cubicBezTo>
                <a:cubicBezTo>
                  <a:pt x="420737" y="297656"/>
                  <a:pt x="428625" y="289768"/>
                  <a:pt x="428625" y="280020"/>
                </a:cubicBezTo>
                <a:lnTo>
                  <a:pt x="428625" y="100980"/>
                </a:lnTo>
                <a:cubicBezTo>
                  <a:pt x="428625" y="91232"/>
                  <a:pt x="420737" y="83344"/>
                  <a:pt x="410989" y="83344"/>
                </a:cubicBezTo>
                <a:cubicBezTo>
                  <a:pt x="406971" y="83344"/>
                  <a:pt x="403101" y="84683"/>
                  <a:pt x="399976" y="87213"/>
                </a:cubicBezTo>
                <a:lnTo>
                  <a:pt x="345281" y="130969"/>
                </a:lnTo>
                <a:lnTo>
                  <a:pt x="345281" y="250031"/>
                </a:lnTo>
                <a:close/>
              </a:path>
            </a:pathLst>
          </a:custGeom>
          <a:solidFill>
            <a:srgbClr val="8C3023"/>
          </a:solidFill>
        </p:spPr>
      </p:sp>
      <p:sp>
        <p:nvSpPr>
          <p:cNvPr id="8" name="Text 6"/>
          <p:cNvSpPr/>
          <p:nvPr/>
        </p:nvSpPr>
        <p:spPr>
          <a:xfrm>
            <a:off x="832129" y="2161885"/>
            <a:ext cx="2882148" cy="670965"/>
          </a:xfrm>
          <a:prstGeom prst="rect">
            <a:avLst/>
          </a:prstGeom>
          <a:noFill/>
        </p:spPr>
        <p:txBody>
          <a:bodyPr wrap="square" lIns="0" tIns="0" rIns="0" bIns="0" rtlCol="0" anchor="ctr"/>
          <a:lstStyle/>
          <a:p>
            <a:pPr algn="ctr">
              <a:lnSpc>
                <a:spcPct val="90000"/>
              </a:lnSpc>
            </a:pPr>
            <a:r>
              <a:rPr lang="en-US" altLang="zh-CN" sz="2400" b="1" dirty="0" err="1">
                <a:solidFill>
                  <a:srgbClr val="8C3023"/>
                </a:solidFill>
                <a:latin typeface="+mn-ea"/>
                <a:cs typeface="Noto Sans SC" panose="020B0200000000000000" pitchFamily="34" charset="-120"/>
              </a:rPr>
              <a:t>社交媒体内容飞轮</a:t>
            </a:r>
            <a:endParaRPr lang="en-US" altLang="zh-CN" sz="1100" b="1" dirty="0">
              <a:latin typeface="+mn-ea"/>
            </a:endParaRPr>
          </a:p>
        </p:txBody>
      </p:sp>
      <p:sp>
        <p:nvSpPr>
          <p:cNvPr id="9" name="Text 7"/>
          <p:cNvSpPr/>
          <p:nvPr/>
        </p:nvSpPr>
        <p:spPr>
          <a:xfrm>
            <a:off x="952967" y="2286144"/>
            <a:ext cx="2570884" cy="2752840"/>
          </a:xfrm>
          <a:prstGeom prst="rect">
            <a:avLst/>
          </a:prstGeom>
          <a:noFill/>
        </p:spPr>
        <p:txBody>
          <a:bodyPr wrap="square" lIns="0" tIns="0" rIns="0" bIns="0" rtlCol="0" anchor="ctr"/>
          <a:lstStyle/>
          <a:p>
            <a:pPr algn="ctr">
              <a:lnSpc>
                <a:spcPct val="120000"/>
              </a:lnSpc>
            </a:pPr>
            <a:r>
              <a:rPr lang="zh-CN" altLang="zh-CN" dirty="0"/>
              <a:t>微信、微博、抖音、小红书等平台，发布健身知识、技巧、用户案例，发起挑战活动，与</a:t>
            </a:r>
            <a:r>
              <a:rPr lang="en-US" altLang="zh-CN" dirty="0"/>
              <a:t>KOL</a:t>
            </a:r>
            <a:r>
              <a:rPr lang="zh-CN" altLang="zh-CN" dirty="0"/>
              <a:t>合作。</a:t>
            </a:r>
            <a:r>
              <a:rPr lang="zh-CN" altLang="zh-CN" sz="1400" dirty="0"/>
              <a:t> </a:t>
            </a:r>
            <a:endParaRPr lang="en-US" sz="1600" dirty="0"/>
          </a:p>
        </p:txBody>
      </p:sp>
      <p:sp>
        <p:nvSpPr>
          <p:cNvPr id="10" name="Shape 8"/>
          <p:cNvSpPr/>
          <p:nvPr/>
        </p:nvSpPr>
        <p:spPr>
          <a:xfrm>
            <a:off x="4022562" y="3428682"/>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3B4E6B"/>
          </a:solidFill>
        </p:spPr>
      </p:sp>
      <p:sp>
        <p:nvSpPr>
          <p:cNvPr id="15" name="Shape 13"/>
          <p:cNvSpPr/>
          <p:nvPr/>
        </p:nvSpPr>
        <p:spPr>
          <a:xfrm>
            <a:off x="7860559" y="3428682"/>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3B4E6B"/>
          </a:solidFill>
        </p:spPr>
      </p:sp>
      <p:sp>
        <p:nvSpPr>
          <p:cNvPr id="29" name="Shape 4"/>
          <p:cNvSpPr/>
          <p:nvPr/>
        </p:nvSpPr>
        <p:spPr>
          <a:xfrm>
            <a:off x="4546406" y="1341264"/>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32" name="Text 7"/>
          <p:cNvSpPr/>
          <p:nvPr/>
        </p:nvSpPr>
        <p:spPr>
          <a:xfrm>
            <a:off x="4717380" y="2295237"/>
            <a:ext cx="2570884" cy="2752840"/>
          </a:xfrm>
          <a:prstGeom prst="rect">
            <a:avLst/>
          </a:prstGeom>
          <a:noFill/>
        </p:spPr>
        <p:txBody>
          <a:bodyPr wrap="square" lIns="0" tIns="0" rIns="0" bIns="0" rtlCol="0" anchor="ctr"/>
          <a:lstStyle/>
          <a:p>
            <a:pPr algn="ctr">
              <a:lnSpc>
                <a:spcPct val="120000"/>
              </a:lnSpc>
            </a:pPr>
            <a:r>
              <a:rPr lang="zh-CN" altLang="zh-CN" dirty="0"/>
              <a:t>优化应用商店关键词，创建高质量健身内容。 </a:t>
            </a:r>
            <a:endParaRPr lang="en-US" sz="1600" dirty="0"/>
          </a:p>
        </p:txBody>
      </p:sp>
      <p:sp>
        <p:nvSpPr>
          <p:cNvPr id="33" name="Shape 4"/>
          <p:cNvSpPr/>
          <p:nvPr/>
        </p:nvSpPr>
        <p:spPr>
          <a:xfrm>
            <a:off x="8472858" y="1332171"/>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36" name="Text 7"/>
          <p:cNvSpPr/>
          <p:nvPr/>
        </p:nvSpPr>
        <p:spPr>
          <a:xfrm>
            <a:off x="8643832" y="2286144"/>
            <a:ext cx="2570884" cy="2752840"/>
          </a:xfrm>
          <a:prstGeom prst="rect">
            <a:avLst/>
          </a:prstGeom>
          <a:noFill/>
        </p:spPr>
        <p:txBody>
          <a:bodyPr wrap="square" lIns="0" tIns="0" rIns="0" bIns="0" rtlCol="0" anchor="ctr"/>
          <a:lstStyle/>
          <a:p>
            <a:pPr algn="ctr">
              <a:lnSpc>
                <a:spcPct val="120000"/>
              </a:lnSpc>
            </a:pPr>
            <a:r>
              <a:rPr lang="zh-CN" altLang="zh-CN" dirty="0"/>
              <a:t>创建健身博客、微信公众号、短视频账号，发布专业健身文章、训练计划、营养食谱。 </a:t>
            </a:r>
            <a:endParaRPr lang="en-US" sz="1600" dirty="0"/>
          </a:p>
        </p:txBody>
      </p:sp>
      <p:sp>
        <p:nvSpPr>
          <p:cNvPr id="38" name="Shape 10"/>
          <p:cNvSpPr/>
          <p:nvPr/>
        </p:nvSpPr>
        <p:spPr>
          <a:xfrm>
            <a:off x="5873065" y="1755167"/>
            <a:ext cx="333375" cy="381000"/>
          </a:xfrm>
          <a:custGeom>
            <a:avLst/>
            <a:gdLst/>
            <a:ahLst/>
            <a:cxnLst/>
            <a:rect l="l" t="t" r="r" b="b"/>
            <a:pathLst>
              <a:path w="333375" h="381000">
                <a:moveTo>
                  <a:pt x="119435" y="-19645"/>
                </a:moveTo>
                <a:cubicBezTo>
                  <a:pt x="126355" y="-25450"/>
                  <a:pt x="136550" y="-25226"/>
                  <a:pt x="143173" y="-18976"/>
                </a:cubicBezTo>
                <a:cubicBezTo>
                  <a:pt x="152326" y="-10344"/>
                  <a:pt x="160511" y="-819"/>
                  <a:pt x="168399" y="8855"/>
                </a:cubicBezTo>
                <a:cubicBezTo>
                  <a:pt x="178445" y="21134"/>
                  <a:pt x="190500" y="37356"/>
                  <a:pt x="202109" y="56629"/>
                </a:cubicBezTo>
                <a:cubicBezTo>
                  <a:pt x="205978" y="51569"/>
                  <a:pt x="209550" y="47104"/>
                  <a:pt x="212675" y="43309"/>
                </a:cubicBezTo>
                <a:cubicBezTo>
                  <a:pt x="213494" y="42342"/>
                  <a:pt x="214313" y="41300"/>
                  <a:pt x="215131" y="40258"/>
                </a:cubicBezTo>
                <a:cubicBezTo>
                  <a:pt x="221010" y="32965"/>
                  <a:pt x="228302" y="23812"/>
                  <a:pt x="238051" y="23812"/>
                </a:cubicBezTo>
                <a:cubicBezTo>
                  <a:pt x="248022" y="23812"/>
                  <a:pt x="255017" y="32668"/>
                  <a:pt x="260970" y="40258"/>
                </a:cubicBezTo>
                <a:cubicBezTo>
                  <a:pt x="261938" y="41523"/>
                  <a:pt x="262905" y="42714"/>
                  <a:pt x="263872" y="43830"/>
                </a:cubicBezTo>
                <a:cubicBezTo>
                  <a:pt x="271537" y="53057"/>
                  <a:pt x="281732" y="66377"/>
                  <a:pt x="291926" y="82823"/>
                </a:cubicBezTo>
                <a:cubicBezTo>
                  <a:pt x="312167" y="115491"/>
                  <a:pt x="333301" y="161999"/>
                  <a:pt x="333301" y="214238"/>
                </a:cubicBezTo>
                <a:cubicBezTo>
                  <a:pt x="333301" y="306288"/>
                  <a:pt x="258663" y="380926"/>
                  <a:pt x="166613" y="380926"/>
                </a:cubicBezTo>
                <a:cubicBezTo>
                  <a:pt x="74563" y="380926"/>
                  <a:pt x="0" y="306363"/>
                  <a:pt x="0" y="214313"/>
                </a:cubicBezTo>
                <a:cubicBezTo>
                  <a:pt x="0" y="146521"/>
                  <a:pt x="30584" y="87809"/>
                  <a:pt x="59903" y="46881"/>
                </a:cubicBezTo>
                <a:cubicBezTo>
                  <a:pt x="74712" y="26268"/>
                  <a:pt x="89446" y="9748"/>
                  <a:pt x="100533" y="-1563"/>
                </a:cubicBezTo>
                <a:cubicBezTo>
                  <a:pt x="106635" y="-7813"/>
                  <a:pt x="112812" y="-13990"/>
                  <a:pt x="119509" y="-19571"/>
                </a:cubicBezTo>
                <a:close/>
                <a:moveTo>
                  <a:pt x="167953" y="309563"/>
                </a:moveTo>
                <a:cubicBezTo>
                  <a:pt x="186779" y="309563"/>
                  <a:pt x="203448" y="304354"/>
                  <a:pt x="219149" y="293936"/>
                </a:cubicBezTo>
                <a:cubicBezTo>
                  <a:pt x="250478" y="272058"/>
                  <a:pt x="258887" y="228302"/>
                  <a:pt x="240060" y="193923"/>
                </a:cubicBezTo>
                <a:cubicBezTo>
                  <a:pt x="236711" y="187226"/>
                  <a:pt x="228154" y="186779"/>
                  <a:pt x="223317" y="192435"/>
                </a:cubicBezTo>
                <a:lnTo>
                  <a:pt x="204564" y="214238"/>
                </a:lnTo>
                <a:cubicBezTo>
                  <a:pt x="199653" y="219894"/>
                  <a:pt x="190798" y="219745"/>
                  <a:pt x="186184" y="213866"/>
                </a:cubicBezTo>
                <a:cubicBezTo>
                  <a:pt x="173310" y="197421"/>
                  <a:pt x="149647" y="167432"/>
                  <a:pt x="137592" y="152102"/>
                </a:cubicBezTo>
                <a:cubicBezTo>
                  <a:pt x="133573" y="146968"/>
                  <a:pt x="126281" y="146149"/>
                  <a:pt x="121593" y="150688"/>
                </a:cubicBezTo>
                <a:cubicBezTo>
                  <a:pt x="107975" y="163934"/>
                  <a:pt x="83269" y="192956"/>
                  <a:pt x="83269" y="228302"/>
                </a:cubicBezTo>
                <a:cubicBezTo>
                  <a:pt x="83269" y="279350"/>
                  <a:pt x="120923" y="309563"/>
                  <a:pt x="167878" y="309563"/>
                </a:cubicBezTo>
                <a:close/>
              </a:path>
            </a:pathLst>
          </a:custGeom>
          <a:solidFill>
            <a:srgbClr val="8C3023"/>
          </a:solidFill>
        </p:spPr>
      </p:sp>
      <p:sp>
        <p:nvSpPr>
          <p:cNvPr id="39" name="Shape 15"/>
          <p:cNvSpPr/>
          <p:nvPr/>
        </p:nvSpPr>
        <p:spPr>
          <a:xfrm>
            <a:off x="9730162" y="1815696"/>
            <a:ext cx="476250" cy="381000"/>
          </a:xfrm>
          <a:custGeom>
            <a:avLst/>
            <a:gdLst/>
            <a:ahLst/>
            <a:cxnLst/>
            <a:rect l="l" t="t" r="r" b="b"/>
            <a:pathLst>
              <a:path w="476250" h="381000">
                <a:moveTo>
                  <a:pt x="238125" y="11906"/>
                </a:moveTo>
                <a:cubicBezTo>
                  <a:pt x="280838" y="11906"/>
                  <a:pt x="315516" y="46584"/>
                  <a:pt x="315516" y="89297"/>
                </a:cubicBezTo>
                <a:cubicBezTo>
                  <a:pt x="315516" y="132010"/>
                  <a:pt x="280838" y="166688"/>
                  <a:pt x="238125" y="166688"/>
                </a:cubicBezTo>
                <a:cubicBezTo>
                  <a:pt x="195412" y="166688"/>
                  <a:pt x="160734" y="132010"/>
                  <a:pt x="160734" y="89297"/>
                </a:cubicBezTo>
                <a:cubicBezTo>
                  <a:pt x="160734" y="46584"/>
                  <a:pt x="195412" y="11906"/>
                  <a:pt x="238125" y="11906"/>
                </a:cubicBezTo>
                <a:close/>
                <a:moveTo>
                  <a:pt x="71438" y="65484"/>
                </a:moveTo>
                <a:cubicBezTo>
                  <a:pt x="101008" y="65484"/>
                  <a:pt x="125016" y="89492"/>
                  <a:pt x="125016" y="119063"/>
                </a:cubicBezTo>
                <a:cubicBezTo>
                  <a:pt x="125016" y="148633"/>
                  <a:pt x="101008" y="172641"/>
                  <a:pt x="71438" y="172641"/>
                </a:cubicBezTo>
                <a:cubicBezTo>
                  <a:pt x="41867" y="172641"/>
                  <a:pt x="17859" y="148633"/>
                  <a:pt x="17859" y="119063"/>
                </a:cubicBezTo>
                <a:cubicBezTo>
                  <a:pt x="17859" y="89492"/>
                  <a:pt x="41867" y="65484"/>
                  <a:pt x="71437" y="65484"/>
                </a:cubicBezTo>
                <a:close/>
                <a:moveTo>
                  <a:pt x="0" y="309563"/>
                </a:moveTo>
                <a:cubicBezTo>
                  <a:pt x="0" y="256952"/>
                  <a:pt x="42639" y="214313"/>
                  <a:pt x="95250" y="214313"/>
                </a:cubicBezTo>
                <a:cubicBezTo>
                  <a:pt x="104775" y="214313"/>
                  <a:pt x="114002" y="215726"/>
                  <a:pt x="122709" y="218331"/>
                </a:cubicBezTo>
                <a:cubicBezTo>
                  <a:pt x="98227" y="245715"/>
                  <a:pt x="83344" y="281880"/>
                  <a:pt x="83344" y="321469"/>
                </a:cubicBezTo>
                <a:lnTo>
                  <a:pt x="83344" y="333375"/>
                </a:lnTo>
                <a:cubicBezTo>
                  <a:pt x="83344" y="341858"/>
                  <a:pt x="85130" y="349895"/>
                  <a:pt x="88329" y="357188"/>
                </a:cubicBezTo>
                <a:lnTo>
                  <a:pt x="23812" y="357188"/>
                </a:lnTo>
                <a:cubicBezTo>
                  <a:pt x="10641" y="357188"/>
                  <a:pt x="0" y="346546"/>
                  <a:pt x="0" y="333375"/>
                </a:cubicBezTo>
                <a:lnTo>
                  <a:pt x="0" y="309563"/>
                </a:lnTo>
                <a:close/>
                <a:moveTo>
                  <a:pt x="387921" y="357188"/>
                </a:moveTo>
                <a:cubicBezTo>
                  <a:pt x="391120" y="349895"/>
                  <a:pt x="392906" y="341858"/>
                  <a:pt x="392906" y="333375"/>
                </a:cubicBezTo>
                <a:lnTo>
                  <a:pt x="392906" y="321469"/>
                </a:lnTo>
                <a:cubicBezTo>
                  <a:pt x="392906" y="281880"/>
                  <a:pt x="378023" y="245715"/>
                  <a:pt x="353541" y="218331"/>
                </a:cubicBezTo>
                <a:cubicBezTo>
                  <a:pt x="362248" y="215726"/>
                  <a:pt x="371475" y="214313"/>
                  <a:pt x="381000" y="214313"/>
                </a:cubicBezTo>
                <a:cubicBezTo>
                  <a:pt x="433611" y="214313"/>
                  <a:pt x="476250" y="256952"/>
                  <a:pt x="476250" y="309563"/>
                </a:cubicBezTo>
                <a:lnTo>
                  <a:pt x="476250" y="333375"/>
                </a:lnTo>
                <a:cubicBezTo>
                  <a:pt x="476250" y="346546"/>
                  <a:pt x="465609" y="357188"/>
                  <a:pt x="452438" y="357188"/>
                </a:cubicBezTo>
                <a:lnTo>
                  <a:pt x="387921" y="357188"/>
                </a:lnTo>
                <a:close/>
                <a:moveTo>
                  <a:pt x="351234" y="119063"/>
                </a:moveTo>
                <a:cubicBezTo>
                  <a:pt x="351234" y="89492"/>
                  <a:pt x="375242" y="65484"/>
                  <a:pt x="404813" y="65484"/>
                </a:cubicBezTo>
                <a:cubicBezTo>
                  <a:pt x="434383" y="65484"/>
                  <a:pt x="458391" y="89492"/>
                  <a:pt x="458391" y="119062"/>
                </a:cubicBezTo>
                <a:cubicBezTo>
                  <a:pt x="458391" y="148633"/>
                  <a:pt x="434383" y="172641"/>
                  <a:pt x="404813" y="172641"/>
                </a:cubicBezTo>
                <a:cubicBezTo>
                  <a:pt x="375242" y="172641"/>
                  <a:pt x="351234" y="148633"/>
                  <a:pt x="351234" y="119063"/>
                </a:cubicBezTo>
                <a:close/>
                <a:moveTo>
                  <a:pt x="119063" y="321469"/>
                </a:moveTo>
                <a:cubicBezTo>
                  <a:pt x="119063" y="255687"/>
                  <a:pt x="172343" y="202406"/>
                  <a:pt x="238125" y="202406"/>
                </a:cubicBezTo>
                <a:cubicBezTo>
                  <a:pt x="303907" y="202406"/>
                  <a:pt x="357188" y="255687"/>
                  <a:pt x="357188" y="321469"/>
                </a:cubicBezTo>
                <a:lnTo>
                  <a:pt x="357188" y="333375"/>
                </a:lnTo>
                <a:cubicBezTo>
                  <a:pt x="357188" y="346546"/>
                  <a:pt x="346546" y="357188"/>
                  <a:pt x="333375" y="357188"/>
                </a:cubicBezTo>
                <a:lnTo>
                  <a:pt x="142875" y="357188"/>
                </a:lnTo>
                <a:cubicBezTo>
                  <a:pt x="129704" y="357188"/>
                  <a:pt x="119063" y="346546"/>
                  <a:pt x="119063" y="333375"/>
                </a:cubicBezTo>
                <a:lnTo>
                  <a:pt x="119063" y="321469"/>
                </a:lnTo>
                <a:close/>
              </a:path>
            </a:pathLst>
          </a:custGeom>
          <a:solidFill>
            <a:srgbClr val="8C3023"/>
          </a:solidFill>
        </p:spPr>
      </p:sp>
      <p:sp>
        <p:nvSpPr>
          <p:cNvPr id="5" name="Text 6"/>
          <p:cNvSpPr/>
          <p:nvPr/>
        </p:nvSpPr>
        <p:spPr>
          <a:xfrm>
            <a:off x="4650952" y="2161885"/>
            <a:ext cx="2882148" cy="670965"/>
          </a:xfrm>
          <a:prstGeom prst="rect">
            <a:avLst/>
          </a:prstGeom>
          <a:noFill/>
        </p:spPr>
        <p:txBody>
          <a:bodyPr wrap="square" lIns="0" tIns="0" rIns="0" bIns="0" rtlCol="0" anchor="ctr"/>
          <a:lstStyle/>
          <a:p>
            <a:pPr algn="ctr">
              <a:lnSpc>
                <a:spcPct val="90000"/>
              </a:lnSpc>
            </a:pPr>
            <a:r>
              <a:rPr lang="zh-CN" altLang="zh-CN" sz="2400" b="1" dirty="0">
                <a:solidFill>
                  <a:srgbClr val="8C3023"/>
                </a:solidFill>
                <a:latin typeface="+mn-ea"/>
              </a:rPr>
              <a:t>搜索引擎优化</a:t>
            </a:r>
            <a:r>
              <a:rPr lang="en-US" altLang="zh-CN" sz="2400" b="1" dirty="0">
                <a:solidFill>
                  <a:srgbClr val="8C3023"/>
                </a:solidFill>
                <a:latin typeface="+mn-ea"/>
              </a:rPr>
              <a:t>(SEO)</a:t>
            </a:r>
            <a:r>
              <a:rPr lang="zh-CN" altLang="zh-CN" sz="2400" b="1" dirty="0">
                <a:solidFill>
                  <a:srgbClr val="8C3023"/>
                </a:solidFill>
                <a:latin typeface="+mn-ea"/>
              </a:rPr>
              <a:t> </a:t>
            </a:r>
            <a:endParaRPr lang="en-US" altLang="zh-CN" sz="2400" b="1" dirty="0">
              <a:solidFill>
                <a:srgbClr val="8C3023"/>
              </a:solidFill>
              <a:latin typeface="+mn-ea"/>
            </a:endParaRPr>
          </a:p>
        </p:txBody>
      </p:sp>
      <p:sp>
        <p:nvSpPr>
          <p:cNvPr id="11" name="Text 6"/>
          <p:cNvSpPr/>
          <p:nvPr/>
        </p:nvSpPr>
        <p:spPr>
          <a:xfrm>
            <a:off x="9374156" y="2136167"/>
            <a:ext cx="1308652" cy="670965"/>
          </a:xfrm>
          <a:prstGeom prst="rect">
            <a:avLst/>
          </a:prstGeom>
          <a:noFill/>
        </p:spPr>
        <p:txBody>
          <a:bodyPr wrap="square" lIns="0" tIns="0" rIns="0" bIns="0" rtlCol="0" anchor="ctr"/>
          <a:lstStyle/>
          <a:p>
            <a:pPr algn="ctr">
              <a:lnSpc>
                <a:spcPct val="90000"/>
              </a:lnSpc>
            </a:pPr>
            <a:r>
              <a:rPr lang="zh-CN" altLang="zh-CN" sz="2400" b="1" dirty="0">
                <a:solidFill>
                  <a:srgbClr val="8C3023"/>
                </a:solidFill>
                <a:latin typeface="+mn-ea"/>
              </a:rPr>
              <a:t>内容营销</a:t>
            </a:r>
            <a:endParaRPr lang="en-US" altLang="zh-CN" sz="2400" b="1" dirty="0">
              <a:solidFill>
                <a:srgbClr val="8C3023"/>
              </a:solidFill>
              <a:latin typeface="+mn-ea"/>
            </a:endParaRPr>
          </a:p>
        </p:txBody>
      </p:sp>
      <p:sp>
        <p:nvSpPr>
          <p:cNvPr id="13" name="Text 2"/>
          <p:cNvSpPr/>
          <p:nvPr/>
        </p:nvSpPr>
        <p:spPr>
          <a:xfrm>
            <a:off x="2926551" y="352855"/>
            <a:ext cx="6267325" cy="728405"/>
          </a:xfrm>
          <a:prstGeom prst="rect">
            <a:avLst/>
          </a:prstGeom>
          <a:noFill/>
        </p:spPr>
        <p:txBody>
          <a:bodyPr wrap="square" lIns="25400" tIns="25400" rIns="25400" bIns="25400" rtlCol="0" anchor="ctr">
            <a:spAutoFit/>
          </a:bodyPr>
          <a:lstStyle/>
          <a:p>
            <a:pPr algn="ctr"/>
            <a:r>
              <a:rPr lang="en-US" sz="4400" dirty="0" err="1">
                <a:solidFill>
                  <a:srgbClr val="93280F"/>
                </a:solidFill>
                <a:latin typeface="Arial" panose="020B0604020202020204" pitchFamily="34" charset="0"/>
                <a:ea typeface="Noto Sans SC" panose="020B0200000000000000" pitchFamily="34" charset="-122"/>
                <a:cs typeface="Arial" panose="020B0604020202020204" pitchFamily="34" charset="0"/>
              </a:rPr>
              <a:t>全域营销策略</a:t>
            </a:r>
            <a:endParaRPr lang="en-US" sz="4400" dirty="0">
              <a:solidFill>
                <a:srgbClr val="93280F"/>
              </a:solidFill>
              <a:latin typeface="Arial" panose="020B0604020202020204" pitchFamily="34" charset="0"/>
              <a:ea typeface="Noto Sans SC" panose="020B0200000000000000" pitchFamily="34" charset="-122"/>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35"/>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gn="ctr">
              <a:lnSpc>
                <a:spcPct val="150000"/>
              </a:lnSpc>
              <a:buNone/>
            </a:pPr>
            <a:endParaRPr lang="en-US" sz="1600" dirty="0"/>
          </a:p>
        </p:txBody>
      </p:sp>
      <p:sp>
        <p:nvSpPr>
          <p:cNvPr id="6" name="Shape 4"/>
          <p:cNvSpPr/>
          <p:nvPr/>
        </p:nvSpPr>
        <p:spPr>
          <a:xfrm>
            <a:off x="781993" y="1332171"/>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7" name="Shape 5"/>
          <p:cNvSpPr/>
          <p:nvPr/>
        </p:nvSpPr>
        <p:spPr>
          <a:xfrm>
            <a:off x="2061027" y="1780885"/>
            <a:ext cx="428625" cy="381000"/>
          </a:xfrm>
          <a:custGeom>
            <a:avLst/>
            <a:gdLst/>
            <a:ahLst/>
            <a:cxnLst/>
            <a:rect l="l" t="t" r="r" b="b"/>
            <a:pathLst>
              <a:path w="428625" h="381000">
                <a:moveTo>
                  <a:pt x="71438" y="47625"/>
                </a:moveTo>
                <a:cubicBezTo>
                  <a:pt x="45169" y="47625"/>
                  <a:pt x="23812" y="68982"/>
                  <a:pt x="23812" y="95250"/>
                </a:cubicBezTo>
                <a:lnTo>
                  <a:pt x="23812" y="285750"/>
                </a:lnTo>
                <a:cubicBezTo>
                  <a:pt x="23812" y="312018"/>
                  <a:pt x="45169" y="333375"/>
                  <a:pt x="71438" y="333375"/>
                </a:cubicBezTo>
                <a:lnTo>
                  <a:pt x="261938" y="333375"/>
                </a:lnTo>
                <a:cubicBezTo>
                  <a:pt x="288206" y="333375"/>
                  <a:pt x="309563" y="312018"/>
                  <a:pt x="309563" y="285750"/>
                </a:cubicBezTo>
                <a:lnTo>
                  <a:pt x="309563" y="95250"/>
                </a:lnTo>
                <a:cubicBezTo>
                  <a:pt x="309563" y="68982"/>
                  <a:pt x="288206" y="47625"/>
                  <a:pt x="261938" y="47625"/>
                </a:cubicBezTo>
                <a:lnTo>
                  <a:pt x="71438" y="47625"/>
                </a:lnTo>
                <a:close/>
                <a:moveTo>
                  <a:pt x="345281" y="250031"/>
                </a:moveTo>
                <a:lnTo>
                  <a:pt x="399976" y="293787"/>
                </a:lnTo>
                <a:cubicBezTo>
                  <a:pt x="403101" y="296317"/>
                  <a:pt x="406971" y="297656"/>
                  <a:pt x="410989" y="297656"/>
                </a:cubicBezTo>
                <a:cubicBezTo>
                  <a:pt x="420737" y="297656"/>
                  <a:pt x="428625" y="289768"/>
                  <a:pt x="428625" y="280020"/>
                </a:cubicBezTo>
                <a:lnTo>
                  <a:pt x="428625" y="100980"/>
                </a:lnTo>
                <a:cubicBezTo>
                  <a:pt x="428625" y="91232"/>
                  <a:pt x="420737" y="83344"/>
                  <a:pt x="410989" y="83344"/>
                </a:cubicBezTo>
                <a:cubicBezTo>
                  <a:pt x="406971" y="83344"/>
                  <a:pt x="403101" y="84683"/>
                  <a:pt x="399976" y="87213"/>
                </a:cubicBezTo>
                <a:lnTo>
                  <a:pt x="345281" y="130969"/>
                </a:lnTo>
                <a:lnTo>
                  <a:pt x="345281" y="250031"/>
                </a:lnTo>
                <a:close/>
              </a:path>
            </a:pathLst>
          </a:custGeom>
          <a:solidFill>
            <a:srgbClr val="8C3023"/>
          </a:solidFill>
        </p:spPr>
      </p:sp>
      <p:sp>
        <p:nvSpPr>
          <p:cNvPr id="8" name="Text 6"/>
          <p:cNvSpPr/>
          <p:nvPr/>
        </p:nvSpPr>
        <p:spPr>
          <a:xfrm>
            <a:off x="832129" y="2161885"/>
            <a:ext cx="2882148" cy="670965"/>
          </a:xfrm>
          <a:prstGeom prst="rect">
            <a:avLst/>
          </a:prstGeom>
          <a:noFill/>
        </p:spPr>
        <p:txBody>
          <a:bodyPr wrap="square" lIns="0" tIns="0" rIns="0" bIns="0" rtlCol="0" anchor="ctr"/>
          <a:lstStyle/>
          <a:p>
            <a:pPr algn="ctr">
              <a:lnSpc>
                <a:spcPct val="90000"/>
              </a:lnSpc>
            </a:pPr>
            <a:r>
              <a:rPr lang="zh-CN" altLang="zh-CN" sz="2400" b="1" dirty="0">
                <a:solidFill>
                  <a:srgbClr val="8C3023"/>
                </a:solidFill>
                <a:latin typeface="+mn-ea"/>
              </a:rPr>
              <a:t>应用商店优化</a:t>
            </a:r>
            <a:r>
              <a:rPr lang="en-US" altLang="zh-CN" sz="2400" b="1" dirty="0">
                <a:solidFill>
                  <a:srgbClr val="8C3023"/>
                </a:solidFill>
                <a:latin typeface="+mn-ea"/>
              </a:rPr>
              <a:t>(ASO)</a:t>
            </a:r>
            <a:r>
              <a:rPr lang="zh-CN" altLang="zh-CN" sz="2400" b="1" dirty="0">
                <a:solidFill>
                  <a:srgbClr val="8C3023"/>
                </a:solidFill>
                <a:latin typeface="+mn-ea"/>
              </a:rPr>
              <a:t> </a:t>
            </a:r>
            <a:endParaRPr lang="en-US" altLang="zh-CN" sz="2400" b="1" dirty="0">
              <a:solidFill>
                <a:srgbClr val="8C3023"/>
              </a:solidFill>
              <a:latin typeface="+mn-ea"/>
            </a:endParaRPr>
          </a:p>
        </p:txBody>
      </p:sp>
      <p:sp>
        <p:nvSpPr>
          <p:cNvPr id="9" name="Text 7"/>
          <p:cNvSpPr/>
          <p:nvPr/>
        </p:nvSpPr>
        <p:spPr>
          <a:xfrm>
            <a:off x="981799" y="2284777"/>
            <a:ext cx="2570884" cy="2752840"/>
          </a:xfrm>
          <a:prstGeom prst="rect">
            <a:avLst/>
          </a:prstGeom>
          <a:noFill/>
        </p:spPr>
        <p:txBody>
          <a:bodyPr wrap="square" lIns="0" tIns="0" rIns="0" bIns="0" rtlCol="0" anchor="ctr"/>
          <a:lstStyle/>
          <a:p>
            <a:pPr algn="ctr">
              <a:lnSpc>
                <a:spcPct val="120000"/>
              </a:lnSpc>
            </a:pPr>
            <a:r>
              <a:rPr lang="zh-CN" altLang="zh-CN" dirty="0"/>
              <a:t>优化</a:t>
            </a:r>
            <a:r>
              <a:rPr lang="en-US" altLang="zh-CN" dirty="0"/>
              <a:t>App</a:t>
            </a:r>
            <a:r>
              <a:rPr lang="zh-CN" altLang="zh-CN" dirty="0"/>
              <a:t>标题、关键词、描述、截图和视频。 </a:t>
            </a:r>
            <a:endParaRPr lang="en-US" altLang="zh-CN" sz="1600" dirty="0"/>
          </a:p>
        </p:txBody>
      </p:sp>
      <p:sp>
        <p:nvSpPr>
          <p:cNvPr id="10" name="Shape 8"/>
          <p:cNvSpPr/>
          <p:nvPr/>
        </p:nvSpPr>
        <p:spPr>
          <a:xfrm>
            <a:off x="4022562" y="3428682"/>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3B4E6B"/>
          </a:solidFill>
        </p:spPr>
      </p:sp>
      <p:sp>
        <p:nvSpPr>
          <p:cNvPr id="15" name="Shape 13"/>
          <p:cNvSpPr/>
          <p:nvPr/>
        </p:nvSpPr>
        <p:spPr>
          <a:xfrm>
            <a:off x="7860559" y="3428682"/>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3B4E6B"/>
          </a:solidFill>
        </p:spPr>
      </p:sp>
      <p:sp>
        <p:nvSpPr>
          <p:cNvPr id="29" name="Shape 4"/>
          <p:cNvSpPr/>
          <p:nvPr/>
        </p:nvSpPr>
        <p:spPr>
          <a:xfrm>
            <a:off x="4546406" y="1341264"/>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32" name="Text 7"/>
          <p:cNvSpPr/>
          <p:nvPr/>
        </p:nvSpPr>
        <p:spPr>
          <a:xfrm>
            <a:off x="4806584" y="2347969"/>
            <a:ext cx="2570884" cy="2752840"/>
          </a:xfrm>
          <a:prstGeom prst="rect">
            <a:avLst/>
          </a:prstGeom>
          <a:noFill/>
        </p:spPr>
        <p:txBody>
          <a:bodyPr wrap="square" lIns="0" tIns="0" rIns="0" bIns="0" rtlCol="0" anchor="ctr"/>
          <a:lstStyle/>
          <a:p>
            <a:pPr algn="ctr">
              <a:lnSpc>
                <a:spcPct val="120000"/>
              </a:lnSpc>
            </a:pPr>
            <a:r>
              <a:rPr lang="zh-CN" altLang="zh-CN" dirty="0"/>
              <a:t>与健身房、瑜伽馆、健康食品品牌等合作。与健身领域的网红合作，通过他们的评论、教程和认可来提高应用知名度。 </a:t>
            </a:r>
            <a:endParaRPr lang="en-US" altLang="zh-CN" sz="1600" dirty="0"/>
          </a:p>
        </p:txBody>
      </p:sp>
      <p:sp>
        <p:nvSpPr>
          <p:cNvPr id="33" name="Shape 4"/>
          <p:cNvSpPr/>
          <p:nvPr/>
        </p:nvSpPr>
        <p:spPr>
          <a:xfrm>
            <a:off x="8472858" y="1332171"/>
            <a:ext cx="2986694" cy="4784436"/>
          </a:xfrm>
          <a:custGeom>
            <a:avLst/>
            <a:gdLst/>
            <a:ahLst/>
            <a:cxnLst/>
            <a:rect l="l" t="t" r="r" b="b"/>
            <a:pathLst>
              <a:path w="2336800" h="1524000">
                <a:moveTo>
                  <a:pt x="101605" y="0"/>
                </a:moveTo>
                <a:lnTo>
                  <a:pt x="2235195" y="0"/>
                </a:lnTo>
                <a:cubicBezTo>
                  <a:pt x="2291310" y="0"/>
                  <a:pt x="2336800" y="45490"/>
                  <a:pt x="2336800" y="101605"/>
                </a:cubicBezTo>
                <a:lnTo>
                  <a:pt x="2336800" y="1422395"/>
                </a:lnTo>
                <a:cubicBezTo>
                  <a:pt x="2336800" y="1478510"/>
                  <a:pt x="2291310" y="1524000"/>
                  <a:pt x="2235195" y="1524000"/>
                </a:cubicBezTo>
                <a:lnTo>
                  <a:pt x="101605" y="1524000"/>
                </a:lnTo>
                <a:cubicBezTo>
                  <a:pt x="45490" y="1524000"/>
                  <a:pt x="0" y="1478510"/>
                  <a:pt x="0" y="1422395"/>
                </a:cubicBezTo>
                <a:lnTo>
                  <a:pt x="0" y="101605"/>
                </a:lnTo>
                <a:cubicBezTo>
                  <a:pt x="0" y="45528"/>
                  <a:pt x="45528" y="0"/>
                  <a:pt x="101605" y="0"/>
                </a:cubicBezTo>
                <a:close/>
              </a:path>
            </a:pathLst>
          </a:custGeom>
          <a:solidFill>
            <a:srgbClr val="D1BBA2">
              <a:alpha val="30196"/>
            </a:srgbClr>
          </a:solidFill>
        </p:spPr>
      </p:sp>
      <p:sp>
        <p:nvSpPr>
          <p:cNvPr id="36" name="Text 7"/>
          <p:cNvSpPr/>
          <p:nvPr/>
        </p:nvSpPr>
        <p:spPr>
          <a:xfrm>
            <a:off x="8743040" y="2286144"/>
            <a:ext cx="2570884" cy="2752840"/>
          </a:xfrm>
          <a:prstGeom prst="rect">
            <a:avLst/>
          </a:prstGeom>
          <a:noFill/>
        </p:spPr>
        <p:txBody>
          <a:bodyPr wrap="square" lIns="0" tIns="0" rIns="0" bIns="0" rtlCol="0" anchor="ctr"/>
          <a:lstStyle/>
          <a:p>
            <a:pPr lvl="0" algn="ctr"/>
            <a:r>
              <a:rPr lang="zh-CN" altLang="zh-CN" dirty="0"/>
              <a:t>在微信朋友圈、今日头条、抖音等平台投放广告。</a:t>
            </a:r>
          </a:p>
        </p:txBody>
      </p:sp>
      <p:sp>
        <p:nvSpPr>
          <p:cNvPr id="38" name="Shape 10"/>
          <p:cNvSpPr/>
          <p:nvPr/>
        </p:nvSpPr>
        <p:spPr>
          <a:xfrm>
            <a:off x="5934909" y="1776152"/>
            <a:ext cx="333375" cy="381000"/>
          </a:xfrm>
          <a:custGeom>
            <a:avLst/>
            <a:gdLst/>
            <a:ahLst/>
            <a:cxnLst/>
            <a:rect l="l" t="t" r="r" b="b"/>
            <a:pathLst>
              <a:path w="333375" h="381000">
                <a:moveTo>
                  <a:pt x="119435" y="-19645"/>
                </a:moveTo>
                <a:cubicBezTo>
                  <a:pt x="126355" y="-25450"/>
                  <a:pt x="136550" y="-25226"/>
                  <a:pt x="143173" y="-18976"/>
                </a:cubicBezTo>
                <a:cubicBezTo>
                  <a:pt x="152326" y="-10344"/>
                  <a:pt x="160511" y="-819"/>
                  <a:pt x="168399" y="8855"/>
                </a:cubicBezTo>
                <a:cubicBezTo>
                  <a:pt x="178445" y="21134"/>
                  <a:pt x="190500" y="37356"/>
                  <a:pt x="202109" y="56629"/>
                </a:cubicBezTo>
                <a:cubicBezTo>
                  <a:pt x="205978" y="51569"/>
                  <a:pt x="209550" y="47104"/>
                  <a:pt x="212675" y="43309"/>
                </a:cubicBezTo>
                <a:cubicBezTo>
                  <a:pt x="213494" y="42342"/>
                  <a:pt x="214313" y="41300"/>
                  <a:pt x="215131" y="40258"/>
                </a:cubicBezTo>
                <a:cubicBezTo>
                  <a:pt x="221010" y="32965"/>
                  <a:pt x="228302" y="23812"/>
                  <a:pt x="238051" y="23812"/>
                </a:cubicBezTo>
                <a:cubicBezTo>
                  <a:pt x="248022" y="23812"/>
                  <a:pt x="255017" y="32668"/>
                  <a:pt x="260970" y="40258"/>
                </a:cubicBezTo>
                <a:cubicBezTo>
                  <a:pt x="261938" y="41523"/>
                  <a:pt x="262905" y="42714"/>
                  <a:pt x="263872" y="43830"/>
                </a:cubicBezTo>
                <a:cubicBezTo>
                  <a:pt x="271537" y="53057"/>
                  <a:pt x="281732" y="66377"/>
                  <a:pt x="291926" y="82823"/>
                </a:cubicBezTo>
                <a:cubicBezTo>
                  <a:pt x="312167" y="115491"/>
                  <a:pt x="333301" y="161999"/>
                  <a:pt x="333301" y="214238"/>
                </a:cubicBezTo>
                <a:cubicBezTo>
                  <a:pt x="333301" y="306288"/>
                  <a:pt x="258663" y="380926"/>
                  <a:pt x="166613" y="380926"/>
                </a:cubicBezTo>
                <a:cubicBezTo>
                  <a:pt x="74563" y="380926"/>
                  <a:pt x="0" y="306363"/>
                  <a:pt x="0" y="214313"/>
                </a:cubicBezTo>
                <a:cubicBezTo>
                  <a:pt x="0" y="146521"/>
                  <a:pt x="30584" y="87809"/>
                  <a:pt x="59903" y="46881"/>
                </a:cubicBezTo>
                <a:cubicBezTo>
                  <a:pt x="74712" y="26268"/>
                  <a:pt x="89446" y="9748"/>
                  <a:pt x="100533" y="-1563"/>
                </a:cubicBezTo>
                <a:cubicBezTo>
                  <a:pt x="106635" y="-7813"/>
                  <a:pt x="112812" y="-13990"/>
                  <a:pt x="119509" y="-19571"/>
                </a:cubicBezTo>
                <a:close/>
                <a:moveTo>
                  <a:pt x="167953" y="309563"/>
                </a:moveTo>
                <a:cubicBezTo>
                  <a:pt x="186779" y="309563"/>
                  <a:pt x="203448" y="304354"/>
                  <a:pt x="219149" y="293936"/>
                </a:cubicBezTo>
                <a:cubicBezTo>
                  <a:pt x="250478" y="272058"/>
                  <a:pt x="258887" y="228302"/>
                  <a:pt x="240060" y="193923"/>
                </a:cubicBezTo>
                <a:cubicBezTo>
                  <a:pt x="236711" y="187226"/>
                  <a:pt x="228154" y="186779"/>
                  <a:pt x="223317" y="192435"/>
                </a:cubicBezTo>
                <a:lnTo>
                  <a:pt x="204564" y="214238"/>
                </a:lnTo>
                <a:cubicBezTo>
                  <a:pt x="199653" y="219894"/>
                  <a:pt x="190798" y="219745"/>
                  <a:pt x="186184" y="213866"/>
                </a:cubicBezTo>
                <a:cubicBezTo>
                  <a:pt x="173310" y="197421"/>
                  <a:pt x="149647" y="167432"/>
                  <a:pt x="137592" y="152102"/>
                </a:cubicBezTo>
                <a:cubicBezTo>
                  <a:pt x="133573" y="146968"/>
                  <a:pt x="126281" y="146149"/>
                  <a:pt x="121593" y="150688"/>
                </a:cubicBezTo>
                <a:cubicBezTo>
                  <a:pt x="107975" y="163934"/>
                  <a:pt x="83269" y="192956"/>
                  <a:pt x="83269" y="228302"/>
                </a:cubicBezTo>
                <a:cubicBezTo>
                  <a:pt x="83269" y="279350"/>
                  <a:pt x="120923" y="309563"/>
                  <a:pt x="167878" y="309563"/>
                </a:cubicBezTo>
                <a:close/>
              </a:path>
            </a:pathLst>
          </a:custGeom>
          <a:solidFill>
            <a:srgbClr val="8C3023"/>
          </a:solidFill>
        </p:spPr>
      </p:sp>
      <p:sp>
        <p:nvSpPr>
          <p:cNvPr id="39" name="Shape 15"/>
          <p:cNvSpPr/>
          <p:nvPr/>
        </p:nvSpPr>
        <p:spPr>
          <a:xfrm>
            <a:off x="9730162" y="1815696"/>
            <a:ext cx="476250" cy="381000"/>
          </a:xfrm>
          <a:custGeom>
            <a:avLst/>
            <a:gdLst/>
            <a:ahLst/>
            <a:cxnLst/>
            <a:rect l="l" t="t" r="r" b="b"/>
            <a:pathLst>
              <a:path w="476250" h="381000">
                <a:moveTo>
                  <a:pt x="238125" y="11906"/>
                </a:moveTo>
                <a:cubicBezTo>
                  <a:pt x="280838" y="11906"/>
                  <a:pt x="315516" y="46584"/>
                  <a:pt x="315516" y="89297"/>
                </a:cubicBezTo>
                <a:cubicBezTo>
                  <a:pt x="315516" y="132010"/>
                  <a:pt x="280838" y="166688"/>
                  <a:pt x="238125" y="166688"/>
                </a:cubicBezTo>
                <a:cubicBezTo>
                  <a:pt x="195412" y="166688"/>
                  <a:pt x="160734" y="132010"/>
                  <a:pt x="160734" y="89297"/>
                </a:cubicBezTo>
                <a:cubicBezTo>
                  <a:pt x="160734" y="46584"/>
                  <a:pt x="195412" y="11906"/>
                  <a:pt x="238125" y="11906"/>
                </a:cubicBezTo>
                <a:close/>
                <a:moveTo>
                  <a:pt x="71438" y="65484"/>
                </a:moveTo>
                <a:cubicBezTo>
                  <a:pt x="101008" y="65484"/>
                  <a:pt x="125016" y="89492"/>
                  <a:pt x="125016" y="119063"/>
                </a:cubicBezTo>
                <a:cubicBezTo>
                  <a:pt x="125016" y="148633"/>
                  <a:pt x="101008" y="172641"/>
                  <a:pt x="71438" y="172641"/>
                </a:cubicBezTo>
                <a:cubicBezTo>
                  <a:pt x="41867" y="172641"/>
                  <a:pt x="17859" y="148633"/>
                  <a:pt x="17859" y="119063"/>
                </a:cubicBezTo>
                <a:cubicBezTo>
                  <a:pt x="17859" y="89492"/>
                  <a:pt x="41867" y="65484"/>
                  <a:pt x="71437" y="65484"/>
                </a:cubicBezTo>
                <a:close/>
                <a:moveTo>
                  <a:pt x="0" y="309563"/>
                </a:moveTo>
                <a:cubicBezTo>
                  <a:pt x="0" y="256952"/>
                  <a:pt x="42639" y="214313"/>
                  <a:pt x="95250" y="214313"/>
                </a:cubicBezTo>
                <a:cubicBezTo>
                  <a:pt x="104775" y="214313"/>
                  <a:pt x="114002" y="215726"/>
                  <a:pt x="122709" y="218331"/>
                </a:cubicBezTo>
                <a:cubicBezTo>
                  <a:pt x="98227" y="245715"/>
                  <a:pt x="83344" y="281880"/>
                  <a:pt x="83344" y="321469"/>
                </a:cubicBezTo>
                <a:lnTo>
                  <a:pt x="83344" y="333375"/>
                </a:lnTo>
                <a:cubicBezTo>
                  <a:pt x="83344" y="341858"/>
                  <a:pt x="85130" y="349895"/>
                  <a:pt x="88329" y="357188"/>
                </a:cubicBezTo>
                <a:lnTo>
                  <a:pt x="23812" y="357188"/>
                </a:lnTo>
                <a:cubicBezTo>
                  <a:pt x="10641" y="357188"/>
                  <a:pt x="0" y="346546"/>
                  <a:pt x="0" y="333375"/>
                </a:cubicBezTo>
                <a:lnTo>
                  <a:pt x="0" y="309563"/>
                </a:lnTo>
                <a:close/>
                <a:moveTo>
                  <a:pt x="387921" y="357188"/>
                </a:moveTo>
                <a:cubicBezTo>
                  <a:pt x="391120" y="349895"/>
                  <a:pt x="392906" y="341858"/>
                  <a:pt x="392906" y="333375"/>
                </a:cubicBezTo>
                <a:lnTo>
                  <a:pt x="392906" y="321469"/>
                </a:lnTo>
                <a:cubicBezTo>
                  <a:pt x="392906" y="281880"/>
                  <a:pt x="378023" y="245715"/>
                  <a:pt x="353541" y="218331"/>
                </a:cubicBezTo>
                <a:cubicBezTo>
                  <a:pt x="362248" y="215726"/>
                  <a:pt x="371475" y="214313"/>
                  <a:pt x="381000" y="214313"/>
                </a:cubicBezTo>
                <a:cubicBezTo>
                  <a:pt x="433611" y="214313"/>
                  <a:pt x="476250" y="256952"/>
                  <a:pt x="476250" y="309563"/>
                </a:cubicBezTo>
                <a:lnTo>
                  <a:pt x="476250" y="333375"/>
                </a:lnTo>
                <a:cubicBezTo>
                  <a:pt x="476250" y="346546"/>
                  <a:pt x="465609" y="357188"/>
                  <a:pt x="452438" y="357188"/>
                </a:cubicBezTo>
                <a:lnTo>
                  <a:pt x="387921" y="357188"/>
                </a:lnTo>
                <a:close/>
                <a:moveTo>
                  <a:pt x="351234" y="119063"/>
                </a:moveTo>
                <a:cubicBezTo>
                  <a:pt x="351234" y="89492"/>
                  <a:pt x="375242" y="65484"/>
                  <a:pt x="404813" y="65484"/>
                </a:cubicBezTo>
                <a:cubicBezTo>
                  <a:pt x="434383" y="65484"/>
                  <a:pt x="458391" y="89492"/>
                  <a:pt x="458391" y="119062"/>
                </a:cubicBezTo>
                <a:cubicBezTo>
                  <a:pt x="458391" y="148633"/>
                  <a:pt x="434383" y="172641"/>
                  <a:pt x="404813" y="172641"/>
                </a:cubicBezTo>
                <a:cubicBezTo>
                  <a:pt x="375242" y="172641"/>
                  <a:pt x="351234" y="148633"/>
                  <a:pt x="351234" y="119063"/>
                </a:cubicBezTo>
                <a:close/>
                <a:moveTo>
                  <a:pt x="119063" y="321469"/>
                </a:moveTo>
                <a:cubicBezTo>
                  <a:pt x="119063" y="255687"/>
                  <a:pt x="172343" y="202406"/>
                  <a:pt x="238125" y="202406"/>
                </a:cubicBezTo>
                <a:cubicBezTo>
                  <a:pt x="303907" y="202406"/>
                  <a:pt x="357188" y="255687"/>
                  <a:pt x="357188" y="321469"/>
                </a:cubicBezTo>
                <a:lnTo>
                  <a:pt x="357188" y="333375"/>
                </a:lnTo>
                <a:cubicBezTo>
                  <a:pt x="357188" y="346546"/>
                  <a:pt x="346546" y="357188"/>
                  <a:pt x="333375" y="357188"/>
                </a:cubicBezTo>
                <a:lnTo>
                  <a:pt x="142875" y="357188"/>
                </a:lnTo>
                <a:cubicBezTo>
                  <a:pt x="129704" y="357188"/>
                  <a:pt x="119063" y="346546"/>
                  <a:pt x="119063" y="333375"/>
                </a:cubicBezTo>
                <a:lnTo>
                  <a:pt x="119063" y="321469"/>
                </a:lnTo>
                <a:close/>
              </a:path>
            </a:pathLst>
          </a:custGeom>
          <a:solidFill>
            <a:srgbClr val="8C3023"/>
          </a:solidFill>
        </p:spPr>
      </p:sp>
      <p:sp>
        <p:nvSpPr>
          <p:cNvPr id="5" name="Text 6"/>
          <p:cNvSpPr/>
          <p:nvPr/>
        </p:nvSpPr>
        <p:spPr>
          <a:xfrm>
            <a:off x="4660522" y="2161885"/>
            <a:ext cx="2882148" cy="670965"/>
          </a:xfrm>
          <a:prstGeom prst="rect">
            <a:avLst/>
          </a:prstGeom>
          <a:noFill/>
        </p:spPr>
        <p:txBody>
          <a:bodyPr wrap="square" lIns="0" tIns="0" rIns="0" bIns="0" rtlCol="0" anchor="ctr"/>
          <a:lstStyle/>
          <a:p>
            <a:pPr algn="ctr">
              <a:lnSpc>
                <a:spcPct val="90000"/>
              </a:lnSpc>
            </a:pPr>
            <a:r>
              <a:rPr lang="zh-CN" altLang="zh-CN" sz="2400" b="1" dirty="0">
                <a:solidFill>
                  <a:srgbClr val="8C3023"/>
                </a:solidFill>
                <a:latin typeface="+mn-ea"/>
              </a:rPr>
              <a:t>合作伙伴关系  </a:t>
            </a:r>
            <a:endParaRPr lang="en-US" altLang="zh-CN" sz="2400" b="1" dirty="0">
              <a:solidFill>
                <a:srgbClr val="8C3023"/>
              </a:solidFill>
              <a:latin typeface="+mn-ea"/>
            </a:endParaRPr>
          </a:p>
        </p:txBody>
      </p:sp>
      <p:sp>
        <p:nvSpPr>
          <p:cNvPr id="11" name="Text 6"/>
          <p:cNvSpPr/>
          <p:nvPr/>
        </p:nvSpPr>
        <p:spPr>
          <a:xfrm>
            <a:off x="9374156" y="2136167"/>
            <a:ext cx="1308652" cy="670965"/>
          </a:xfrm>
          <a:prstGeom prst="rect">
            <a:avLst/>
          </a:prstGeom>
          <a:noFill/>
        </p:spPr>
        <p:txBody>
          <a:bodyPr wrap="square" lIns="0" tIns="0" rIns="0" bIns="0" rtlCol="0" anchor="ctr"/>
          <a:lstStyle/>
          <a:p>
            <a:pPr algn="ctr">
              <a:lnSpc>
                <a:spcPct val="90000"/>
              </a:lnSpc>
            </a:pPr>
            <a:r>
              <a:rPr lang="zh-CN" altLang="zh-CN" sz="2400" b="1" dirty="0">
                <a:solidFill>
                  <a:srgbClr val="8C3023"/>
                </a:solidFill>
                <a:latin typeface="+mn-ea"/>
              </a:rPr>
              <a:t>移动广告 </a:t>
            </a:r>
            <a:endParaRPr lang="en-US" altLang="zh-CN" sz="2400" b="1" dirty="0">
              <a:solidFill>
                <a:srgbClr val="8C3023"/>
              </a:solidFill>
              <a:latin typeface="+mn-ea"/>
            </a:endParaRPr>
          </a:p>
        </p:txBody>
      </p:sp>
      <p:sp>
        <p:nvSpPr>
          <p:cNvPr id="13" name="Text 2"/>
          <p:cNvSpPr/>
          <p:nvPr/>
        </p:nvSpPr>
        <p:spPr>
          <a:xfrm>
            <a:off x="2926551" y="352855"/>
            <a:ext cx="6267325" cy="728405"/>
          </a:xfrm>
          <a:prstGeom prst="rect">
            <a:avLst/>
          </a:prstGeom>
          <a:noFill/>
        </p:spPr>
        <p:txBody>
          <a:bodyPr wrap="square" lIns="25400" tIns="25400" rIns="25400" bIns="25400" rtlCol="0" anchor="ctr">
            <a:spAutoFit/>
          </a:bodyPr>
          <a:lstStyle/>
          <a:p>
            <a:pPr algn="ctr"/>
            <a:r>
              <a:rPr lang="en-US" sz="4400" dirty="0" err="1">
                <a:solidFill>
                  <a:srgbClr val="93280F"/>
                </a:solidFill>
                <a:latin typeface="Arial" panose="020B0604020202020204" pitchFamily="34" charset="0"/>
                <a:ea typeface="Noto Sans SC" panose="020B0200000000000000" pitchFamily="34" charset="-122"/>
                <a:cs typeface="Arial" panose="020B0604020202020204" pitchFamily="34" charset="0"/>
              </a:rPr>
              <a:t>全域营销策略</a:t>
            </a:r>
            <a:endParaRPr lang="en-US" sz="4400" dirty="0">
              <a:solidFill>
                <a:srgbClr val="93280F"/>
              </a:solidFill>
              <a:latin typeface="Arial" panose="020B0604020202020204" pitchFamily="34" charset="0"/>
              <a:ea typeface="Noto Sans SC" panose="020B0200000000000000" pitchFamily="34" charset="-122"/>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230091" cy="6871516"/>
          </a:xfrm>
          <a:prstGeom prst="rect">
            <a:avLst/>
          </a:prstGeom>
          <a:solidFill>
            <a:srgbClr val="93280F"/>
          </a:solidFill>
        </p:spPr>
      </p:sp>
      <p:sp>
        <p:nvSpPr>
          <p:cNvPr id="3" name="Text 1"/>
          <p:cNvSpPr/>
          <p:nvPr/>
        </p:nvSpPr>
        <p:spPr>
          <a:xfrm>
            <a:off x="0" y="1"/>
            <a:ext cx="12230091" cy="6871516"/>
          </a:xfrm>
          <a:prstGeom prst="rect">
            <a:avLst/>
          </a:prstGeom>
          <a:noFill/>
        </p:spPr>
        <p:txBody>
          <a:bodyPr wrap="square" lIns="25400" tIns="25400" rIns="25400" bIns="25400" rtlCol="0" anchor="ctr"/>
          <a:lstStyle/>
          <a:p>
            <a:pPr marL="0" indent="0">
              <a:lnSpc>
                <a:spcPct val="150000"/>
              </a:lnSpc>
              <a:buNone/>
            </a:pPr>
            <a:endParaRPr lang="en-US" sz="1600" dirty="0"/>
          </a:p>
        </p:txBody>
      </p:sp>
      <p:pic>
        <p:nvPicPr>
          <p:cNvPr id="4" name="Image 0" descr="https://kimi-img.moonshot.cn/pub/slides/slides_tmpl/image/25-10-13-16:02:24-d3mb440s8jdo4os5f0d0.png"/>
          <p:cNvPicPr>
            <a:picLocks noChangeAspect="1"/>
          </p:cNvPicPr>
          <p:nvPr/>
        </p:nvPicPr>
        <p:blipFill>
          <a:blip r:embed="rId3"/>
          <a:stretch>
            <a:fillRect/>
          </a:stretch>
        </p:blipFill>
        <p:spPr>
          <a:xfrm>
            <a:off x="3175" y="-13335"/>
            <a:ext cx="12226925" cy="6871335"/>
          </a:xfrm>
          <a:prstGeom prst="rect">
            <a:avLst/>
          </a:prstGeom>
        </p:spPr>
      </p:pic>
      <p:sp>
        <p:nvSpPr>
          <p:cNvPr id="6" name="Text 3"/>
          <p:cNvSpPr/>
          <p:nvPr/>
        </p:nvSpPr>
        <p:spPr>
          <a:xfrm>
            <a:off x="537341" y="2321807"/>
            <a:ext cx="2571347" cy="2359025"/>
          </a:xfrm>
          <a:prstGeom prst="rect">
            <a:avLst/>
          </a:prstGeom>
          <a:noFill/>
        </p:spPr>
        <p:txBody>
          <a:bodyPr wrap="square" lIns="25400" tIns="25400" rIns="25400" bIns="25400" rtlCol="0" anchor="ctr">
            <a:spAutoFit/>
          </a:bodyPr>
          <a:lstStyle/>
          <a:p>
            <a:pPr marL="0" indent="0" algn="l">
              <a:lnSpc>
                <a:spcPct val="100000"/>
              </a:lnSpc>
              <a:buNone/>
            </a:pPr>
            <a:r>
              <a:rPr lang="en-US" sz="15000" b="1" dirty="0">
                <a:solidFill>
                  <a:srgbClr val="93280F"/>
                </a:solidFill>
                <a:latin typeface="Noto Sans SC" panose="020B0200000000000000" pitchFamily="34" charset="-122"/>
                <a:ea typeface="Noto Sans SC" panose="020B0200000000000000" pitchFamily="34" charset="-122"/>
                <a:cs typeface="Noto Sans SC" panose="020B0200000000000000" pitchFamily="34" charset="-120"/>
              </a:rPr>
              <a:t>05</a:t>
            </a:r>
            <a:endParaRPr lang="en-US" sz="1600" dirty="0"/>
          </a:p>
        </p:txBody>
      </p:sp>
      <p:pic>
        <p:nvPicPr>
          <p:cNvPr id="7" name="Image 1" descr="https://kimi-img.moonshot.cn/pub/slides/slides_tmpl/image/25-10-13-16:02:24-d3mb440s8jdo4os5f0bg.png"/>
          <p:cNvPicPr>
            <a:picLocks noChangeAspect="1"/>
          </p:cNvPicPr>
          <p:nvPr/>
        </p:nvPicPr>
        <p:blipFill>
          <a:blip r:embed="rId4"/>
          <a:stretch>
            <a:fillRect/>
          </a:stretch>
        </p:blipFill>
        <p:spPr>
          <a:xfrm>
            <a:off x="10918055" y="843185"/>
            <a:ext cx="628927" cy="1213328"/>
          </a:xfrm>
          <a:prstGeom prst="rect">
            <a:avLst/>
          </a:prstGeom>
        </p:spPr>
      </p:pic>
      <p:pic>
        <p:nvPicPr>
          <p:cNvPr id="8" name="Image 2" descr="https://kimi-img.moonshot.cn/pub/slides/slides_tmpl/image/25-10-13-16:02:24-d3mb440s8jdo4os5f0bg.png"/>
          <p:cNvPicPr>
            <a:picLocks noChangeAspect="1"/>
          </p:cNvPicPr>
          <p:nvPr/>
        </p:nvPicPr>
        <p:blipFill>
          <a:blip r:embed="rId4"/>
          <a:stretch>
            <a:fillRect/>
          </a:stretch>
        </p:blipFill>
        <p:spPr>
          <a:xfrm>
            <a:off x="10364463" y="1314825"/>
            <a:ext cx="384453" cy="741689"/>
          </a:xfrm>
          <a:prstGeom prst="rect">
            <a:avLst/>
          </a:prstGeom>
        </p:spPr>
      </p:pic>
      <p:pic>
        <p:nvPicPr>
          <p:cNvPr id="9" name="Image 3" descr="https://kimi-img.moonshot.cn/pub/slides/slides_tmpl/image/25-10-13-16:02:24-d3mb440s8jdo4os5f0c0.png"/>
          <p:cNvPicPr>
            <a:picLocks noChangeAspect="1"/>
          </p:cNvPicPr>
          <p:nvPr/>
        </p:nvPicPr>
        <p:blipFill>
          <a:blip r:embed="rId5"/>
          <a:stretch>
            <a:fillRect/>
          </a:stretch>
        </p:blipFill>
        <p:spPr>
          <a:xfrm>
            <a:off x="9485266" y="4801487"/>
            <a:ext cx="2527300" cy="304800"/>
          </a:xfrm>
          <a:prstGeom prst="rect">
            <a:avLst/>
          </a:prstGeom>
        </p:spPr>
      </p:pic>
      <p:sp>
        <p:nvSpPr>
          <p:cNvPr id="11" name="Text 2"/>
          <p:cNvSpPr/>
          <p:nvPr/>
        </p:nvSpPr>
        <p:spPr>
          <a:xfrm>
            <a:off x="4097138" y="3065144"/>
            <a:ext cx="6267325" cy="727710"/>
          </a:xfrm>
          <a:prstGeom prst="rect">
            <a:avLst/>
          </a:prstGeom>
          <a:noFill/>
        </p:spPr>
        <p:txBody>
          <a:bodyPr wrap="square" lIns="25400" tIns="25400" rIns="25400" bIns="25400" rtlCol="0" anchor="ctr">
            <a:spAutoFit/>
          </a:bodyPr>
          <a:lstStyle/>
          <a:p>
            <a:r>
              <a:rPr lang="zh-CN" altLang="en-US" sz="4400" b="1" dirty="0" err="1">
                <a:solidFill>
                  <a:srgbClr val="93280F"/>
                </a:solidFill>
                <a:latin typeface="Arial" panose="020B0604020202020204" pitchFamily="34" charset="0"/>
                <a:ea typeface="Noto Sans SC" panose="020B0200000000000000" pitchFamily="34" charset="-122"/>
                <a:cs typeface="Arial" panose="020B0604020202020204" pitchFamily="34" charset="0"/>
              </a:rPr>
              <a:t>财务指标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5" y="0"/>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0" y="254000"/>
            <a:ext cx="12192000" cy="508000"/>
          </a:xfrm>
          <a:prstGeom prst="rect">
            <a:avLst/>
          </a:prstGeom>
          <a:noFill/>
        </p:spPr>
        <p:txBody>
          <a:bodyPr wrap="square" lIns="0" tIns="0" rIns="0" bIns="0" rtlCol="0" anchor="ctr"/>
          <a:lstStyle/>
          <a:p>
            <a:pPr marL="0" indent="0" algn="ctr">
              <a:lnSpc>
                <a:spcPct val="90000"/>
              </a:lnSpc>
              <a:buNone/>
            </a:pPr>
            <a:r>
              <a:rPr lang="en-US" sz="36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移动应用财务关键指标速览</a:t>
            </a:r>
            <a:endParaRPr lang="en-US" sz="1600" dirty="0"/>
          </a:p>
        </p:txBody>
      </p:sp>
      <p:sp>
        <p:nvSpPr>
          <p:cNvPr id="5" name="Text 3"/>
          <p:cNvSpPr/>
          <p:nvPr/>
        </p:nvSpPr>
        <p:spPr>
          <a:xfrm>
            <a:off x="0" y="863600"/>
            <a:ext cx="12192000" cy="355600"/>
          </a:xfrm>
          <a:prstGeom prst="rect">
            <a:avLst/>
          </a:prstGeom>
          <a:noFill/>
        </p:spPr>
        <p:txBody>
          <a:bodyPr wrap="square" lIns="0" tIns="0" rIns="0" bIns="0" rtlCol="0" anchor="ctr"/>
          <a:lstStyle/>
          <a:p>
            <a:pPr marL="0" indent="0" algn="ctr">
              <a:lnSpc>
                <a:spcPct val="130000"/>
              </a:lnSpc>
              <a:buNone/>
            </a:pPr>
            <a:r>
              <a:rPr lang="en-US" sz="1800" dirty="0">
                <a:solidFill>
                  <a:srgbClr val="3B4E6B"/>
                </a:solidFill>
                <a:latin typeface="MiSans" pitchFamily="34" charset="-122"/>
                <a:ea typeface="MiSans" pitchFamily="34" charset="-122"/>
                <a:cs typeface="MiSans" pitchFamily="34" charset="-120"/>
              </a:rPr>
              <a:t>掌握核心数据，驱动商业成功</a:t>
            </a:r>
            <a:endParaRPr lang="en-US" sz="1600" dirty="0"/>
          </a:p>
        </p:txBody>
      </p:sp>
      <p:sp>
        <p:nvSpPr>
          <p:cNvPr id="6" name="Shape 4"/>
          <p:cNvSpPr/>
          <p:nvPr/>
        </p:nvSpPr>
        <p:spPr>
          <a:xfrm>
            <a:off x="254000" y="15240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7" name="Shape 5"/>
          <p:cNvSpPr/>
          <p:nvPr/>
        </p:nvSpPr>
        <p:spPr>
          <a:xfrm>
            <a:off x="457200" y="2286000"/>
            <a:ext cx="381000" cy="304800"/>
          </a:xfrm>
          <a:custGeom>
            <a:avLst/>
            <a:gdLst/>
            <a:ahLst/>
            <a:cxnLst/>
            <a:rect l="l" t="t" r="r" b="b"/>
            <a:pathLst>
              <a:path w="381000" h="304800">
                <a:moveTo>
                  <a:pt x="80962" y="76200"/>
                </a:moveTo>
                <a:cubicBezTo>
                  <a:pt x="80962" y="36773"/>
                  <a:pt x="112973" y="4763"/>
                  <a:pt x="152400" y="4763"/>
                </a:cubicBezTo>
                <a:cubicBezTo>
                  <a:pt x="191827" y="4763"/>
                  <a:pt x="223838" y="36773"/>
                  <a:pt x="223838" y="76200"/>
                </a:cubicBezTo>
                <a:cubicBezTo>
                  <a:pt x="223838" y="115627"/>
                  <a:pt x="191827" y="147638"/>
                  <a:pt x="152400" y="147638"/>
                </a:cubicBezTo>
                <a:cubicBezTo>
                  <a:pt x="112973" y="147638"/>
                  <a:pt x="80962" y="115627"/>
                  <a:pt x="80962" y="76200"/>
                </a:cubicBezTo>
                <a:close/>
                <a:moveTo>
                  <a:pt x="28575" y="287119"/>
                </a:moveTo>
                <a:cubicBezTo>
                  <a:pt x="28575" y="228481"/>
                  <a:pt x="76081" y="180975"/>
                  <a:pt x="134719" y="180975"/>
                </a:cubicBezTo>
                <a:lnTo>
                  <a:pt x="170081" y="180975"/>
                </a:lnTo>
                <a:cubicBezTo>
                  <a:pt x="228719" y="180975"/>
                  <a:pt x="276225" y="228481"/>
                  <a:pt x="276225" y="287119"/>
                </a:cubicBezTo>
                <a:cubicBezTo>
                  <a:pt x="276225" y="296882"/>
                  <a:pt x="268307" y="304800"/>
                  <a:pt x="258544" y="304800"/>
                </a:cubicBezTo>
                <a:lnTo>
                  <a:pt x="46256" y="304800"/>
                </a:lnTo>
                <a:cubicBezTo>
                  <a:pt x="36493" y="304800"/>
                  <a:pt x="28575" y="296882"/>
                  <a:pt x="28575" y="287119"/>
                </a:cubicBezTo>
                <a:close/>
                <a:moveTo>
                  <a:pt x="323850" y="57150"/>
                </a:moveTo>
                <a:cubicBezTo>
                  <a:pt x="331768" y="57150"/>
                  <a:pt x="338138" y="63520"/>
                  <a:pt x="338138" y="71438"/>
                </a:cubicBezTo>
                <a:lnTo>
                  <a:pt x="338138" y="100013"/>
                </a:lnTo>
                <a:lnTo>
                  <a:pt x="366712" y="100013"/>
                </a:lnTo>
                <a:cubicBezTo>
                  <a:pt x="374630" y="100013"/>
                  <a:pt x="381000" y="106382"/>
                  <a:pt x="381000" y="114300"/>
                </a:cubicBezTo>
                <a:cubicBezTo>
                  <a:pt x="381000" y="122218"/>
                  <a:pt x="374630" y="128588"/>
                  <a:pt x="366712" y="128588"/>
                </a:cubicBezTo>
                <a:lnTo>
                  <a:pt x="338138" y="128588"/>
                </a:lnTo>
                <a:lnTo>
                  <a:pt x="338138" y="157163"/>
                </a:lnTo>
                <a:cubicBezTo>
                  <a:pt x="338138" y="165080"/>
                  <a:pt x="331768" y="171450"/>
                  <a:pt x="323850" y="171450"/>
                </a:cubicBezTo>
                <a:cubicBezTo>
                  <a:pt x="315932" y="171450"/>
                  <a:pt x="309563" y="165080"/>
                  <a:pt x="309563" y="157163"/>
                </a:cubicBezTo>
                <a:lnTo>
                  <a:pt x="309563" y="128588"/>
                </a:lnTo>
                <a:lnTo>
                  <a:pt x="280987" y="128588"/>
                </a:lnTo>
                <a:cubicBezTo>
                  <a:pt x="273070" y="128588"/>
                  <a:pt x="266700" y="122218"/>
                  <a:pt x="266700" y="114300"/>
                </a:cubicBezTo>
                <a:cubicBezTo>
                  <a:pt x="266700" y="106382"/>
                  <a:pt x="273070" y="100013"/>
                  <a:pt x="280987" y="100013"/>
                </a:cubicBezTo>
                <a:lnTo>
                  <a:pt x="309563" y="100013"/>
                </a:lnTo>
                <a:lnTo>
                  <a:pt x="309563" y="71438"/>
                </a:lnTo>
                <a:cubicBezTo>
                  <a:pt x="309563" y="63520"/>
                  <a:pt x="315932" y="57150"/>
                  <a:pt x="323850" y="57150"/>
                </a:cubicBezTo>
                <a:close/>
              </a:path>
            </a:pathLst>
          </a:custGeom>
          <a:solidFill>
            <a:srgbClr val="3B4E6B"/>
          </a:solidFill>
        </p:spPr>
      </p:sp>
      <p:sp>
        <p:nvSpPr>
          <p:cNvPr id="8" name="Text 6"/>
          <p:cNvSpPr/>
          <p:nvPr/>
        </p:nvSpPr>
        <p:spPr>
          <a:xfrm>
            <a:off x="939800" y="2260600"/>
            <a:ext cx="26035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客户获取成本 (CAC)</a:t>
            </a:r>
            <a:endParaRPr lang="en-US" sz="1600" dirty="0"/>
          </a:p>
        </p:txBody>
      </p:sp>
      <p:sp>
        <p:nvSpPr>
          <p:cNvPr id="9" name="Text 7"/>
          <p:cNvSpPr/>
          <p:nvPr/>
        </p:nvSpPr>
        <p:spPr>
          <a:xfrm>
            <a:off x="457200" y="2717800"/>
            <a:ext cx="3352800" cy="508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获取一名产生核心行为用户的平均营销与推广总支出。</a:t>
            </a:r>
            <a:endParaRPr lang="en-US" sz="1600" dirty="0"/>
          </a:p>
        </p:txBody>
      </p:sp>
      <p:sp>
        <p:nvSpPr>
          <p:cNvPr id="10" name="Shape 8"/>
          <p:cNvSpPr/>
          <p:nvPr/>
        </p:nvSpPr>
        <p:spPr>
          <a:xfrm>
            <a:off x="4216400" y="15240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11" name="Shape 9"/>
          <p:cNvSpPr/>
          <p:nvPr/>
        </p:nvSpPr>
        <p:spPr>
          <a:xfrm>
            <a:off x="4457700" y="2286000"/>
            <a:ext cx="304800" cy="304800"/>
          </a:xfrm>
          <a:custGeom>
            <a:avLst/>
            <a:gdLst/>
            <a:ahLst/>
            <a:cxnLst/>
            <a:rect l="l" t="t" r="r" b="b"/>
            <a:pathLst>
              <a:path w="304800" h="304800">
                <a:moveTo>
                  <a:pt x="38100" y="38100"/>
                </a:moveTo>
                <a:cubicBezTo>
                  <a:pt x="38100" y="27563"/>
                  <a:pt x="29587" y="19050"/>
                  <a:pt x="19050" y="19050"/>
                </a:cubicBezTo>
                <a:cubicBezTo>
                  <a:pt x="8513" y="19050"/>
                  <a:pt x="0" y="27563"/>
                  <a:pt x="0" y="38100"/>
                </a:cubicBezTo>
                <a:lnTo>
                  <a:pt x="0" y="238125"/>
                </a:lnTo>
                <a:cubicBezTo>
                  <a:pt x="0" y="264438"/>
                  <a:pt x="21312" y="285750"/>
                  <a:pt x="47625" y="285750"/>
                </a:cubicBezTo>
                <a:lnTo>
                  <a:pt x="285750" y="285750"/>
                </a:lnTo>
                <a:cubicBezTo>
                  <a:pt x="296287" y="285750"/>
                  <a:pt x="304800" y="277237"/>
                  <a:pt x="304800" y="266700"/>
                </a:cubicBezTo>
                <a:cubicBezTo>
                  <a:pt x="304800" y="256163"/>
                  <a:pt x="296287" y="247650"/>
                  <a:pt x="285750" y="247650"/>
                </a:cubicBezTo>
                <a:lnTo>
                  <a:pt x="47625" y="247650"/>
                </a:lnTo>
                <a:cubicBezTo>
                  <a:pt x="42386" y="247650"/>
                  <a:pt x="38100" y="243364"/>
                  <a:pt x="38100" y="238125"/>
                </a:cubicBezTo>
                <a:lnTo>
                  <a:pt x="38100" y="38100"/>
                </a:lnTo>
                <a:close/>
                <a:moveTo>
                  <a:pt x="280154" y="89654"/>
                </a:moveTo>
                <a:cubicBezTo>
                  <a:pt x="287595" y="82213"/>
                  <a:pt x="287595" y="70128"/>
                  <a:pt x="280154" y="62686"/>
                </a:cubicBezTo>
                <a:cubicBezTo>
                  <a:pt x="272713" y="55245"/>
                  <a:pt x="260628" y="55245"/>
                  <a:pt x="253186" y="62686"/>
                </a:cubicBezTo>
                <a:lnTo>
                  <a:pt x="190500" y="125432"/>
                </a:lnTo>
                <a:lnTo>
                  <a:pt x="156329" y="91321"/>
                </a:lnTo>
                <a:cubicBezTo>
                  <a:pt x="148888" y="83880"/>
                  <a:pt x="136803" y="83880"/>
                  <a:pt x="129361" y="91321"/>
                </a:cubicBezTo>
                <a:lnTo>
                  <a:pt x="72211" y="148471"/>
                </a:lnTo>
                <a:cubicBezTo>
                  <a:pt x="64770" y="155912"/>
                  <a:pt x="64770" y="167997"/>
                  <a:pt x="72211" y="175439"/>
                </a:cubicBezTo>
                <a:cubicBezTo>
                  <a:pt x="79653" y="182880"/>
                  <a:pt x="91738" y="182880"/>
                  <a:pt x="99179" y="175439"/>
                </a:cubicBezTo>
                <a:lnTo>
                  <a:pt x="142875" y="131743"/>
                </a:lnTo>
                <a:lnTo>
                  <a:pt x="177046" y="165914"/>
                </a:lnTo>
                <a:cubicBezTo>
                  <a:pt x="184487" y="173355"/>
                  <a:pt x="196572" y="173355"/>
                  <a:pt x="204014" y="165914"/>
                </a:cubicBezTo>
                <a:lnTo>
                  <a:pt x="280214" y="89714"/>
                </a:lnTo>
                <a:close/>
              </a:path>
            </a:pathLst>
          </a:custGeom>
          <a:solidFill>
            <a:srgbClr val="3B4E6B"/>
          </a:solidFill>
        </p:spPr>
      </p:sp>
      <p:sp>
        <p:nvSpPr>
          <p:cNvPr id="12" name="Text 10"/>
          <p:cNvSpPr/>
          <p:nvPr/>
        </p:nvSpPr>
        <p:spPr>
          <a:xfrm>
            <a:off x="4902200" y="2260600"/>
            <a:ext cx="30099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用户生命周期价值 (LTV)</a:t>
            </a:r>
            <a:endParaRPr lang="en-US" sz="1600" dirty="0"/>
          </a:p>
        </p:txBody>
      </p:sp>
      <p:sp>
        <p:nvSpPr>
          <p:cNvPr id="13" name="Text 11"/>
          <p:cNvSpPr/>
          <p:nvPr/>
        </p:nvSpPr>
        <p:spPr>
          <a:xfrm>
            <a:off x="4419600" y="2717800"/>
            <a:ext cx="3352800" cy="508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用户全周期内为平台带来的订阅、应用内购买等总收入。</a:t>
            </a:r>
            <a:endParaRPr lang="en-US" sz="1600" dirty="0"/>
          </a:p>
        </p:txBody>
      </p:sp>
      <p:sp>
        <p:nvSpPr>
          <p:cNvPr id="14" name="Shape 12"/>
          <p:cNvSpPr/>
          <p:nvPr/>
        </p:nvSpPr>
        <p:spPr>
          <a:xfrm>
            <a:off x="8178800" y="15240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15" name="Shape 13"/>
          <p:cNvSpPr/>
          <p:nvPr/>
        </p:nvSpPr>
        <p:spPr>
          <a:xfrm>
            <a:off x="8420100" y="2286000"/>
            <a:ext cx="304800" cy="304800"/>
          </a:xfrm>
          <a:custGeom>
            <a:avLst/>
            <a:gdLst/>
            <a:ahLst/>
            <a:cxnLst/>
            <a:rect l="l" t="t" r="r" b="b"/>
            <a:pathLst>
              <a:path w="304800" h="304800">
                <a:moveTo>
                  <a:pt x="0" y="249793"/>
                </a:moveTo>
                <a:lnTo>
                  <a:pt x="0" y="65187"/>
                </a:lnTo>
                <a:cubicBezTo>
                  <a:pt x="0" y="51375"/>
                  <a:pt x="14347" y="42208"/>
                  <a:pt x="27563" y="46137"/>
                </a:cubicBezTo>
                <a:cubicBezTo>
                  <a:pt x="79772" y="61734"/>
                  <a:pt x="116681" y="49411"/>
                  <a:pt x="153829" y="37028"/>
                </a:cubicBezTo>
                <a:cubicBezTo>
                  <a:pt x="192226" y="24229"/>
                  <a:pt x="230862" y="11370"/>
                  <a:pt x="286762" y="29230"/>
                </a:cubicBezTo>
                <a:cubicBezTo>
                  <a:pt x="297775" y="32742"/>
                  <a:pt x="304800" y="43398"/>
                  <a:pt x="304800" y="55007"/>
                </a:cubicBezTo>
                <a:lnTo>
                  <a:pt x="304800" y="239613"/>
                </a:lnTo>
                <a:cubicBezTo>
                  <a:pt x="304800" y="253425"/>
                  <a:pt x="290453" y="262592"/>
                  <a:pt x="277297" y="258663"/>
                </a:cubicBezTo>
                <a:cubicBezTo>
                  <a:pt x="225088" y="243066"/>
                  <a:pt x="188119" y="255389"/>
                  <a:pt x="151031" y="267772"/>
                </a:cubicBezTo>
                <a:cubicBezTo>
                  <a:pt x="112633" y="280571"/>
                  <a:pt x="73997" y="293430"/>
                  <a:pt x="18098" y="275570"/>
                </a:cubicBezTo>
                <a:cubicBezTo>
                  <a:pt x="7084" y="272058"/>
                  <a:pt x="60" y="261402"/>
                  <a:pt x="60" y="249793"/>
                </a:cubicBezTo>
                <a:close/>
                <a:moveTo>
                  <a:pt x="200025" y="152400"/>
                </a:moveTo>
                <a:cubicBezTo>
                  <a:pt x="200025" y="120848"/>
                  <a:pt x="178713" y="95250"/>
                  <a:pt x="152400" y="95250"/>
                </a:cubicBezTo>
                <a:cubicBezTo>
                  <a:pt x="126087" y="95250"/>
                  <a:pt x="104775" y="120848"/>
                  <a:pt x="104775" y="152400"/>
                </a:cubicBezTo>
                <a:cubicBezTo>
                  <a:pt x="104775" y="183952"/>
                  <a:pt x="126087" y="209550"/>
                  <a:pt x="152400" y="209550"/>
                </a:cubicBezTo>
                <a:cubicBezTo>
                  <a:pt x="178713" y="209550"/>
                  <a:pt x="200025" y="183952"/>
                  <a:pt x="200025" y="152400"/>
                </a:cubicBezTo>
                <a:close/>
                <a:moveTo>
                  <a:pt x="71438" y="246221"/>
                </a:moveTo>
                <a:cubicBezTo>
                  <a:pt x="74057" y="246221"/>
                  <a:pt x="76140" y="243959"/>
                  <a:pt x="75724" y="241399"/>
                </a:cubicBezTo>
                <a:cubicBezTo>
                  <a:pt x="72985" y="224850"/>
                  <a:pt x="59650" y="211931"/>
                  <a:pt x="42863" y="209848"/>
                </a:cubicBezTo>
                <a:cubicBezTo>
                  <a:pt x="40243" y="209550"/>
                  <a:pt x="38100" y="211693"/>
                  <a:pt x="38100" y="214313"/>
                </a:cubicBezTo>
                <a:lnTo>
                  <a:pt x="38100" y="238065"/>
                </a:lnTo>
                <a:cubicBezTo>
                  <a:pt x="38100" y="240209"/>
                  <a:pt x="39529" y="242114"/>
                  <a:pt x="41672" y="242649"/>
                </a:cubicBezTo>
                <a:cubicBezTo>
                  <a:pt x="52328" y="245150"/>
                  <a:pt x="62091" y="246281"/>
                  <a:pt x="71438" y="246281"/>
                </a:cubicBezTo>
                <a:close/>
                <a:moveTo>
                  <a:pt x="261045" y="215801"/>
                </a:moveTo>
                <a:cubicBezTo>
                  <a:pt x="264021" y="216277"/>
                  <a:pt x="266700" y="214015"/>
                  <a:pt x="266700" y="211038"/>
                </a:cubicBezTo>
                <a:lnTo>
                  <a:pt x="266700" y="185678"/>
                </a:lnTo>
                <a:cubicBezTo>
                  <a:pt x="266700" y="183059"/>
                  <a:pt x="264557" y="180856"/>
                  <a:pt x="261937" y="181213"/>
                </a:cubicBezTo>
                <a:cubicBezTo>
                  <a:pt x="246936" y="183059"/>
                  <a:pt x="234613" y="193655"/>
                  <a:pt x="230267" y="207764"/>
                </a:cubicBezTo>
                <a:cubicBezTo>
                  <a:pt x="229433" y="210562"/>
                  <a:pt x="231636" y="213181"/>
                  <a:pt x="234553" y="213241"/>
                </a:cubicBezTo>
                <a:cubicBezTo>
                  <a:pt x="243007" y="213479"/>
                  <a:pt x="251817" y="214253"/>
                  <a:pt x="260985" y="215801"/>
                </a:cubicBezTo>
                <a:close/>
                <a:moveTo>
                  <a:pt x="266700" y="90488"/>
                </a:moveTo>
                <a:lnTo>
                  <a:pt x="266700" y="66735"/>
                </a:lnTo>
                <a:cubicBezTo>
                  <a:pt x="266700" y="64591"/>
                  <a:pt x="265212" y="62686"/>
                  <a:pt x="263128" y="62151"/>
                </a:cubicBezTo>
                <a:cubicBezTo>
                  <a:pt x="252472" y="59650"/>
                  <a:pt x="242709" y="58519"/>
                  <a:pt x="233363" y="58519"/>
                </a:cubicBezTo>
                <a:cubicBezTo>
                  <a:pt x="230743" y="58519"/>
                  <a:pt x="228660" y="60781"/>
                  <a:pt x="229076" y="63341"/>
                </a:cubicBezTo>
                <a:cubicBezTo>
                  <a:pt x="231815" y="79891"/>
                  <a:pt x="245150" y="92809"/>
                  <a:pt x="261937" y="94893"/>
                </a:cubicBezTo>
                <a:cubicBezTo>
                  <a:pt x="264557" y="95190"/>
                  <a:pt x="266700" y="93047"/>
                  <a:pt x="266700" y="90428"/>
                </a:cubicBezTo>
                <a:close/>
                <a:moveTo>
                  <a:pt x="74533" y="96976"/>
                </a:moveTo>
                <a:cubicBezTo>
                  <a:pt x="75367" y="94178"/>
                  <a:pt x="73164" y="91559"/>
                  <a:pt x="70247" y="91500"/>
                </a:cubicBezTo>
                <a:cubicBezTo>
                  <a:pt x="61793" y="91261"/>
                  <a:pt x="52983" y="90488"/>
                  <a:pt x="43815" y="88940"/>
                </a:cubicBezTo>
                <a:cubicBezTo>
                  <a:pt x="40838" y="88463"/>
                  <a:pt x="38160" y="90726"/>
                  <a:pt x="38160" y="93702"/>
                </a:cubicBezTo>
                <a:lnTo>
                  <a:pt x="38100" y="119062"/>
                </a:lnTo>
                <a:cubicBezTo>
                  <a:pt x="38100" y="121682"/>
                  <a:pt x="40243" y="123885"/>
                  <a:pt x="42863" y="123527"/>
                </a:cubicBezTo>
                <a:cubicBezTo>
                  <a:pt x="57864" y="121682"/>
                  <a:pt x="70187" y="111085"/>
                  <a:pt x="74533" y="96976"/>
                </a:cubicBezTo>
                <a:close/>
              </a:path>
            </a:pathLst>
          </a:custGeom>
          <a:solidFill>
            <a:srgbClr val="3B4E6B"/>
          </a:solidFill>
        </p:spPr>
      </p:sp>
      <p:sp>
        <p:nvSpPr>
          <p:cNvPr id="16" name="Text 14"/>
          <p:cNvSpPr/>
          <p:nvPr/>
        </p:nvSpPr>
        <p:spPr>
          <a:xfrm>
            <a:off x="8864600" y="2260600"/>
            <a:ext cx="11938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现金流</a:t>
            </a:r>
            <a:endParaRPr lang="en-US" sz="1600" dirty="0"/>
          </a:p>
        </p:txBody>
      </p:sp>
      <p:sp>
        <p:nvSpPr>
          <p:cNvPr id="17" name="Text 15"/>
          <p:cNvSpPr/>
          <p:nvPr/>
        </p:nvSpPr>
        <p:spPr>
          <a:xfrm>
            <a:off x="8382000" y="2717800"/>
            <a:ext cx="3352800" cy="508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记录经营、投资与融资资金进出，需保障六个月以上运营储备。</a:t>
            </a:r>
            <a:endParaRPr lang="en-US" sz="1600" dirty="0"/>
          </a:p>
        </p:txBody>
      </p:sp>
      <p:sp>
        <p:nvSpPr>
          <p:cNvPr id="18" name="Shape 16"/>
          <p:cNvSpPr/>
          <p:nvPr/>
        </p:nvSpPr>
        <p:spPr>
          <a:xfrm>
            <a:off x="254000" y="41656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19" name="Shape 17"/>
          <p:cNvSpPr/>
          <p:nvPr/>
        </p:nvSpPr>
        <p:spPr>
          <a:xfrm>
            <a:off x="495300" y="5054600"/>
            <a:ext cx="304800" cy="304800"/>
          </a:xfrm>
          <a:custGeom>
            <a:avLst/>
            <a:gdLst/>
            <a:ahLst/>
            <a:cxnLst/>
            <a:rect l="l" t="t" r="r" b="b"/>
            <a:pathLst>
              <a:path w="304800" h="304800">
                <a:moveTo>
                  <a:pt x="0" y="76200"/>
                </a:moveTo>
                <a:lnTo>
                  <a:pt x="0" y="95250"/>
                </a:lnTo>
                <a:lnTo>
                  <a:pt x="304800" y="95250"/>
                </a:lnTo>
                <a:lnTo>
                  <a:pt x="304800" y="76200"/>
                </a:lnTo>
                <a:cubicBezTo>
                  <a:pt x="304800" y="55185"/>
                  <a:pt x="287715" y="38100"/>
                  <a:pt x="266700" y="38100"/>
                </a:cubicBezTo>
                <a:lnTo>
                  <a:pt x="38100" y="38100"/>
                </a:lnTo>
                <a:cubicBezTo>
                  <a:pt x="17085" y="38100"/>
                  <a:pt x="0" y="55185"/>
                  <a:pt x="0" y="76200"/>
                </a:cubicBezTo>
                <a:close/>
                <a:moveTo>
                  <a:pt x="0" y="123825"/>
                </a:moveTo>
                <a:lnTo>
                  <a:pt x="0" y="228600"/>
                </a:lnTo>
                <a:cubicBezTo>
                  <a:pt x="0" y="249615"/>
                  <a:pt x="17085" y="266700"/>
                  <a:pt x="38100" y="266700"/>
                </a:cubicBezTo>
                <a:lnTo>
                  <a:pt x="266700" y="266700"/>
                </a:lnTo>
                <a:cubicBezTo>
                  <a:pt x="287715" y="266700"/>
                  <a:pt x="304800" y="249615"/>
                  <a:pt x="304800" y="228600"/>
                </a:cubicBezTo>
                <a:lnTo>
                  <a:pt x="304800" y="123825"/>
                </a:lnTo>
                <a:lnTo>
                  <a:pt x="0" y="123825"/>
                </a:lnTo>
                <a:close/>
                <a:moveTo>
                  <a:pt x="38100" y="214313"/>
                </a:moveTo>
                <a:cubicBezTo>
                  <a:pt x="38100" y="206395"/>
                  <a:pt x="44470" y="200025"/>
                  <a:pt x="52388" y="200025"/>
                </a:cubicBezTo>
                <a:lnTo>
                  <a:pt x="80962" y="200025"/>
                </a:lnTo>
                <a:cubicBezTo>
                  <a:pt x="88880" y="200025"/>
                  <a:pt x="95250" y="206395"/>
                  <a:pt x="95250" y="214313"/>
                </a:cubicBezTo>
                <a:cubicBezTo>
                  <a:pt x="95250" y="222230"/>
                  <a:pt x="88880" y="228600"/>
                  <a:pt x="80962" y="228600"/>
                </a:cubicBezTo>
                <a:lnTo>
                  <a:pt x="52388" y="228600"/>
                </a:lnTo>
                <a:cubicBezTo>
                  <a:pt x="44470" y="228600"/>
                  <a:pt x="38100" y="222230"/>
                  <a:pt x="38100" y="214313"/>
                </a:cubicBezTo>
                <a:close/>
                <a:moveTo>
                  <a:pt x="123825" y="214313"/>
                </a:moveTo>
                <a:cubicBezTo>
                  <a:pt x="123825" y="206395"/>
                  <a:pt x="130195" y="200025"/>
                  <a:pt x="138113" y="200025"/>
                </a:cubicBezTo>
                <a:lnTo>
                  <a:pt x="176212" y="200025"/>
                </a:lnTo>
                <a:cubicBezTo>
                  <a:pt x="184130" y="200025"/>
                  <a:pt x="190500" y="206395"/>
                  <a:pt x="190500" y="214313"/>
                </a:cubicBezTo>
                <a:cubicBezTo>
                  <a:pt x="190500" y="222230"/>
                  <a:pt x="184130" y="228600"/>
                  <a:pt x="176212" y="228600"/>
                </a:cubicBezTo>
                <a:lnTo>
                  <a:pt x="138113" y="228600"/>
                </a:lnTo>
                <a:cubicBezTo>
                  <a:pt x="130195" y="228600"/>
                  <a:pt x="123825" y="222230"/>
                  <a:pt x="123825" y="214313"/>
                </a:cubicBezTo>
                <a:close/>
              </a:path>
            </a:pathLst>
          </a:custGeom>
          <a:solidFill>
            <a:srgbClr val="3B4E6B"/>
          </a:solidFill>
        </p:spPr>
      </p:sp>
      <p:sp>
        <p:nvSpPr>
          <p:cNvPr id="20" name="Text 18"/>
          <p:cNvSpPr/>
          <p:nvPr/>
        </p:nvSpPr>
        <p:spPr>
          <a:xfrm>
            <a:off x="939800" y="5029200"/>
            <a:ext cx="14224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收入模式</a:t>
            </a:r>
            <a:endParaRPr lang="en-US" sz="1600" dirty="0"/>
          </a:p>
        </p:txBody>
      </p:sp>
      <p:sp>
        <p:nvSpPr>
          <p:cNvPr id="21" name="Text 19"/>
          <p:cNvSpPr/>
          <p:nvPr/>
        </p:nvSpPr>
        <p:spPr>
          <a:xfrm>
            <a:off x="457200" y="5486400"/>
            <a:ext cx="3352800" cy="254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主要来源于</a:t>
            </a:r>
            <a:r>
              <a:rPr lang="en-US" sz="1400" dirty="0">
                <a:solidFill>
                  <a:srgbClr val="FFFFFF"/>
                </a:solidFill>
                <a:highlight>
                  <a:srgbClr val="8C3023">
                    <a:alpha val="100000"/>
                  </a:srgbClr>
                </a:highlight>
                <a:latin typeface="MiSans" pitchFamily="34" charset="-122"/>
                <a:ea typeface="MiSans" pitchFamily="34" charset="-122"/>
                <a:cs typeface="MiSans" pitchFamily="34" charset="-120"/>
              </a:rPr>
              <a:t> 订阅 </a:t>
            </a:r>
            <a:r>
              <a:rPr lang="en-US" sz="1400" dirty="0">
                <a:solidFill>
                  <a:srgbClr val="333333"/>
                </a:solidFill>
                <a:latin typeface="MiSans" pitchFamily="34" charset="-122"/>
                <a:ea typeface="MiSans" pitchFamily="34" charset="-122"/>
                <a:cs typeface="MiSans" pitchFamily="34" charset="-120"/>
              </a:rPr>
              <a:t>与</a:t>
            </a:r>
            <a:r>
              <a:rPr lang="en-US" sz="1400" dirty="0">
                <a:solidFill>
                  <a:srgbClr val="FFFFFF"/>
                </a:solidFill>
                <a:highlight>
                  <a:srgbClr val="8C3023">
                    <a:alpha val="100000"/>
                  </a:srgbClr>
                </a:highlight>
                <a:latin typeface="MiSans" pitchFamily="34" charset="-122"/>
                <a:ea typeface="MiSans" pitchFamily="34" charset="-122"/>
                <a:cs typeface="MiSans" pitchFamily="34" charset="-120"/>
              </a:rPr>
              <a:t> 应用内购买 </a:t>
            </a:r>
            <a:r>
              <a:rPr lang="en-US" sz="1400" dirty="0">
                <a:solidFill>
                  <a:srgbClr val="333333"/>
                </a:solidFill>
                <a:latin typeface="MiSans" pitchFamily="34" charset="-122"/>
                <a:ea typeface="MiSans" pitchFamily="34" charset="-122"/>
                <a:cs typeface="MiSans" pitchFamily="34" charset="-120"/>
              </a:rPr>
              <a:t>。</a:t>
            </a:r>
            <a:endParaRPr lang="en-US" sz="1600" dirty="0"/>
          </a:p>
        </p:txBody>
      </p:sp>
      <p:sp>
        <p:nvSpPr>
          <p:cNvPr id="22" name="Shape 20"/>
          <p:cNvSpPr/>
          <p:nvPr/>
        </p:nvSpPr>
        <p:spPr>
          <a:xfrm>
            <a:off x="4216400" y="41656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23" name="Shape 21"/>
          <p:cNvSpPr/>
          <p:nvPr/>
        </p:nvSpPr>
        <p:spPr>
          <a:xfrm>
            <a:off x="4419600" y="4927600"/>
            <a:ext cx="381000" cy="304800"/>
          </a:xfrm>
          <a:custGeom>
            <a:avLst/>
            <a:gdLst/>
            <a:ahLst/>
            <a:cxnLst/>
            <a:rect l="l" t="t" r="r" b="b"/>
            <a:pathLst>
              <a:path w="381000" h="304800">
                <a:moveTo>
                  <a:pt x="228600" y="19050"/>
                </a:moveTo>
                <a:lnTo>
                  <a:pt x="304800" y="19050"/>
                </a:lnTo>
                <a:cubicBezTo>
                  <a:pt x="315337" y="19050"/>
                  <a:pt x="323850" y="27563"/>
                  <a:pt x="323850" y="38100"/>
                </a:cubicBezTo>
                <a:cubicBezTo>
                  <a:pt x="323850" y="48637"/>
                  <a:pt x="315337" y="57150"/>
                  <a:pt x="304800" y="57150"/>
                </a:cubicBezTo>
                <a:lnTo>
                  <a:pt x="237173" y="57150"/>
                </a:lnTo>
                <a:cubicBezTo>
                  <a:pt x="234077" y="72509"/>
                  <a:pt x="223540" y="85189"/>
                  <a:pt x="209550" y="91261"/>
                </a:cubicBezTo>
                <a:lnTo>
                  <a:pt x="209550" y="266700"/>
                </a:lnTo>
                <a:lnTo>
                  <a:pt x="304800" y="266700"/>
                </a:lnTo>
                <a:cubicBezTo>
                  <a:pt x="315337" y="266700"/>
                  <a:pt x="323850" y="275213"/>
                  <a:pt x="323850" y="285750"/>
                </a:cubicBezTo>
                <a:cubicBezTo>
                  <a:pt x="323850" y="296287"/>
                  <a:pt x="315337" y="304800"/>
                  <a:pt x="304800" y="304800"/>
                </a:cubicBezTo>
                <a:lnTo>
                  <a:pt x="76200" y="304800"/>
                </a:lnTo>
                <a:cubicBezTo>
                  <a:pt x="65663" y="304800"/>
                  <a:pt x="57150" y="296287"/>
                  <a:pt x="57150" y="285750"/>
                </a:cubicBezTo>
                <a:cubicBezTo>
                  <a:pt x="57150" y="275213"/>
                  <a:pt x="65663" y="266700"/>
                  <a:pt x="76200" y="266700"/>
                </a:cubicBezTo>
                <a:lnTo>
                  <a:pt x="171450" y="266700"/>
                </a:lnTo>
                <a:lnTo>
                  <a:pt x="171450" y="91261"/>
                </a:lnTo>
                <a:cubicBezTo>
                  <a:pt x="157460" y="85130"/>
                  <a:pt x="146923" y="72450"/>
                  <a:pt x="143828" y="57150"/>
                </a:cubicBezTo>
                <a:lnTo>
                  <a:pt x="76200" y="57150"/>
                </a:lnTo>
                <a:cubicBezTo>
                  <a:pt x="65663" y="57150"/>
                  <a:pt x="57150" y="48637"/>
                  <a:pt x="57150" y="38100"/>
                </a:cubicBezTo>
                <a:cubicBezTo>
                  <a:pt x="57150" y="27563"/>
                  <a:pt x="65663" y="19050"/>
                  <a:pt x="76200" y="19050"/>
                </a:cubicBezTo>
                <a:lnTo>
                  <a:pt x="152400" y="19050"/>
                </a:lnTo>
                <a:cubicBezTo>
                  <a:pt x="161092" y="7501"/>
                  <a:pt x="174903" y="0"/>
                  <a:pt x="190500" y="0"/>
                </a:cubicBezTo>
                <a:cubicBezTo>
                  <a:pt x="206097" y="0"/>
                  <a:pt x="219908" y="7501"/>
                  <a:pt x="228600" y="19050"/>
                </a:cubicBezTo>
                <a:close/>
                <a:moveTo>
                  <a:pt x="261699" y="190500"/>
                </a:moveTo>
                <a:lnTo>
                  <a:pt x="347901" y="190500"/>
                </a:lnTo>
                <a:lnTo>
                  <a:pt x="304800" y="116562"/>
                </a:lnTo>
                <a:lnTo>
                  <a:pt x="261699" y="190500"/>
                </a:lnTo>
                <a:close/>
                <a:moveTo>
                  <a:pt x="304800" y="247650"/>
                </a:moveTo>
                <a:cubicBezTo>
                  <a:pt x="267355" y="247650"/>
                  <a:pt x="236220" y="227409"/>
                  <a:pt x="229791" y="200680"/>
                </a:cubicBezTo>
                <a:cubicBezTo>
                  <a:pt x="228243" y="194131"/>
                  <a:pt x="230386" y="187404"/>
                  <a:pt x="233779" y="181570"/>
                </a:cubicBezTo>
                <a:lnTo>
                  <a:pt x="290453" y="84415"/>
                </a:lnTo>
                <a:cubicBezTo>
                  <a:pt x="293430" y="79296"/>
                  <a:pt x="298906" y="76200"/>
                  <a:pt x="304800" y="76200"/>
                </a:cubicBezTo>
                <a:cubicBezTo>
                  <a:pt x="310694" y="76200"/>
                  <a:pt x="316170" y="79355"/>
                  <a:pt x="319147" y="84415"/>
                </a:cubicBezTo>
                <a:lnTo>
                  <a:pt x="375821" y="181570"/>
                </a:lnTo>
                <a:cubicBezTo>
                  <a:pt x="379214" y="187404"/>
                  <a:pt x="381357" y="194131"/>
                  <a:pt x="379809" y="200680"/>
                </a:cubicBezTo>
                <a:cubicBezTo>
                  <a:pt x="373380" y="227350"/>
                  <a:pt x="342245" y="247650"/>
                  <a:pt x="304800" y="247650"/>
                </a:cubicBezTo>
                <a:close/>
                <a:moveTo>
                  <a:pt x="75486" y="116562"/>
                </a:moveTo>
                <a:lnTo>
                  <a:pt x="32385" y="190500"/>
                </a:lnTo>
                <a:lnTo>
                  <a:pt x="118646" y="190500"/>
                </a:lnTo>
                <a:lnTo>
                  <a:pt x="75486" y="116562"/>
                </a:lnTo>
                <a:close/>
                <a:moveTo>
                  <a:pt x="536" y="200680"/>
                </a:moveTo>
                <a:cubicBezTo>
                  <a:pt x="-1012" y="194131"/>
                  <a:pt x="1131" y="187404"/>
                  <a:pt x="4524" y="181570"/>
                </a:cubicBezTo>
                <a:lnTo>
                  <a:pt x="61198" y="84415"/>
                </a:lnTo>
                <a:cubicBezTo>
                  <a:pt x="64175" y="79296"/>
                  <a:pt x="69652" y="76200"/>
                  <a:pt x="75545" y="76200"/>
                </a:cubicBezTo>
                <a:cubicBezTo>
                  <a:pt x="81439" y="76200"/>
                  <a:pt x="86916" y="79355"/>
                  <a:pt x="89892" y="84415"/>
                </a:cubicBezTo>
                <a:lnTo>
                  <a:pt x="146566" y="181570"/>
                </a:lnTo>
                <a:cubicBezTo>
                  <a:pt x="149959" y="187404"/>
                  <a:pt x="152102" y="194131"/>
                  <a:pt x="150555" y="200680"/>
                </a:cubicBezTo>
                <a:cubicBezTo>
                  <a:pt x="144125" y="227350"/>
                  <a:pt x="112990" y="247650"/>
                  <a:pt x="75545" y="247650"/>
                </a:cubicBezTo>
                <a:cubicBezTo>
                  <a:pt x="38100" y="247650"/>
                  <a:pt x="6965" y="227409"/>
                  <a:pt x="536" y="200680"/>
                </a:cubicBezTo>
                <a:close/>
              </a:path>
            </a:pathLst>
          </a:custGeom>
          <a:solidFill>
            <a:srgbClr val="3B4E6B"/>
          </a:solidFill>
        </p:spPr>
      </p:sp>
      <p:sp>
        <p:nvSpPr>
          <p:cNvPr id="24" name="Text 22"/>
          <p:cNvSpPr/>
          <p:nvPr/>
        </p:nvSpPr>
        <p:spPr>
          <a:xfrm>
            <a:off x="4902200" y="4902200"/>
            <a:ext cx="16510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盈亏平衡点</a:t>
            </a:r>
            <a:endParaRPr lang="en-US" sz="1600" dirty="0"/>
          </a:p>
        </p:txBody>
      </p:sp>
      <p:sp>
        <p:nvSpPr>
          <p:cNvPr id="25" name="Text 23"/>
          <p:cNvSpPr/>
          <p:nvPr/>
        </p:nvSpPr>
        <p:spPr>
          <a:xfrm>
            <a:off x="4419600" y="5359400"/>
            <a:ext cx="3352800" cy="508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总收入覆盖全部固定与变动成本所需的最低用户数与收入规模。</a:t>
            </a:r>
            <a:endParaRPr lang="en-US" sz="1600" dirty="0"/>
          </a:p>
        </p:txBody>
      </p:sp>
      <p:sp>
        <p:nvSpPr>
          <p:cNvPr id="26" name="Shape 24"/>
          <p:cNvSpPr/>
          <p:nvPr/>
        </p:nvSpPr>
        <p:spPr>
          <a:xfrm>
            <a:off x="8178800" y="4165600"/>
            <a:ext cx="3759200" cy="2438400"/>
          </a:xfrm>
          <a:custGeom>
            <a:avLst/>
            <a:gdLst/>
            <a:ahLst/>
            <a:cxnLst/>
            <a:rect l="l" t="t" r="r" b="b"/>
            <a:pathLst>
              <a:path w="3759200" h="2438400">
                <a:moveTo>
                  <a:pt x="101608" y="0"/>
                </a:moveTo>
                <a:lnTo>
                  <a:pt x="3657592" y="0"/>
                </a:lnTo>
                <a:cubicBezTo>
                  <a:pt x="3713708" y="0"/>
                  <a:pt x="3759200" y="45492"/>
                  <a:pt x="3759200" y="101608"/>
                </a:cubicBezTo>
                <a:lnTo>
                  <a:pt x="3759200" y="2336792"/>
                </a:lnTo>
                <a:cubicBezTo>
                  <a:pt x="3759200" y="2392908"/>
                  <a:pt x="3713708" y="2438400"/>
                  <a:pt x="3657592" y="2438400"/>
                </a:cubicBezTo>
                <a:lnTo>
                  <a:pt x="101608" y="2438400"/>
                </a:lnTo>
                <a:cubicBezTo>
                  <a:pt x="45492" y="2438400"/>
                  <a:pt x="0" y="2392908"/>
                  <a:pt x="0" y="2336792"/>
                </a:cubicBezTo>
                <a:lnTo>
                  <a:pt x="0" y="101608"/>
                </a:lnTo>
                <a:cubicBezTo>
                  <a:pt x="0" y="45529"/>
                  <a:pt x="45529" y="0"/>
                  <a:pt x="101608" y="0"/>
                </a:cubicBezTo>
                <a:close/>
              </a:path>
            </a:pathLst>
          </a:custGeom>
          <a:solidFill>
            <a:srgbClr val="D1BBA2">
              <a:alpha val="30196"/>
            </a:srgbClr>
          </a:solidFill>
        </p:spPr>
      </p:sp>
      <p:sp>
        <p:nvSpPr>
          <p:cNvPr id="27" name="Shape 25"/>
          <p:cNvSpPr/>
          <p:nvPr/>
        </p:nvSpPr>
        <p:spPr>
          <a:xfrm>
            <a:off x="8382000" y="4927600"/>
            <a:ext cx="381000" cy="304800"/>
          </a:xfrm>
          <a:custGeom>
            <a:avLst/>
            <a:gdLst/>
            <a:ahLst/>
            <a:cxnLst/>
            <a:rect l="l" t="t" r="r" b="b"/>
            <a:pathLst>
              <a:path w="381000" h="304800">
                <a:moveTo>
                  <a:pt x="190500" y="9525"/>
                </a:moveTo>
                <a:cubicBezTo>
                  <a:pt x="224670" y="9525"/>
                  <a:pt x="252413" y="37267"/>
                  <a:pt x="252413" y="71438"/>
                </a:cubicBezTo>
                <a:cubicBezTo>
                  <a:pt x="252413" y="105608"/>
                  <a:pt x="224670" y="133350"/>
                  <a:pt x="190500" y="133350"/>
                </a:cubicBezTo>
                <a:cubicBezTo>
                  <a:pt x="156330" y="133350"/>
                  <a:pt x="128588" y="105608"/>
                  <a:pt x="128588" y="71438"/>
                </a:cubicBezTo>
                <a:cubicBezTo>
                  <a:pt x="128588" y="37267"/>
                  <a:pt x="156330" y="9525"/>
                  <a:pt x="190500" y="9525"/>
                </a:cubicBezTo>
                <a:close/>
                <a:moveTo>
                  <a:pt x="57150" y="52388"/>
                </a:moveTo>
                <a:cubicBezTo>
                  <a:pt x="80806" y="52388"/>
                  <a:pt x="100013" y="71594"/>
                  <a:pt x="100013" y="95250"/>
                </a:cubicBezTo>
                <a:cubicBezTo>
                  <a:pt x="100013" y="118906"/>
                  <a:pt x="80806" y="138113"/>
                  <a:pt x="57150" y="138113"/>
                </a:cubicBezTo>
                <a:cubicBezTo>
                  <a:pt x="33494" y="138113"/>
                  <a:pt x="14288" y="118906"/>
                  <a:pt x="14288" y="95250"/>
                </a:cubicBezTo>
                <a:cubicBezTo>
                  <a:pt x="14288" y="71594"/>
                  <a:pt x="33494" y="52388"/>
                  <a:pt x="57150" y="52388"/>
                </a:cubicBezTo>
                <a:close/>
                <a:moveTo>
                  <a:pt x="0" y="247650"/>
                </a:moveTo>
                <a:cubicBezTo>
                  <a:pt x="0" y="205561"/>
                  <a:pt x="34111" y="171450"/>
                  <a:pt x="76200" y="171450"/>
                </a:cubicBezTo>
                <a:cubicBezTo>
                  <a:pt x="83820" y="171450"/>
                  <a:pt x="91202" y="172581"/>
                  <a:pt x="98167" y="174665"/>
                </a:cubicBezTo>
                <a:cubicBezTo>
                  <a:pt x="78581" y="196572"/>
                  <a:pt x="66675" y="225504"/>
                  <a:pt x="66675" y="257175"/>
                </a:cubicBezTo>
                <a:lnTo>
                  <a:pt x="66675" y="266700"/>
                </a:lnTo>
                <a:cubicBezTo>
                  <a:pt x="66675" y="273487"/>
                  <a:pt x="68104" y="279916"/>
                  <a:pt x="70664" y="285750"/>
                </a:cubicBezTo>
                <a:lnTo>
                  <a:pt x="19050" y="285750"/>
                </a:lnTo>
                <a:cubicBezTo>
                  <a:pt x="8513" y="285750"/>
                  <a:pt x="0" y="277237"/>
                  <a:pt x="0" y="266700"/>
                </a:cubicBezTo>
                <a:lnTo>
                  <a:pt x="0" y="247650"/>
                </a:lnTo>
                <a:close/>
                <a:moveTo>
                  <a:pt x="310336" y="285750"/>
                </a:moveTo>
                <a:cubicBezTo>
                  <a:pt x="312896" y="279916"/>
                  <a:pt x="314325" y="273487"/>
                  <a:pt x="314325" y="266700"/>
                </a:cubicBezTo>
                <a:lnTo>
                  <a:pt x="314325" y="257175"/>
                </a:lnTo>
                <a:cubicBezTo>
                  <a:pt x="314325" y="225504"/>
                  <a:pt x="302419" y="196572"/>
                  <a:pt x="282833" y="174665"/>
                </a:cubicBezTo>
                <a:cubicBezTo>
                  <a:pt x="289798" y="172581"/>
                  <a:pt x="297180" y="171450"/>
                  <a:pt x="304800" y="171450"/>
                </a:cubicBezTo>
                <a:cubicBezTo>
                  <a:pt x="346889" y="171450"/>
                  <a:pt x="381000" y="205561"/>
                  <a:pt x="381000" y="247650"/>
                </a:cubicBezTo>
                <a:lnTo>
                  <a:pt x="381000" y="266700"/>
                </a:lnTo>
                <a:cubicBezTo>
                  <a:pt x="381000" y="277237"/>
                  <a:pt x="372487" y="285750"/>
                  <a:pt x="361950" y="285750"/>
                </a:cubicBezTo>
                <a:lnTo>
                  <a:pt x="310336" y="285750"/>
                </a:lnTo>
                <a:close/>
                <a:moveTo>
                  <a:pt x="280987" y="95250"/>
                </a:moveTo>
                <a:cubicBezTo>
                  <a:pt x="280987" y="71594"/>
                  <a:pt x="300194" y="52388"/>
                  <a:pt x="323850" y="52388"/>
                </a:cubicBezTo>
                <a:cubicBezTo>
                  <a:pt x="347506" y="52388"/>
                  <a:pt x="366712" y="71594"/>
                  <a:pt x="366712" y="95250"/>
                </a:cubicBezTo>
                <a:cubicBezTo>
                  <a:pt x="366712" y="118906"/>
                  <a:pt x="347506" y="138113"/>
                  <a:pt x="323850" y="138113"/>
                </a:cubicBezTo>
                <a:cubicBezTo>
                  <a:pt x="300194" y="138113"/>
                  <a:pt x="280987" y="118906"/>
                  <a:pt x="280987" y="95250"/>
                </a:cubicBezTo>
                <a:close/>
                <a:moveTo>
                  <a:pt x="95250" y="257175"/>
                </a:moveTo>
                <a:cubicBezTo>
                  <a:pt x="95250" y="204549"/>
                  <a:pt x="137874" y="161925"/>
                  <a:pt x="190500" y="161925"/>
                </a:cubicBezTo>
                <a:cubicBezTo>
                  <a:pt x="243126" y="161925"/>
                  <a:pt x="285750" y="204549"/>
                  <a:pt x="285750" y="257175"/>
                </a:cubicBezTo>
                <a:lnTo>
                  <a:pt x="285750" y="266700"/>
                </a:lnTo>
                <a:cubicBezTo>
                  <a:pt x="285750" y="277237"/>
                  <a:pt x="277237" y="285750"/>
                  <a:pt x="266700" y="285750"/>
                </a:cubicBezTo>
                <a:lnTo>
                  <a:pt x="114300" y="285750"/>
                </a:lnTo>
                <a:cubicBezTo>
                  <a:pt x="103763" y="285750"/>
                  <a:pt x="95250" y="277237"/>
                  <a:pt x="95250" y="266700"/>
                </a:cubicBezTo>
                <a:lnTo>
                  <a:pt x="95250" y="257175"/>
                </a:lnTo>
                <a:close/>
              </a:path>
            </a:pathLst>
          </a:custGeom>
          <a:solidFill>
            <a:srgbClr val="3B4E6B"/>
          </a:solidFill>
        </p:spPr>
      </p:sp>
      <p:sp>
        <p:nvSpPr>
          <p:cNvPr id="28" name="Text 26"/>
          <p:cNvSpPr/>
          <p:nvPr/>
        </p:nvSpPr>
        <p:spPr>
          <a:xfrm>
            <a:off x="8864600" y="4902200"/>
            <a:ext cx="2222500" cy="355600"/>
          </a:xfrm>
          <a:prstGeom prst="rect">
            <a:avLst/>
          </a:prstGeom>
          <a:noFill/>
        </p:spPr>
        <p:txBody>
          <a:bodyPr wrap="square" lIns="0" tIns="0" rIns="0" bIns="0" rtlCol="0" anchor="ctr"/>
          <a:lstStyle/>
          <a:p>
            <a:pPr marL="0" indent="0">
              <a:lnSpc>
                <a:spcPct val="130000"/>
              </a:lnSpc>
              <a:buNone/>
            </a:pPr>
            <a:r>
              <a:rPr lang="en-US" sz="1800" dirty="0">
                <a:solidFill>
                  <a:srgbClr val="8C3023"/>
                </a:solidFill>
                <a:latin typeface="MiSans" pitchFamily="34" charset="-122"/>
                <a:ea typeface="MiSans" pitchFamily="34" charset="-122"/>
                <a:cs typeface="MiSans" pitchFamily="34" charset="-120"/>
              </a:rPr>
              <a:t>留存率 &amp; 转化率</a:t>
            </a:r>
            <a:endParaRPr lang="en-US" sz="1600" dirty="0"/>
          </a:p>
        </p:txBody>
      </p:sp>
      <p:sp>
        <p:nvSpPr>
          <p:cNvPr id="29" name="Text 27"/>
          <p:cNvSpPr/>
          <p:nvPr/>
        </p:nvSpPr>
        <p:spPr>
          <a:xfrm>
            <a:off x="8382000" y="5359400"/>
            <a:ext cx="3352800" cy="508000"/>
          </a:xfrm>
          <a:prstGeom prst="rect">
            <a:avLst/>
          </a:prstGeom>
          <a:noFill/>
        </p:spPr>
        <p:txBody>
          <a:bodyPr wrap="square" lIns="0" tIns="0" rIns="0" bIns="0" rtlCol="0" anchor="ctr"/>
          <a:lstStyle/>
          <a:p>
            <a:pPr marL="0" indent="0">
              <a:lnSpc>
                <a:spcPct val="120000"/>
              </a:lnSpc>
              <a:buNone/>
            </a:pPr>
            <a:r>
              <a:rPr lang="en-US" sz="1400" dirty="0">
                <a:solidFill>
                  <a:srgbClr val="333333"/>
                </a:solidFill>
                <a:latin typeface="MiSans" pitchFamily="34" charset="-122"/>
                <a:ea typeface="MiSans" pitchFamily="34" charset="-122"/>
                <a:cs typeface="MiSans" pitchFamily="34" charset="-120"/>
              </a:rPr>
              <a:t>分别衡量特定周期后仍活跃的用户比例，及从访问到付费的逐级转化效率。</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635" y="0"/>
            <a:ext cx="12192635" cy="6857365"/>
          </a:xfrm>
          <a:prstGeom prst="rect">
            <a:avLst/>
          </a:prstGeom>
          <a:solidFill>
            <a:srgbClr val="E5E0D4"/>
          </a:solidFill>
        </p:spPr>
      </p:sp>
      <p:sp>
        <p:nvSpPr>
          <p:cNvPr id="3" name="Text 1"/>
          <p:cNvSpPr/>
          <p:nvPr/>
        </p:nvSpPr>
        <p:spPr>
          <a:xfrm>
            <a:off x="-635" y="0"/>
            <a:ext cx="12192635" cy="6857365"/>
          </a:xfrm>
          <a:prstGeom prst="rect">
            <a:avLst/>
          </a:prstGeom>
          <a:noFill/>
        </p:spPr>
        <p:txBody>
          <a:bodyPr wrap="square" lIns="25400" tIns="25400" rIns="25400" bIns="25400" rtlCol="0" anchor="ctr"/>
          <a:lstStyle/>
          <a:p>
            <a:pPr marL="0" indent="0">
              <a:lnSpc>
                <a:spcPct val="150000"/>
              </a:lnSpc>
              <a:buNone/>
            </a:pPr>
            <a:endParaRPr lang="en-US" sz="1600" dirty="0"/>
          </a:p>
        </p:txBody>
      </p:sp>
      <p:sp>
        <p:nvSpPr>
          <p:cNvPr id="4" name="Text 2"/>
          <p:cNvSpPr/>
          <p:nvPr/>
        </p:nvSpPr>
        <p:spPr>
          <a:xfrm>
            <a:off x="0" y="2341649"/>
            <a:ext cx="12192000" cy="609600"/>
          </a:xfrm>
          <a:prstGeom prst="rect">
            <a:avLst/>
          </a:prstGeom>
          <a:noFill/>
        </p:spPr>
        <p:txBody>
          <a:bodyPr wrap="square" lIns="0" tIns="0" rIns="0" bIns="0" rtlCol="0" anchor="ctr"/>
          <a:lstStyle/>
          <a:p>
            <a:pPr marL="0" indent="0" algn="ctr">
              <a:lnSpc>
                <a:spcPct val="80000"/>
              </a:lnSpc>
              <a:buNone/>
            </a:pPr>
            <a:r>
              <a:rPr lang="en-US" sz="4800" dirty="0">
                <a:solidFill>
                  <a:srgbClr val="8C3023"/>
                </a:solidFill>
                <a:latin typeface="Noto Sans SC" panose="020B0200000000000000" pitchFamily="34" charset="-122"/>
                <a:ea typeface="Noto Sans SC" panose="020B0200000000000000" pitchFamily="34" charset="-122"/>
                <a:cs typeface="Noto Sans SC" panose="020B0200000000000000" pitchFamily="34" charset="-120"/>
              </a:rPr>
              <a:t>感谢聆听</a:t>
            </a:r>
            <a:endParaRPr lang="en-US" sz="1600" dirty="0"/>
          </a:p>
        </p:txBody>
      </p:sp>
      <p:sp>
        <p:nvSpPr>
          <p:cNvPr id="6" name="Text 4"/>
          <p:cNvSpPr/>
          <p:nvPr/>
        </p:nvSpPr>
        <p:spPr>
          <a:xfrm>
            <a:off x="0" y="3728952"/>
            <a:ext cx="12192000" cy="355600"/>
          </a:xfrm>
          <a:prstGeom prst="rect">
            <a:avLst/>
          </a:prstGeom>
          <a:noFill/>
        </p:spPr>
        <p:txBody>
          <a:bodyPr wrap="square" lIns="0" tIns="0" rIns="0" bIns="0" rtlCol="0" anchor="ctr"/>
          <a:lstStyle/>
          <a:p>
            <a:pPr algn="ctr">
              <a:lnSpc>
                <a:spcPct val="130000"/>
              </a:lnSpc>
            </a:pPr>
            <a:r>
              <a:rPr lang="en-US" sz="1800" dirty="0" err="1">
                <a:solidFill>
                  <a:srgbClr val="333333"/>
                </a:solidFill>
                <a:latin typeface="MiSans" pitchFamily="34" charset="-122"/>
                <a:ea typeface="MiSans" pitchFamily="34" charset="-122"/>
                <a:cs typeface="MiSans" pitchFamily="34" charset="-120"/>
              </a:rPr>
              <a:t>TrainTrack愿景</a:t>
            </a:r>
            <a:r>
              <a:rPr lang="en-US" sz="1800" dirty="0">
                <a:solidFill>
                  <a:srgbClr val="333333"/>
                </a:solidFill>
                <a:latin typeface="MiSans" pitchFamily="34" charset="-122"/>
                <a:ea typeface="MiSans" pitchFamily="34" charset="-122"/>
                <a:cs typeface="MiSans" pitchFamily="34" charset="-120"/>
              </a:rPr>
              <a:t>：</a:t>
            </a:r>
            <a:r>
              <a:rPr lang="zh-CN" altLang="zh-CN" dirty="0"/>
              <a:t>打造一个数字化、个性化、社交化的健身平台，满足现代人对健康和形体的追求。 </a:t>
            </a:r>
            <a:endParaRPr lang="en-US" sz="16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71.706220472441,&quot;left&quot;:52.36409448818897,&quot;top&quot;:139.4125196850394,&quot;width&quot;:1052.33905511811}"/>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701</Words>
  <Application>Microsoft Macintosh PowerPoint</Application>
  <PresentationFormat>宽屏</PresentationFormat>
  <Paragraphs>143</Paragraphs>
  <Slides>18</Slides>
  <Notes>18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18</vt:i4>
      </vt:variant>
    </vt:vector>
  </HeadingPairs>
  <TitlesOfParts>
    <vt:vector size="24" baseType="lpstr">
      <vt:lpstr>MiSans</vt:lpstr>
      <vt:lpstr>Noto Sans SC</vt:lpstr>
      <vt:lpstr>Arial</vt:lpstr>
      <vt:lpstr>Unbounded</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TrainTrack：AI一站式健身生态新物种</dc:title>
  <dc:subject>TrainTrack：AI一站式健身生态新物种</dc:subject>
  <dc:creator>Kimi</dc:creator>
  <cp:lastModifiedBy>Kerwin Huang</cp:lastModifiedBy>
  <cp:revision>12</cp:revision>
  <dcterms:created xsi:type="dcterms:W3CDTF">2025-10-20T07:11:00Z</dcterms:created>
  <dcterms:modified xsi:type="dcterms:W3CDTF">2025-10-22T02:32:18Z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{"Label":"TrainTrack：AI一站式健身生态新物种","ContentProducer":"001191110108MACG2KBH8F10000","ProduceID":"d3qtlcba9jtoq43shlhg","ReservedCode1":"","ContentPropagator":"001191110108MACG2KBH8F20000","PropagateID":"d3qtlcba9jtoq43shlhg","ReservedCode2":""}</vt:lpwstr>
  </property>
  <property fmtid="{D5CDD505-2E9C-101B-9397-08002B2CF9AE}" pid="3" name="ICV">
    <vt:lpwstr>CD3FAE419A3D4260AA663FF0BB8C8CE9_13</vt:lpwstr>
  </property>
  <property fmtid="{D5CDD505-2E9C-101B-9397-08002B2CF9AE}" pid="4" name="KSOProductBuildVer">
    <vt:lpwstr>2052-12.1.0.23125</vt:lpwstr>
  </property>
</Properties>
</file>